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Title · orient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Guided Notes (not yet open)</a:t>
            </a:r>
          </a:p>
          <a:p>
            <a:r>
              <a:t>ASK What do you think energy does?</a:t>
            </a:r>
          </a:p>
          <a:p>
            <a:r>
              <a:t>LISTEN FOR words like move, change, power</a:t>
            </a:r>
          </a:p>
          <a:p>
            <a:r>
              <a:t>NEXT Flip the lights as you open the Big Question.</a:t>
            </a:r>
          </a:p>
          <a:p>
            <a:r>
              <a:t>SESSIONS Mon: slides 1-3, 6-16 (optional 4-5) · Tue: slides 2, 17, 19-27 (18 is OPTIONAL) · Fri: slides 2 then 28-31, 33 (optional 32), then the quiz. Slides 34-45 = optional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BQ · introduce</a:t>
            </a:r>
          </a:p>
          <a:p>
            <a:r>
              <a:t>TIME 2 min</a:t>
            </a:r>
          </a:p>
          <a:p>
            <a:r>
              <a:t>PLAN Session 1 (Mon 10/12) · REQUIRED · 2 min · RE-ENTRY: Sessions 2 and 3 also open on this slide (re-read the Big Question; ask 'What evidence have we collected so far?') - 1 / 0.5 min</a:t>
            </a:r>
          </a:p>
          <a:p>
            <a:r>
              <a:t>STUDENT RESOURCE Guided Notes p.1 (BQ box)</a:t>
            </a:r>
          </a:p>
          <a:p>
            <a:r>
              <a:t>ASK What change have you seen happen today?</a:t>
            </a:r>
          </a:p>
          <a:p>
            <a:r>
              <a:t>LISTEN FOR any observable change (light, sound, movement)</a:t>
            </a:r>
          </a:p>
          <a:p>
            <a:r>
              <a:t>REVEAL Do not answer the BQ yet — we collect evidence first.</a:t>
            </a:r>
          </a:p>
          <a:p>
            <a:r>
              <a:t>NEXT Session 1: My first thinking (slide 3) · Session 2: Forms of energy (slide 17) · Session 3: Recognizing evidence (slide 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BQ anchor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Guided Notes p.1 top</a:t>
            </a:r>
          </a:p>
          <a:p>
            <a:r>
              <a:t>ASK What change have you seen? Write your first idea.</a:t>
            </a:r>
          </a:p>
          <a:p>
            <a:r>
              <a:t>LISTEN FOR students naming a change (not 'energy')</a:t>
            </a:r>
          </a:p>
          <a:p>
            <a:r>
              <a:t>MISCONCEPTION Accept any change; do not correct yet.</a:t>
            </a:r>
          </a:p>
          <a:p>
            <a:r>
              <a:t>NEXT Observe the light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2 min</a:t>
            </a:r>
          </a:p>
          <a:p>
            <a:r>
              <a:t>PLAN Session 1 (Mon 10/12) · OPTIONAL - skip freely · 2 min</a:t>
            </a:r>
          </a:p>
          <a:p>
            <a:r>
              <a:t>STUDENT RESOURCE Reader p.1</a:t>
            </a:r>
          </a:p>
          <a:p>
            <a:r>
              <a:t>ASK What changed when I flipped the switch?</a:t>
            </a:r>
          </a:p>
          <a:p>
            <a:r>
              <a:t>LISTEN FOR 'the room got bright' / 'light came on'</a:t>
            </a:r>
          </a:p>
          <a:p>
            <a:r>
              <a:t>REVEAL The room changed from dark to light — a change.</a:t>
            </a:r>
          </a:p>
          <a:p>
            <a:r>
              <a:t>NEXT Notice &amp; wonder.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discuss</a:t>
            </a:r>
          </a:p>
          <a:p>
            <a:r>
              <a:t>TIME 2 min</a:t>
            </a:r>
          </a:p>
          <a:p>
            <a:r>
              <a:t>PLAN Session 1 (Mon 10/12) · OPTIONAL - skip freely · 2 min</a:t>
            </a:r>
          </a:p>
          <a:p>
            <a:r>
              <a:t>STUDENT RESOURCE none</a:t>
            </a:r>
          </a:p>
          <a:p>
            <a:r>
              <a:t>ASK What did you notice? What do you wonder?</a:t>
            </a:r>
          </a:p>
          <a:p>
            <a:r>
              <a:t>LISTEN FOR change words and curiosity</a:t>
            </a:r>
          </a:p>
          <a:p>
            <a:r>
              <a:t>NEXT Electric pencil sharpener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none (live demo)</a:t>
            </a:r>
          </a:p>
          <a:p>
            <a:r>
              <a:t>ASK What does the pencil look and sound like right now?</a:t>
            </a:r>
          </a:p>
          <a:p>
            <a:r>
              <a:t>LISTEN FOR dull, flat, quiet, still</a:t>
            </a:r>
          </a:p>
          <a:p>
            <a:r>
              <a:t>NEXT Predict before sharpening.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predict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none</a:t>
            </a:r>
          </a:p>
          <a:p>
            <a:r>
              <a:t>ASK What will change about the pencil? The sharpener?</a:t>
            </a:r>
          </a:p>
          <a:p>
            <a:r>
              <a:t>LISTEN FOR shorter, sharper, noise</a:t>
            </a:r>
          </a:p>
          <a:p>
            <a:r>
              <a:t>REVEAL Do not confirm yet — run the demo.</a:t>
            </a:r>
          </a:p>
          <a:p>
            <a:r>
              <a:t>NEXT Observe the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3 min</a:t>
            </a:r>
          </a:p>
          <a:p>
            <a:r>
              <a:t>PLAN Session 1 (Mon 10/12) · REQUIRED · 3 min</a:t>
            </a:r>
          </a:p>
          <a:p>
            <a:r>
              <a:t>STUDENT RESOURCE none</a:t>
            </a:r>
          </a:p>
          <a:p>
            <a:r>
              <a:t>ASK Name every change you saw or heard.</a:t>
            </a:r>
          </a:p>
          <a:p>
            <a:r>
              <a:t>LISTEN FOR shorter, sharper, noise</a:t>
            </a:r>
          </a:p>
          <a:p>
            <a:r>
              <a:t>REVEAL Record all three changes.</a:t>
            </a:r>
          </a:p>
          <a:p>
            <a:r>
              <a:t>NEXT Turn changes into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evidence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Reader p.2 (Change Is Evidence of Energy)</a:t>
            </a:r>
          </a:p>
          <a:p>
            <a:r>
              <a:t>ASK How do we know energy was here if we can't see it?</a:t>
            </a:r>
          </a:p>
          <a:p>
            <a:r>
              <a:t>LISTEN FOR 'we saw the change' / 'clues'</a:t>
            </a:r>
          </a:p>
          <a:p>
            <a:r>
              <a:t>REVEAL The word EVIDENCE is introduced from the Reader on slide 14 - do not name it here; the '?' box stays open.</a:t>
            </a:r>
          </a:p>
          <a:p>
            <a:r>
              <a:t>MISCONCEPTION We see the change, not the energy itself.</a:t>
            </a:r>
          </a:p>
          <a:p>
            <a:r>
              <a:t>NEXT Vocabulary: energy +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Vocabulary · TEACH</a:t>
            </a:r>
          </a:p>
          <a:p>
            <a:r>
              <a:t>TIME 3 min</a:t>
            </a:r>
          </a:p>
          <a:p>
            <a:r>
              <a:t>PLAN Session 1 (Mon 10/12) · REQUIRED · 3 min</a:t>
            </a:r>
          </a:p>
          <a:p>
            <a:r>
              <a:t>STUDENT RESOURCE Guided Notes V1</a:t>
            </a:r>
          </a:p>
          <a:p>
            <a:r>
              <a:t>ASK Read each definition together. Use each word in a sentence.</a:t>
            </a:r>
          </a:p>
          <a:p>
            <a:r>
              <a:t>LISTEN FOR 'energy causes change' and 'to become different'</a:t>
            </a:r>
          </a:p>
          <a:p>
            <a:r>
              <a:t>REVEAL Full definitions shown — these are the two V1 terms.</a:t>
            </a:r>
          </a:p>
          <a:p>
            <a:r>
              <a:t>NEXT Record V1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V1 anchor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Guided Notes V1 (Reader p.1)</a:t>
            </a:r>
          </a:p>
          <a:p>
            <a:r>
              <a:t>ASK Fill in each blank.</a:t>
            </a:r>
          </a:p>
          <a:p>
            <a:r>
              <a:t>LISTEN FOR 'change' and 'different'</a:t>
            </a:r>
          </a:p>
          <a:p>
            <a:r>
              <a:t>REVEAL Reveal after students write.</a:t>
            </a:r>
          </a:p>
          <a:p>
            <a:r>
              <a:t>NEXT Check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V1 reveal</a:t>
            </a:r>
          </a:p>
          <a:p>
            <a:r>
              <a:t>TIME 0.5 min</a:t>
            </a:r>
          </a:p>
          <a:p>
            <a:r>
              <a:t>PLAN Session 1 (Mon 10/12) · REQUIRED · 0.5 min</a:t>
            </a:r>
          </a:p>
          <a:p>
            <a:r>
              <a:t>STUDENT RESOURCE Guided Notes V1</a:t>
            </a:r>
          </a:p>
          <a:p>
            <a:r>
              <a:t>REVEAL change · different</a:t>
            </a:r>
          </a:p>
          <a:p>
            <a:r>
              <a:t>NEXT Energy Causes Change (N1).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concept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Reader p.1</a:t>
            </a:r>
          </a:p>
          <a:p>
            <a:r>
              <a:t>ASK What is energy?</a:t>
            </a:r>
          </a:p>
          <a:p>
            <a:r>
              <a:t>LISTEN FOR 'the ability to cause change'</a:t>
            </a:r>
          </a:p>
          <a:p>
            <a:r>
              <a:t>REVEAL Energy is the ability to cause change.</a:t>
            </a:r>
          </a:p>
          <a:p>
            <a:r>
              <a:t>NEXT Change is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model</a:t>
            </a:r>
          </a:p>
          <a:p>
            <a:r>
              <a:t>TIME 3 min</a:t>
            </a:r>
          </a:p>
          <a:p>
            <a:r>
              <a:t>PLAN Session 1 (Mon 10/12) · REQUIRED · 3 min</a:t>
            </a:r>
          </a:p>
          <a:p>
            <a:r>
              <a:t>STUDENT RESOURCE Reader p.2</a:t>
            </a:r>
          </a:p>
          <a:p>
            <a:r>
              <a:t>ASK What changes can you find at the seashore? What are those changes a clue about?</a:t>
            </a:r>
          </a:p>
          <a:p>
            <a:r>
              <a:t>LISTEN FOR 'evidence' / 'a clue' / 'energy is there'</a:t>
            </a:r>
          </a:p>
          <a:p>
            <a:r>
              <a:t>LANGUAGE The Reader says 'evidence, or proof.' Teach and use the word EVIDENCE (it is in the Big Question). If a student says 'proof', accept it and restate: 'Yes - we say evidence.'</a:t>
            </a:r>
          </a:p>
          <a:p>
            <a:r>
              <a:t>REVEAL Keep the third box as '?' - students name it on the next slide's notes, then slide 16 completes the model.</a:t>
            </a:r>
          </a:p>
          <a:p>
            <a:r>
              <a:t>NEXT Record N1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N1 anchor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Guided Notes N1 (Reader pp.1–2)</a:t>
            </a:r>
          </a:p>
          <a:p>
            <a:r>
              <a:t>ASK Fill in the one blank in the sentence. The last box of the model on the notes page is empty on purpose - do not fill it yet.</a:t>
            </a:r>
          </a:p>
          <a:p>
            <a:r>
              <a:t>LISTEN FOR evidence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N1 reveal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Guided Notes N1</a:t>
            </a:r>
          </a:p>
          <a:p>
            <a:r>
              <a:t>REVEAL evidence (accept 'proof' once, then restate 'evidence'). Students check their sentence, then copy the word into the empty last box of the model on the notes page.</a:t>
            </a:r>
          </a:p>
          <a:p>
            <a:r>
              <a:t>NEXT Close Session 1. Session 2 opens on slide 2 (the Big Question).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forms</a:t>
            </a:r>
          </a:p>
          <a:p>
            <a:r>
              <a:t>TIME 3 min</a:t>
            </a:r>
          </a:p>
          <a:p>
            <a:r>
              <a:t>PLAN Session 2 (Tue 10/13) · REQUIRED · 3 min</a:t>
            </a:r>
          </a:p>
          <a:p>
            <a:r>
              <a:t>STUDENT RESOURCE Reader p.3</a:t>
            </a:r>
          </a:p>
          <a:p>
            <a:r>
              <a:t>ASK What forms of energy do you see or hear on a carousel?</a:t>
            </a:r>
          </a:p>
          <a:p>
            <a:r>
              <a:t>LISTEN FOR motion, sound, light, heat, electrical</a:t>
            </a:r>
          </a:p>
          <a:p>
            <a:r>
              <a:t>REVEAL Model ONLY the motion example. Do not supply examples for the other four forms - students write their own on slide 19.</a:t>
            </a:r>
          </a:p>
          <a:p>
            <a:r>
              <a:t>NEXT Record examples on notes (N2).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forms</a:t>
            </a:r>
          </a:p>
          <a:p>
            <a:r>
              <a:t>TIME 2 min</a:t>
            </a:r>
          </a:p>
          <a:p>
            <a:r>
              <a:t>PLAN Session 2 (Tue 10/13) · OPTIONAL - skip freely · 2 min</a:t>
            </a:r>
          </a:p>
          <a:p>
            <a:r>
              <a:t>STUDENT RESOURCE Reader p.3</a:t>
            </a:r>
          </a:p>
          <a:p>
            <a:r>
              <a:t>ASK What forms of energy can you observe when you clap?</a:t>
            </a:r>
          </a:p>
          <a:p>
            <a:r>
              <a:t>LISTEN FOR motion, sound, and maybe heat (students name them - not shown on the slide)</a:t>
            </a:r>
          </a:p>
          <a:p>
            <a:r>
              <a:t>NEXT Record N2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N2 anchor</a:t>
            </a:r>
          </a:p>
          <a:p>
            <a:r>
              <a:t>TIME 5 min</a:t>
            </a:r>
          </a:p>
          <a:p>
            <a:r>
              <a:t>PLAN Session 2 (Tue 10/13) · REQUIRED · 5 min</a:t>
            </a:r>
          </a:p>
          <a:p>
            <a:r>
              <a:t>STUDENT RESOURCE Guided Notes N2 (Reader p.3)</a:t>
            </a:r>
          </a:p>
          <a:p>
            <a:r>
              <a:t>ASK Write one example per form. Then turn &amp; talk: share two examples with a partner and add one new idea from your partner.</a:t>
            </a:r>
          </a:p>
          <a:p>
            <a:r>
              <a:t>LISTEN FOR carousel examples, clap examples, home/school examples - accept any real example that shows a change</a:t>
            </a:r>
          </a:p>
          <a:p>
            <a:r>
              <a:t>REVEAL There is no answer slide for N2. Circulate; use student examples as the check.</a:t>
            </a:r>
          </a:p>
          <a:p>
            <a:r>
              <a:t>NEXT Stored energy (V2).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Vocabulary · TEACH</a:t>
            </a:r>
          </a:p>
          <a:p>
            <a:r>
              <a:t>TIME 3 min</a:t>
            </a:r>
          </a:p>
          <a:p>
            <a:r>
              <a:t>PLAN Session 2 (Tue 10/13) · REQUIRED · 3 min</a:t>
            </a:r>
          </a:p>
          <a:p>
            <a:r>
              <a:t>STUDENT RESOURCE Guided Notes V2 (Reader p.4)</a:t>
            </a:r>
          </a:p>
          <a:p>
            <a:r>
              <a:t>ASK What does the word 'later' tell us about when the change can happen? (Save examples for slide 23.)</a:t>
            </a:r>
          </a:p>
          <a:p>
            <a:r>
              <a:t>LISTEN FOR 'not right now - after'</a:t>
            </a:r>
          </a:p>
          <a:p>
            <a:r>
              <a:t>REVEAL stored energy = ability to cause change at a later time.</a:t>
            </a:r>
          </a:p>
          <a:p>
            <a:r>
              <a:t>NEXT Record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V2 anchor</a:t>
            </a:r>
          </a:p>
          <a:p>
            <a:r>
              <a:t>TIME 1 min</a:t>
            </a:r>
          </a:p>
          <a:p>
            <a:r>
              <a:t>PLAN Session 2 (Tue 10/13) · REQUIRED · 1 min</a:t>
            </a:r>
          </a:p>
          <a:p>
            <a:r>
              <a:t>STUDENT RESOURCE Guided Notes V2 (Reader p.4)</a:t>
            </a:r>
          </a:p>
          <a:p>
            <a:r>
              <a:t>ASK Fill in the blank.</a:t>
            </a:r>
          </a:p>
          <a:p>
            <a:r>
              <a:t>LISTEN FOR 'later'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V2 reveal</a:t>
            </a:r>
          </a:p>
          <a:p>
            <a:r>
              <a:t>TIME 0.5 min</a:t>
            </a:r>
          </a:p>
          <a:p>
            <a:r>
              <a:t>PLAN Session 2 (Tue 10/13) · REQUIRED · 0.5 min</a:t>
            </a:r>
          </a:p>
          <a:p>
            <a:r>
              <a:t>STUDENT RESOURCE Guided Notes V2</a:t>
            </a:r>
          </a:p>
          <a:p>
            <a:r>
              <a:t>REVEAL later</a:t>
            </a:r>
          </a:p>
          <a:p>
            <a:r>
              <a:t>NEXT Objects can store energy (N3).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predict</a:t>
            </a:r>
          </a:p>
          <a:p>
            <a:r>
              <a:t>TIME 2 min</a:t>
            </a:r>
          </a:p>
          <a:p>
            <a:r>
              <a:t>PLAN Session 2 (Tue 10/13) · REQUIRED · 2 min</a:t>
            </a:r>
          </a:p>
          <a:p>
            <a:r>
              <a:t>STUDENT RESOURCE Reader p.4</a:t>
            </a:r>
          </a:p>
          <a:p>
            <a:r>
              <a:t>ASK Does a still battery have energy? Take yes/no predictions and reasons - do not confirm yet.</a:t>
            </a:r>
          </a:p>
          <a:p>
            <a:r>
              <a:t>LISTEN FOR 'yes' / 'no' with a reason; accept any prediction</a:t>
            </a:r>
          </a:p>
          <a:p>
            <a:r>
              <a:t>REVEAL After students predict, read the battery paragraph on Reader p. 4 aloud: the chemicals inside a battery store energy. The screen stays a question; slide 25 shows the Reader fact.</a:t>
            </a:r>
          </a:p>
          <a:p>
            <a:r>
              <a:t>MISCONCEPTION Only moving objects have energy → pair moving + stored.</a:t>
            </a:r>
          </a:p>
          <a:p>
            <a:r>
              <a:t>NEXT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position</a:t>
            </a:r>
          </a:p>
          <a:p>
            <a:r>
              <a:t>TIME 2 min</a:t>
            </a:r>
          </a:p>
          <a:p>
            <a:r>
              <a:t>PLAN Session 2 (Tue 10/13) · REQUIRED · 2 min</a:t>
            </a:r>
          </a:p>
          <a:p>
            <a:r>
              <a:t>STUDENT RESOURCE Reader p.5</a:t>
            </a:r>
          </a:p>
          <a:p>
            <a:r>
              <a:t>ASK Why does a raised apple have stored energy?</a:t>
            </a:r>
          </a:p>
          <a:p>
            <a:r>
              <a:t>LISTEN FOR 'because of its position'</a:t>
            </a:r>
          </a:p>
          <a:p>
            <a:r>
              <a:t>NEXT Build the stored-energy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model</a:t>
            </a:r>
          </a:p>
          <a:p>
            <a:r>
              <a:t>TIME 2 min</a:t>
            </a:r>
          </a:p>
          <a:p>
            <a:r>
              <a:t>PLAN Session 2 (Tue 10/13) · REQUIRED · 2 min</a:t>
            </a:r>
          </a:p>
          <a:p>
            <a:r>
              <a:t>STUDENT RESOURCE Reader p.4</a:t>
            </a:r>
          </a:p>
          <a:p>
            <a:r>
              <a:t>REVEAL (closes the slide 23 prediction) The Reader says chemicals inside a battery store energy - so yes, a still battery has energy. Do not say what the flashlight does yet: students write that in the N3 table.</a:t>
            </a:r>
          </a:p>
          <a:p>
            <a:r>
              <a:t>ASK Trace: stored → release → change.</a:t>
            </a:r>
          </a:p>
          <a:p>
            <a:r>
              <a:t>LISTEN FOR rubber band SNAP example</a:t>
            </a:r>
          </a:p>
          <a:p>
            <a:r>
              <a:t>NEXT Record N3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N3 anchor</a:t>
            </a:r>
          </a:p>
          <a:p>
            <a:r>
              <a:t>TIME 4 min</a:t>
            </a:r>
          </a:p>
          <a:p>
            <a:r>
              <a:t>PLAN Session 2 (Tue 10/13) · REQUIRED · 4 min</a:t>
            </a:r>
          </a:p>
          <a:p>
            <a:r>
              <a:t>STUDENT RESOURCE Guided Notes N3 (Reader pp.4–5)</a:t>
            </a:r>
          </a:p>
          <a:p>
            <a:r>
              <a:t>ASK Fill in the blank; note the three examples.</a:t>
            </a:r>
          </a:p>
          <a:p>
            <a:r>
              <a:t>LISTEN FOR 'position'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N3 reveal</a:t>
            </a:r>
          </a:p>
          <a:p>
            <a:r>
              <a:t>TIME 1 min</a:t>
            </a:r>
          </a:p>
          <a:p>
            <a:r>
              <a:t>PLAN Session 2 (Tue 10/13) · REQUIRED · 1 min</a:t>
            </a:r>
          </a:p>
          <a:p>
            <a:r>
              <a:t>STUDENT RESOURCE Guided Notes N3</a:t>
            </a:r>
          </a:p>
          <a:p>
            <a:r>
              <a:t>REVEAL position. Table cells show SAMPLE answers only - accept any reasonable later change.</a:t>
            </a:r>
          </a:p>
          <a:p>
            <a:r>
              <a:t>NEXT Close Session 2. Session 3 opens on slide 2 (the Big Question), then N4.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evidence</a:t>
            </a:r>
          </a:p>
          <a:p>
            <a:r>
              <a:t>TIME 2 min</a:t>
            </a:r>
          </a:p>
          <a:p>
            <a:r>
              <a:t>PLAN Session 3 (Fri 10/16) · REQUIRED · 2 min</a:t>
            </a:r>
          </a:p>
          <a:p>
            <a:r>
              <a:t>STUDENT RESOURCE Reader pp.1–5</a:t>
            </a:r>
          </a:p>
          <a:p>
            <a:r>
              <a:t>ASK What clues could show that energy is at work? (Do not give the CHECK YOUR THINKING answer yet.)</a:t>
            </a:r>
          </a:p>
          <a:p>
            <a:r>
              <a:t>LISTEN FOR movement, sound, light, heat, something different</a:t>
            </a:r>
          </a:p>
          <a:p>
            <a:r>
              <a:t>LANGUAGE Say evidence (not proof).</a:t>
            </a:r>
          </a:p>
          <a:p>
            <a:r>
              <a:t>FRIDAY CLOCK The quiz is handed out NO LATER THAN MINUTE 12. Priority: N4 draw &gt; BQ NOW I THINK &gt; CHECK YOUR THINKING. Minute 6: N4 should be done.</a:t>
            </a:r>
          </a:p>
          <a:p>
            <a:r>
              <a:t>NEXT Draw before/after (N4).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N4 anchor</a:t>
            </a:r>
          </a:p>
          <a:p>
            <a:r>
              <a:t>TIME 3.5 min</a:t>
            </a:r>
          </a:p>
          <a:p>
            <a:r>
              <a:t>PLAN Session 3 (Fri 10/16) · REQUIRED · 3.5 min</a:t>
            </a:r>
          </a:p>
          <a:p>
            <a:r>
              <a:t>STUDENT RESOURCE Guided Notes N4 (Reader pp.1–5)</a:t>
            </a:r>
          </a:p>
          <a:p>
            <a:r>
              <a:t>ASK Draw one change before and after; write what changed.</a:t>
            </a:r>
          </a:p>
          <a:p>
            <a:r>
              <a:t>LISTEN FOR clear before/after pairs</a:t>
            </a:r>
          </a:p>
          <a:p>
            <a:r>
              <a:t>NEXT Check your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Check Your Thinking</a:t>
            </a:r>
          </a:p>
          <a:p>
            <a:r>
              <a:t>TIME 2.5 min</a:t>
            </a:r>
          </a:p>
          <a:p>
            <a:r>
              <a:t>PLAN Session 3 (Fri 10/16) · REQUIRED · 2.5 min</a:t>
            </a:r>
          </a:p>
          <a:p>
            <a:r>
              <a:t>STUDENT RESOURCE Guided Notes N4</a:t>
            </a:r>
          </a:p>
          <a:p>
            <a:r>
              <a:t>FRIDAY CLOCK Past minute 6 when you reach this slide? SKIP slides 30-31 (CHECK YOUR THINKING goes home / catch-up) and go straight to slide 33.</a:t>
            </a:r>
          </a:p>
          <a:p>
            <a:r>
              <a:t>ASK Complete the sentence starter.</a:t>
            </a:r>
          </a:p>
          <a:p>
            <a:r>
              <a:t>LISTEN FOR 'a change, like a ball starting to move'</a:t>
            </a:r>
          </a:p>
          <a:p>
            <a:r>
              <a:t>REVEAL Do not show slide 31 until most students have written.</a:t>
            </a:r>
          </a:p>
          <a:p>
            <a:r>
              <a:t>NEXT Reveal a sample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evidence</a:t>
            </a:r>
          </a:p>
          <a:p>
            <a:r>
              <a:t>TIME 1 min</a:t>
            </a:r>
          </a:p>
          <a:p>
            <a:r>
              <a:t>PLAN Session 3 (Fri 10/16) · REQUIRED · 1 min</a:t>
            </a:r>
          </a:p>
          <a:p>
            <a:r>
              <a:t>STUDENT RESOURCE Guided Notes N4</a:t>
            </a:r>
          </a:p>
          <a:p>
            <a:r>
              <a:t>REVEAL Sample response (accept any change-as-evidence).</a:t>
            </a:r>
          </a:p>
          <a:p>
            <a:r>
              <a:t>NEXT Apply: classify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Apply · evidence</a:t>
            </a:r>
          </a:p>
          <a:p>
            <a:r>
              <a:t>TIME 2 min</a:t>
            </a:r>
          </a:p>
          <a:p>
            <a:r>
              <a:t>PLAN Session 3 (Fri 10/16) · OPTIONAL - skip freely · 2 min</a:t>
            </a:r>
          </a:p>
          <a:p>
            <a:r>
              <a:t>STUDENT RESOURCE none</a:t>
            </a:r>
          </a:p>
          <a:p>
            <a:r>
              <a:t>ASK Which one shows a change (energy at work)?</a:t>
            </a:r>
          </a:p>
          <a:p>
            <a:r>
              <a:t>LISTEN FOR 'the toy car'</a:t>
            </a:r>
          </a:p>
          <a:p>
            <a:r>
              <a:t>REVEAL The toy car starts to roll — a change. Then say aloud: 'Look for a change — that is the evidence of energy.' (Spoken after the vote; it is not on the question slide.)</a:t>
            </a:r>
          </a:p>
          <a:p>
            <a:r>
              <a:t>NEXT Return to the Big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BQ return</a:t>
            </a:r>
          </a:p>
          <a:p>
            <a:r>
              <a:t>TIME 2.5 min</a:t>
            </a:r>
          </a:p>
          <a:p>
            <a:r>
              <a:t>PLAN Session 3 (Fri 10/16) · REQUIRED · 2.5 min</a:t>
            </a:r>
          </a:p>
          <a:p>
            <a:r>
              <a:t>STUDENT RESOURCE Guided Notes p.3</a:t>
            </a:r>
          </a:p>
          <a:p>
            <a:r>
              <a:t>FRIDAY CLOCK Start this slide by minute 9.5; if you are later, do NOT start it before the quiz - students write it after handing in the quiz or at home / in catch-up. The quiz is handed out by minute 12.</a:t>
            </a:r>
          </a:p>
          <a:p>
            <a:r>
              <a:t>ASK Answer the Big Question now.</a:t>
            </a:r>
          </a:p>
          <a:p>
            <a:r>
              <a:t>LISTEN FOR any change named as evidence</a:t>
            </a:r>
          </a:p>
          <a:p>
            <a:r>
              <a:t>NEXT Friday quiz (Session 3). Optional end-of-chapter review slides 34-45 are for a review day or FLEX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Q1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Q1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the ability to cause change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Q2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Q2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It gets shorter and sharper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Q3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Q3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A stretched rubber band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Q4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Q4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motion and sound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Q5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Q5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We observe a change happen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Q6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Q6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Yes — stored energy that can cause change later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85800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venir Next"/>
              </a:rPr>
              <a:t>CHAPTER 1 · GRADE 4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800" b="1" i="0">
                <a:solidFill>
                  <a:srgbClr val="FFFFFF"/>
                </a:solidFill>
                <a:latin typeface="Avenir Next"/>
              </a:rPr>
              <a:t>Energy Causes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D8DCE4"/>
                </a:solidFill>
                <a:latin typeface="Avenir Next"/>
              </a:rPr>
              <a:t>Discovery /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FFFFFF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7248" y="4128515"/>
            <a:ext cx="37490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393192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24727" y="4128515"/>
            <a:ext cx="37490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D8DCE4"/>
                </a:solidFill>
                <a:latin typeface="Avenir Next"/>
              </a:rPr>
              <a:t>Unit 1 · Energy Transfer &amp;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329184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TURN &amp;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Big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83112" cy="1737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4A5268"/>
                </a:solidFill>
                <a:latin typeface="Avenir Next"/>
              </a:rPr>
              <a:t>Keep it in mind all chapter. We will come back to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805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Think: What is ONE change you have seen happen?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Big Question — My first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p.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F2A5A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My first thinking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749039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438912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1–2 quick ideas. No wrong answer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What changed?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1 — you walk into a dark room and flip a switch.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32232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8575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DARK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28575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hard to see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9100" y="2286000"/>
            <a:ext cx="32232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1980" y="2423160"/>
            <a:ext cx="28575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BRIGHT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980" y="2971800"/>
            <a:ext cx="28575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light fills the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286000"/>
            <a:ext cx="347472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Something became different.
That is a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329184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TURN &amp;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I notice…  I wonder…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A67C16"/>
                </a:solidFill>
                <a:latin typeface="Avenir Next"/>
              </a:rPr>
              <a:t>I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room is different now.
Light is everywhere.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A67C16"/>
                </a:solidFill>
                <a:latin typeface="Avenir Next"/>
              </a:rPr>
              <a:t>I WONDER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What made the light
change so fast?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035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Share one notice and one wonder with a partner.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Electric Pencil Sharpener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Observe the pencil BEFORE we sharpen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286000"/>
            <a:ext cx="85039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560320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A67C16"/>
                </a:solidFill>
                <a:latin typeface="Avenir Next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200400"/>
            <a:ext cx="7955279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dull pencil — tip is flat, and it is quiet.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235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Look closely. What do you see? What do you hear?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329184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Predict: what will change?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Think before we turn it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37744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When the sharpener runs, the pencil will…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8869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get  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Make a prediction. Say it to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What changed?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32232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8575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8575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dull tip · quiet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9100" y="2194560"/>
            <a:ext cx="32232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1980" y="2331720"/>
            <a:ext cx="28575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1980" y="2880360"/>
            <a:ext cx="28575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shorter · sharper · humming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19456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3774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9260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• the tip is sharper
• the pencil is shorter
• it makes a sound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17830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How do we know energy was involved?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Energy can be invisible. We look for the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95927" y="2779776"/>
            <a:ext cx="42062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44967" y="2779776"/>
            <a:ext cx="42062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31920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The pencil got shorter and sharper and made a sound.
Those changes are clues that energy was involved.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Vocabulary — Energy &amp;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54406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5440680" cy="146304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60" y="2441448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1F2A5A"/>
                </a:solidFill>
                <a:latin typeface="Avenir Next"/>
              </a:rPr>
              <a:t>TEACH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4144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0632"/>
            <a:ext cx="4800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1F2A5A"/>
                </a:solidFill>
                <a:latin typeface="Avenir Next"/>
              </a:rPr>
              <a:t>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ability to cause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00600"/>
            <a:ext cx="4800600" cy="731519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910328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12948" y="5038344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1860" y="4910328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057400"/>
            <a:ext cx="54406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2057400"/>
            <a:ext cx="5440680" cy="146304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94392" y="2441448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1F2A5A"/>
                </a:solidFill>
                <a:latin typeface="Avenir Next"/>
              </a:rPr>
              <a:t>TEACH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44144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VOCABULARY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770632"/>
            <a:ext cx="4800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1F2A5A"/>
                </a:solidFill>
                <a:latin typeface="Avenir Next"/>
              </a:rPr>
              <a:t>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840480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to become different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4800600"/>
            <a:ext cx="4800600" cy="731519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02552" y="4910328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BEFORE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55380" y="5038344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94292" y="4910328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66928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Energy &amp;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energy — the ability to cause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change — to become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each blank.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Energy &amp;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energy — the ability to cause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change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change — to become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different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change  ·  different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329184"/>
            <a:ext cx="16002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RECITE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What is energy?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789920" cy="20116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800" b="1" i="0">
                <a:solidFill>
                  <a:srgbClr val="FFFFFF"/>
                </a:solidFill>
                <a:latin typeface="Avenir Next"/>
              </a:rPr>
              <a:t>Energy is the ability to cause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Say it together: “Energy is the ability to cause change.”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329184"/>
            <a:ext cx="15087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Look at the seashore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2 — the seashore changes all around 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95927" y="2734056"/>
            <a:ext cx="42062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37744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44967" y="2734056"/>
            <a:ext cx="42062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237744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10789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Read Reader p. 2.
Waves move. Sand shifts. Water makes sound.
What are these changes a clue about?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Energy Causes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has the ability to cause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461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When you see a change, you are seeing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of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the sentence. Leave the last box of your model empty for 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Energy Causes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has the ability to cause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When you see a change, you are seeing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evidence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of energy.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14800"/>
            <a:ext cx="2773680" cy="8229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3567" y="4379976"/>
            <a:ext cx="37490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6760" y="4114800"/>
            <a:ext cx="2773680" cy="82296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48727" y="4379976"/>
            <a:ext cx="37490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41920" y="4114800"/>
            <a:ext cx="2773680" cy="8229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57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Now write the same word in the last box of your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Energy has different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3 — think of a spinning carousel.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" y="24688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motion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2636" y="24688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8636" y="24688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4636" y="24688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heat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60636" y="24688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electrical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10698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 the carousel, the horses spin and move up and down.
That is motion.
Find the other forms in the Reader.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Clap three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What forms of energy do you observe?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4183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When you clap…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What do you SEE?
What do you HEAR?
What do you FEEL in your hands?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Energy Occurs in Different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Write one example that shows a change for each 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697480"/>
            <a:ext cx="3108960" cy="54864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Avenir Next"/>
              </a:rPr>
              <a:t>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697480"/>
            <a:ext cx="6812279" cy="54864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807208"/>
            <a:ext cx="6537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ONE EXAMPLE THAT SHOWS A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246120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319272"/>
            <a:ext cx="2834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motion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3246120"/>
            <a:ext cx="681227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3813048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886200"/>
            <a:ext cx="2834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sound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813048"/>
            <a:ext cx="681227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4379976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453128"/>
            <a:ext cx="2834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light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4379976"/>
            <a:ext cx="681227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4946904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020056"/>
            <a:ext cx="2834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heat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946904"/>
            <a:ext cx="681227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5513832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08760" y="5586984"/>
            <a:ext cx="2834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electrical energy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5513832"/>
            <a:ext cx="681227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Vocabulary — Stored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57400"/>
            <a:ext cx="66751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2057400"/>
            <a:ext cx="6675120" cy="146304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26680" y="2441448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1F2A5A"/>
                </a:solidFill>
                <a:latin typeface="Avenir Next"/>
              </a:rPr>
              <a:t>TEACH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414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70632"/>
            <a:ext cx="6035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1F2A5A"/>
                </a:solidFill>
                <a:latin typeface="Avenir Next"/>
              </a:rPr>
              <a:t>stored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840480"/>
            <a:ext cx="6035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that has the ability to cause change at a later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4800600"/>
            <a:ext cx="6035040" cy="731519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4910328"/>
            <a:ext cx="1615440" cy="56692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STILL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34128" y="5038344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73040" y="4910328"/>
            <a:ext cx="1615440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LATER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06767" y="5038344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45680" y="4910328"/>
            <a:ext cx="1615440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6692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Stored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stored energy — energy that has the ability to cause change at a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the blank.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Stored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stored energy — energy that has the ability to cause change at a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later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329184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Does a still battery have energy?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4 — think about a battery inside a flashlight.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377440"/>
            <a:ext cx="94183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97480"/>
            <a:ext cx="8869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battery sits still in a flashlight that is switched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94760"/>
            <a:ext cx="8869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Yes or no? Make a prediction.
Tell your partner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The stored energy of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5 — an object held up can cause a change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18320" cy="274320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60604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Raised apple → let go →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An apple held above the ground has stored energy
because of its position. Imagine you let go. What will happen?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329184"/>
            <a:ext cx="15087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Stored energy can cause a change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4 — back to our battery: the chemicals inside it store energy.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STORED ENERGY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95927" y="2825496"/>
            <a:ext cx="42062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RELEASE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44967" y="2825496"/>
            <a:ext cx="42062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246888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Stretch a rubber band — it now stores energy.
Let it go. What change will you see and hear?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Objects Can Store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4–5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STORED 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89247" y="2071116"/>
            <a:ext cx="32918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672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RELEASE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11567" y="2071116"/>
            <a:ext cx="32918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59039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97480"/>
            <a:ext cx="43891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61488"/>
            <a:ext cx="41696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EXAMPLE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2697480"/>
            <a:ext cx="59893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761488"/>
            <a:ext cx="5769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WHAT CHANGE COULD HAPPEN LATER?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154680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209544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battery (in a flashlight)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3154680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685032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739896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stretched rubber band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3685032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215384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270248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raised object (apple)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4215384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Objects also have stored energy because of their </a:t>
            </a:r>
            <a:r>
              <a:rPr sz="2800" b="0" i="0" u="sng">
                <a:solidFill>
                  <a:srgbClr val="1A1D26"/>
                </a:solidFill>
                <a:latin typeface="Avenir Next"/>
              </a:rPr>
              <a:t>________</a:t>
            </a:r>
            <a:r>
              <a:rPr sz="28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Objects Can Store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4–5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STORED 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89247" y="2071116"/>
            <a:ext cx="32918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672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RELEASE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11567" y="2071116"/>
            <a:ext cx="329184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59039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97480"/>
            <a:ext cx="43891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61488"/>
            <a:ext cx="41696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EXAMPLE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2697480"/>
            <a:ext cx="59893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761488"/>
            <a:ext cx="5769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WHAT CHANGE COULD HAPPEN LATER?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154680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209544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battery (in a flashlight)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3154680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0408" y="3209544"/>
            <a:ext cx="57698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7A5620"/>
                </a:solidFill>
                <a:latin typeface="Avenir Next"/>
              </a:rPr>
              <a:t>the flashlight lights 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85032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739896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stretched rubber band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3685032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0408" y="3739896"/>
            <a:ext cx="57698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7A5620"/>
                </a:solidFill>
                <a:latin typeface="Avenir Next"/>
              </a:rPr>
              <a:t>it snaps and makes a sound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215384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270248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raised object (apple)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4215384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0408" y="4270248"/>
            <a:ext cx="57698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7A5620"/>
                </a:solidFill>
                <a:latin typeface="Avenir Next"/>
              </a:rPr>
              <a:t>it falls 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37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Objects also have stored energy because of their </a:t>
            </a:r>
            <a:r>
              <a:rPr sz="2800" b="1" i="0">
                <a:solidFill>
                  <a:srgbClr val="A67C16"/>
                </a:solidFill>
                <a:latin typeface="Avenir Next"/>
              </a:rPr>
              <a:t>position</a:t>
            </a:r>
            <a:r>
              <a:rPr sz="28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position  ·  Sample answers shown - yours may differ.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29184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Recognizing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pp. 1–5 — think about the clues we can see, hear, or feel.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789920" cy="237744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99669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Energy can be invisible.
What clues could show that energy is at work?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Think of a change you have seen. What did you see, hear, or feel?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29184"/>
            <a:ext cx="13716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Recognizing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Draw a change you observed. Show what it looked like BEFORE and AFTER.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017520"/>
            <a:ext cx="34975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154679"/>
            <a:ext cx="31318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03320"/>
            <a:ext cx="3131820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draw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89220" y="3017520"/>
            <a:ext cx="34975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2100" y="3154679"/>
            <a:ext cx="31318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3703320"/>
            <a:ext cx="3131820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83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What changed?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6235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60807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Check Your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94560"/>
            <a:ext cx="10058400" cy="155448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CHECK YOUR THINKING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88920"/>
            <a:ext cx="9509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energy is involved if we cannot see energy itself?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 i="1">
                <a:solidFill>
                  <a:srgbClr val="1A1D26"/>
                </a:solidFill>
                <a:latin typeface="Avenir Next"/>
              </a:rPr>
              <a:t>Start with: “We know because we see …”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7091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534924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We know because we see a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9418320" cy="201168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80360"/>
            <a:ext cx="8869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“We know because we see a change — like a ball starting to move or a light turning on.”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Any change you observe is evidence of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29184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Avenir Next"/>
              </a:rPr>
              <a:t>Which change shows energy at work?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487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toy car starts to roll.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29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630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rock keeps sitting still.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572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773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room stays dark.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521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Pick one. Tell your partner why.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BQ · Now I 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p.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03120"/>
            <a:ext cx="10058400" cy="160020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A67C16"/>
                </a:solidFill>
                <a:latin typeface="Avenir Next"/>
              </a:rPr>
              <a:t>BIG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9509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Now I think…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521208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8521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1 —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is best described as 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visible glow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something only batteries have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ability to cause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kind of fuel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1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is best described as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visible glow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something only batteries have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the ability to cause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kind of fuel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91616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is the ability to cause change (Reader p. 1).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2 —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pencil is dull, then you sharpen it. What change do you observe?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gets shorter and sharper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gets longer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changes color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disappears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2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pencil is dull, then you sharpen it. What change do you observe?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It gets shorter and sharper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gets longer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changes color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disappears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91616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pencil becomes shorter and sharper — a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3 —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Which object has stored energy that can cause a change LATER?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ball already rolling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toy already moving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flashlight already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stretched rubber 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3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Which object has stored energy that can cause a change LATER?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ball already rolling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toy already moving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flashlight already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A stretched rubber band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91616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rubber band stores energy; it changes when released.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4 —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carousel spins and plays music. Which two forms of energy come from the spinning and the music?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motion and sound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motion and silence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sound and stillness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4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carousel spins and plays music. Which two forms of energy come from the spinning and the music?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motion and sound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motion and silence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sound and stillness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91616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spinning is motion; the music is sound (Reader p. 3).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5 —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energy is involved if we cannot see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observe a change happen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can always be seen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guess without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Nothing can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5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energy is involved if we cannot see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We observe a change happen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can always be seen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guess without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Nothing can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91616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see a change — like movement — as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6 —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battery sits still in a flashlight. Does it have energy?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 — still objects have no 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it is moving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Yes — stored energy that can cause change later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the flashlight is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Review 6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battery sits still in a flashlight. Does it have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 — still objects have no energy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it is moving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Yes — stored energy that can cause change later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the flashlight is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91616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battery stores energy. It can cause a change later.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