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Default Extension="mp4" ContentType="video/mp4"/>
  <Default Extension="jpg" ContentType="image/jpe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2173c9bbed4619" /><Relationship Type="http://schemas.openxmlformats.org/officeDocument/2006/relationships/extended-properties" Target="/docProps/app.xml" Id="R5b1a548cbf804308" /><Relationship Type="http://schemas.openxmlformats.org/officeDocument/2006/relationships/officeDocument" Target="/ppt/presentation.xml" Id="Rc466be97cbaa40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c716df6df64c7e"/>
  </p:sldMasterIdLst>
  <p:notesMasterIdLst>
    <p:notesMasterId xmlns:r="http://schemas.openxmlformats.org/officeDocument/2006/relationships" r:id="R9fdffa5de1f84bfe"/>
  </p:notesMasterIdLst>
  <p:sldIdLst>
    <p:sldId xmlns:r="http://schemas.openxmlformats.org/officeDocument/2006/relationships" id="256" r:id="R3fadca57097640ff"/>
    <p:sldId xmlns:r="http://schemas.openxmlformats.org/officeDocument/2006/relationships" id="257" r:id="R31388b4ab9d04e09"/>
    <p:sldId xmlns:r="http://schemas.openxmlformats.org/officeDocument/2006/relationships" id="258" r:id="Rf395df82a67742dd"/>
    <p:sldId xmlns:r="http://schemas.openxmlformats.org/officeDocument/2006/relationships" id="259" r:id="R7066c6bd46c04477"/>
    <p:sldId xmlns:r="http://schemas.openxmlformats.org/officeDocument/2006/relationships" id="260" r:id="Rf633381a15fa481f"/>
    <p:sldId xmlns:r="http://schemas.openxmlformats.org/officeDocument/2006/relationships" id="261" r:id="R79beb8962ae74e8f"/>
    <p:sldId xmlns:r="http://schemas.openxmlformats.org/officeDocument/2006/relationships" id="262" r:id="Ra84aa3f6f1134190"/>
    <p:sldId xmlns:r="http://schemas.openxmlformats.org/officeDocument/2006/relationships" id="263" r:id="Rce47d7541cf34283"/>
    <p:sldId xmlns:r="http://schemas.openxmlformats.org/officeDocument/2006/relationships" id="264" r:id="R8df5be23129b4695"/>
    <p:sldId xmlns:r="http://schemas.openxmlformats.org/officeDocument/2006/relationships" id="265" r:id="R9c1b4ad1ca3c4079"/>
    <p:sldId xmlns:r="http://schemas.openxmlformats.org/officeDocument/2006/relationships" id="266" r:id="R418ed502ffa943f8"/>
    <p:sldId xmlns:r="http://schemas.openxmlformats.org/officeDocument/2006/relationships" id="267" r:id="R4e8016298ff54d20"/>
    <p:sldId xmlns:r="http://schemas.openxmlformats.org/officeDocument/2006/relationships" id="268" r:id="Ra3a3a62317594556"/>
    <p:sldId xmlns:r="http://schemas.openxmlformats.org/officeDocument/2006/relationships" id="269" r:id="R7121a3e79d0e420f"/>
    <p:sldId xmlns:r="http://schemas.openxmlformats.org/officeDocument/2006/relationships" id="270" r:id="R863caee088474ac5"/>
    <p:sldId xmlns:r="http://schemas.openxmlformats.org/officeDocument/2006/relationships" id="271" r:id="R7d1d8bfc692f487d"/>
    <p:sldId xmlns:r="http://schemas.openxmlformats.org/officeDocument/2006/relationships" id="272" r:id="Raf88d1f9597f41f8"/>
    <p:sldId xmlns:r="http://schemas.openxmlformats.org/officeDocument/2006/relationships" id="273" r:id="R28d4b900e4fc4578"/>
    <p:sldId xmlns:r="http://schemas.openxmlformats.org/officeDocument/2006/relationships" id="274" r:id="R208826019b0945c4"/>
    <p:sldId xmlns:r="http://schemas.openxmlformats.org/officeDocument/2006/relationships" id="275" r:id="R486848364f2a40b9"/>
    <p:sldId xmlns:r="http://schemas.openxmlformats.org/officeDocument/2006/relationships" id="276" r:id="R0ab2171d97254459"/>
    <p:sldId xmlns:r="http://schemas.openxmlformats.org/officeDocument/2006/relationships" id="277" r:id="R286c49491eb1499e"/>
    <p:sldId xmlns:r="http://schemas.openxmlformats.org/officeDocument/2006/relationships" id="278" r:id="Rd4899b6c3c664bb9"/>
    <p:sldId xmlns:r="http://schemas.openxmlformats.org/officeDocument/2006/relationships" id="279" r:id="Re241912aebd74df8"/>
    <p:sldId xmlns:r="http://schemas.openxmlformats.org/officeDocument/2006/relationships" id="280" r:id="R32eff992d7f64049"/>
    <p:sldId xmlns:r="http://schemas.openxmlformats.org/officeDocument/2006/relationships" id="281" r:id="R93ac4e3b24f24bf1"/>
    <p:sldId xmlns:r="http://schemas.openxmlformats.org/officeDocument/2006/relationships" id="282" r:id="R08954e324a354c96"/>
    <p:sldId xmlns:r="http://schemas.openxmlformats.org/officeDocument/2006/relationships" id="283" r:id="R3bcfbd1c0ff6436a"/>
    <p:sldId xmlns:r="http://schemas.openxmlformats.org/officeDocument/2006/relationships" id="284" r:id="R38e5a3815efe4bfb"/>
    <p:sldId xmlns:r="http://schemas.openxmlformats.org/officeDocument/2006/relationships" id="285" r:id="R740338bea19541d5"/>
    <p:sldId xmlns:r="http://schemas.openxmlformats.org/officeDocument/2006/relationships" id="286" r:id="Rb72486345fd24f9c"/>
    <p:sldId xmlns:r="http://schemas.openxmlformats.org/officeDocument/2006/relationships" id="287" r:id="Rc99cf50625c84dc1"/>
    <p:sldId xmlns:r="http://schemas.openxmlformats.org/officeDocument/2006/relationships" id="288" r:id="R99bae533d4e9476d"/>
    <p:sldId xmlns:r="http://schemas.openxmlformats.org/officeDocument/2006/relationships" id="289" r:id="R92308cb5d8ce4e67"/>
    <p:sldId xmlns:r="http://schemas.openxmlformats.org/officeDocument/2006/relationships" id="290" r:id="R300625311c084d30"/>
    <p:sldId xmlns:r="http://schemas.openxmlformats.org/officeDocument/2006/relationships" id="291" r:id="R087fbc074ed845c9"/>
    <p:sldId xmlns:r="http://schemas.openxmlformats.org/officeDocument/2006/relationships" id="292" r:id="Rd995dd693aa042d4"/>
    <p:sldId xmlns:r="http://schemas.openxmlformats.org/officeDocument/2006/relationships" id="293" r:id="R6179ac833e724d6e"/>
    <p:sldId xmlns:r="http://schemas.openxmlformats.org/officeDocument/2006/relationships" id="294" r:id="R6fe797fddd5f4b98"/>
    <p:sldId xmlns:r="http://schemas.openxmlformats.org/officeDocument/2006/relationships" id="295" r:id="R21dfead4383d4fab"/>
    <p:sldId xmlns:r="http://schemas.openxmlformats.org/officeDocument/2006/relationships" id="296" r:id="R96ab18a85f4a4479"/>
    <p:sldId xmlns:r="http://schemas.openxmlformats.org/officeDocument/2006/relationships" id="297" r:id="R4b77707d97034826"/>
    <p:sldId xmlns:r="http://schemas.openxmlformats.org/officeDocument/2006/relationships" id="298" r:id="Ra5baced4cd8d4e59"/>
    <p:sldId xmlns:r="http://schemas.openxmlformats.org/officeDocument/2006/relationships" id="299" r:id="R6cd6b1db7cef4057"/>
    <p:sldId xmlns:r="http://schemas.openxmlformats.org/officeDocument/2006/relationships" id="300" r:id="Rf446eb0a3b5d4748"/>
    <p:sldId xmlns:r="http://schemas.openxmlformats.org/officeDocument/2006/relationships" id="301" r:id="Ref10138023364350"/>
    <p:sldId xmlns:r="http://schemas.openxmlformats.org/officeDocument/2006/relationships" id="302" r:id="R99bb8c274da847e7"/>
    <p:sldId xmlns:r="http://schemas.openxmlformats.org/officeDocument/2006/relationships" id="303" r:id="R9084e1668f2c4262"/>
    <p:sldId xmlns:r="http://schemas.openxmlformats.org/officeDocument/2006/relationships" id="304" r:id="Rc7d1c41d33e74a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ab541e46794f52" /><Relationship Type="http://schemas.openxmlformats.org/officeDocument/2006/relationships/slideMaster" Target="/ppt/slideMasters/slideMaster1.xml" Id="R31c716df6df64c7e" /><Relationship Type="http://schemas.openxmlformats.org/officeDocument/2006/relationships/notesMaster" Target="/ppt/notesMasters/notesMaster1.xml" Id="R9fdffa5de1f84bfe" /><Relationship Type="http://schemas.openxmlformats.org/officeDocument/2006/relationships/presProps" Target="/ppt/presProps.xml" Id="Rdb050c0fc7884984" /><Relationship Type="http://schemas.openxmlformats.org/officeDocument/2006/relationships/tableStyles" Target="/ppt/tableStyles.xml" Id="Ref1a1d345e174cbc" /><Relationship Type="http://schemas.openxmlformats.org/officeDocument/2006/relationships/slide" Target="/ppt/slides/slide1.xml" Id="R3fadca57097640ff" /><Relationship Type="http://schemas.openxmlformats.org/officeDocument/2006/relationships/slide" Target="/ppt/slides/slide2.xml" Id="R31388b4ab9d04e09" /><Relationship Type="http://schemas.openxmlformats.org/officeDocument/2006/relationships/slide" Target="/ppt/slides/slide3.xml" Id="Rf395df82a67742dd" /><Relationship Type="http://schemas.openxmlformats.org/officeDocument/2006/relationships/slide" Target="/ppt/slides/slide4.xml" Id="R7066c6bd46c04477" /><Relationship Type="http://schemas.openxmlformats.org/officeDocument/2006/relationships/slide" Target="/ppt/slides/slide5.xml" Id="Rf633381a15fa481f" /><Relationship Type="http://schemas.openxmlformats.org/officeDocument/2006/relationships/slide" Target="/ppt/slides/slide6.xml" Id="R79beb8962ae74e8f" /><Relationship Type="http://schemas.openxmlformats.org/officeDocument/2006/relationships/slide" Target="/ppt/slides/slide7.xml" Id="Ra84aa3f6f1134190" /><Relationship Type="http://schemas.openxmlformats.org/officeDocument/2006/relationships/slide" Target="/ppt/slides/slide8.xml" Id="Rce47d7541cf34283" /><Relationship Type="http://schemas.openxmlformats.org/officeDocument/2006/relationships/slide" Target="/ppt/slides/slide9.xml" Id="R8df5be23129b4695" /><Relationship Type="http://schemas.openxmlformats.org/officeDocument/2006/relationships/slide" Target="/ppt/slides/slide10.xml" Id="R9c1b4ad1ca3c4079" /><Relationship Type="http://schemas.openxmlformats.org/officeDocument/2006/relationships/slide" Target="/ppt/slides/slide11.xml" Id="R418ed502ffa943f8" /><Relationship Type="http://schemas.openxmlformats.org/officeDocument/2006/relationships/slide" Target="/ppt/slides/slide12.xml" Id="R4e8016298ff54d20" /><Relationship Type="http://schemas.openxmlformats.org/officeDocument/2006/relationships/slide" Target="/ppt/slides/slide13.xml" Id="Ra3a3a62317594556" /><Relationship Type="http://schemas.openxmlformats.org/officeDocument/2006/relationships/slide" Target="/ppt/slides/slide14.xml" Id="R7121a3e79d0e420f" /><Relationship Type="http://schemas.openxmlformats.org/officeDocument/2006/relationships/slide" Target="/ppt/slides/slide15.xml" Id="R863caee088474ac5" /><Relationship Type="http://schemas.openxmlformats.org/officeDocument/2006/relationships/slide" Target="/ppt/slides/slide16.xml" Id="R7d1d8bfc692f487d" /><Relationship Type="http://schemas.openxmlformats.org/officeDocument/2006/relationships/slide" Target="/ppt/slides/slide17.xml" Id="Raf88d1f9597f41f8" /><Relationship Type="http://schemas.openxmlformats.org/officeDocument/2006/relationships/slide" Target="/ppt/slides/slide18.xml" Id="R28d4b900e4fc4578" /><Relationship Type="http://schemas.openxmlformats.org/officeDocument/2006/relationships/slide" Target="/ppt/slides/slide19.xml" Id="R208826019b0945c4" /><Relationship Type="http://schemas.openxmlformats.org/officeDocument/2006/relationships/slide" Target="/ppt/slides/slide20.xml" Id="R486848364f2a40b9" /><Relationship Type="http://schemas.openxmlformats.org/officeDocument/2006/relationships/slide" Target="/ppt/slides/slide21.xml" Id="R0ab2171d97254459" /><Relationship Type="http://schemas.openxmlformats.org/officeDocument/2006/relationships/slide" Target="/ppt/slides/slide22.xml" Id="R286c49491eb1499e" /><Relationship Type="http://schemas.openxmlformats.org/officeDocument/2006/relationships/slide" Target="/ppt/slides/slide23.xml" Id="Rd4899b6c3c664bb9" /><Relationship Type="http://schemas.openxmlformats.org/officeDocument/2006/relationships/slide" Target="/ppt/slides/slide24.xml" Id="Re241912aebd74df8" /><Relationship Type="http://schemas.openxmlformats.org/officeDocument/2006/relationships/slide" Target="/ppt/slides/slide25.xml" Id="R32eff992d7f64049" /><Relationship Type="http://schemas.openxmlformats.org/officeDocument/2006/relationships/slide" Target="/ppt/slides/slide26.xml" Id="R93ac4e3b24f24bf1" /><Relationship Type="http://schemas.openxmlformats.org/officeDocument/2006/relationships/slide" Target="/ppt/slides/slide27.xml" Id="R08954e324a354c96" /><Relationship Type="http://schemas.openxmlformats.org/officeDocument/2006/relationships/slide" Target="/ppt/slides/slide28.xml" Id="R3bcfbd1c0ff6436a" /><Relationship Type="http://schemas.openxmlformats.org/officeDocument/2006/relationships/slide" Target="/ppt/slides/slide29.xml" Id="R38e5a3815efe4bfb" /><Relationship Type="http://schemas.openxmlformats.org/officeDocument/2006/relationships/slide" Target="/ppt/slides/slide30.xml" Id="R740338bea19541d5" /><Relationship Type="http://schemas.openxmlformats.org/officeDocument/2006/relationships/slide" Target="/ppt/slides/slide31.xml" Id="Rb72486345fd24f9c" /><Relationship Type="http://schemas.openxmlformats.org/officeDocument/2006/relationships/slide" Target="/ppt/slides/slide32.xml" Id="Rc99cf50625c84dc1" /><Relationship Type="http://schemas.openxmlformats.org/officeDocument/2006/relationships/slide" Target="/ppt/slides/slide33.xml" Id="R99bae533d4e9476d" /><Relationship Type="http://schemas.openxmlformats.org/officeDocument/2006/relationships/slide" Target="/ppt/slides/slide34.xml" Id="R92308cb5d8ce4e67" /><Relationship Type="http://schemas.openxmlformats.org/officeDocument/2006/relationships/slide" Target="/ppt/slides/slide35.xml" Id="R300625311c084d30" /><Relationship Type="http://schemas.openxmlformats.org/officeDocument/2006/relationships/slide" Target="/ppt/slides/slide36.xml" Id="R087fbc074ed845c9" /><Relationship Type="http://schemas.openxmlformats.org/officeDocument/2006/relationships/slide" Target="/ppt/slides/slide37.xml" Id="Rd995dd693aa042d4" /><Relationship Type="http://schemas.openxmlformats.org/officeDocument/2006/relationships/slide" Target="/ppt/slides/slide38.xml" Id="R6179ac833e724d6e" /><Relationship Type="http://schemas.openxmlformats.org/officeDocument/2006/relationships/slide" Target="/ppt/slides/slide39.xml" Id="R6fe797fddd5f4b98" /><Relationship Type="http://schemas.openxmlformats.org/officeDocument/2006/relationships/slide" Target="/ppt/slides/slide40.xml" Id="R21dfead4383d4fab" /><Relationship Type="http://schemas.openxmlformats.org/officeDocument/2006/relationships/slide" Target="/ppt/slides/slide41.xml" Id="R96ab18a85f4a4479" /><Relationship Type="http://schemas.openxmlformats.org/officeDocument/2006/relationships/slide" Target="/ppt/slides/slide42.xml" Id="R4b77707d97034826" /><Relationship Type="http://schemas.openxmlformats.org/officeDocument/2006/relationships/slide" Target="/ppt/slides/slide43.xml" Id="Ra5baced4cd8d4e59" /><Relationship Type="http://schemas.openxmlformats.org/officeDocument/2006/relationships/slide" Target="/ppt/slides/slide44.xml" Id="R6cd6b1db7cef4057" /><Relationship Type="http://schemas.openxmlformats.org/officeDocument/2006/relationships/slide" Target="/ppt/slides/slide45.xml" Id="Rf446eb0a3b5d4748" /><Relationship Type="http://schemas.openxmlformats.org/officeDocument/2006/relationships/slide" Target="/ppt/slides/slide46.xml" Id="Ref10138023364350" /><Relationship Type="http://schemas.openxmlformats.org/officeDocument/2006/relationships/slide" Target="/ppt/slides/slide47.xml" Id="R99bb8c274da847e7" /><Relationship Type="http://schemas.openxmlformats.org/officeDocument/2006/relationships/slide" Target="/ppt/slides/slide48.xml" Id="R9084e1668f2c4262" /><Relationship Type="http://schemas.openxmlformats.org/officeDocument/2006/relationships/slide" Target="/ppt/slides/slide49.xml" Id="Rc7d1c41d33e74a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0e98719f294d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387ab01e124ffc" /><Relationship Type="http://schemas.openxmlformats.org/officeDocument/2006/relationships/notesMaster" Target="/ppt/notesMasters/notesMaster1.xml" Id="R07c9a6a1cb5844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d0488c129145fe" /><Relationship Type="http://schemas.openxmlformats.org/officeDocument/2006/relationships/notesMaster" Target="/ppt/notesMasters/notesMaster1.xml" Id="R178a468e4fed46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5094e6664349c6" /><Relationship Type="http://schemas.openxmlformats.org/officeDocument/2006/relationships/notesMaster" Target="/ppt/notesMasters/notesMaster1.xml" Id="R6767e392417b4c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e59d3306244eb8" /><Relationship Type="http://schemas.openxmlformats.org/officeDocument/2006/relationships/notesMaster" Target="/ppt/notesMasters/notesMaster1.xml" Id="R7bbf13de244140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86b5434e6545e5" /><Relationship Type="http://schemas.openxmlformats.org/officeDocument/2006/relationships/notesMaster" Target="/ppt/notesMasters/notesMaster1.xml" Id="Rcf2d6dd94ddd45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981503da184ae4" /><Relationship Type="http://schemas.openxmlformats.org/officeDocument/2006/relationships/notesMaster" Target="/ppt/notesMasters/notesMaster1.xml" Id="Rb42f43aac08c45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11164d3cce4662" /><Relationship Type="http://schemas.openxmlformats.org/officeDocument/2006/relationships/notesMaster" Target="/ppt/notesMasters/notesMaster1.xml" Id="R4b1f3f7e125d47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497109bdfe4f6e" /><Relationship Type="http://schemas.openxmlformats.org/officeDocument/2006/relationships/notesMaster" Target="/ppt/notesMasters/notesMaster1.xml" Id="R79a0980daf9443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689c2491354d27" /><Relationship Type="http://schemas.openxmlformats.org/officeDocument/2006/relationships/notesMaster" Target="/ppt/notesMasters/notesMaster1.xml" Id="Ra0489d8161774d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6f144e23024025" /><Relationship Type="http://schemas.openxmlformats.org/officeDocument/2006/relationships/notesMaster" Target="/ppt/notesMasters/notesMaster1.xml" Id="R081c40b868c04e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08cc46538d4416" /><Relationship Type="http://schemas.openxmlformats.org/officeDocument/2006/relationships/notesMaster" Target="/ppt/notesMasters/notesMaster1.xml" Id="Rea8783a4dad448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0930c7382b4121" /><Relationship Type="http://schemas.openxmlformats.org/officeDocument/2006/relationships/notesMaster" Target="/ppt/notesMasters/notesMaster1.xml" Id="R4369d14a313e45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665458138648ce" /><Relationship Type="http://schemas.openxmlformats.org/officeDocument/2006/relationships/notesMaster" Target="/ppt/notesMasters/notesMaster1.xml" Id="Rb6e7ae2c8bf947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3c1315f22844e5" /><Relationship Type="http://schemas.openxmlformats.org/officeDocument/2006/relationships/notesMaster" Target="/ppt/notesMasters/notesMaster1.xml" Id="Rd66ba59586db4d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1d4864138354ca4" /><Relationship Type="http://schemas.openxmlformats.org/officeDocument/2006/relationships/notesMaster" Target="/ppt/notesMasters/notesMaster1.xml" Id="Rd67dd0f945a141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df2d9425df4213" /><Relationship Type="http://schemas.openxmlformats.org/officeDocument/2006/relationships/notesMaster" Target="/ppt/notesMasters/notesMaster1.xml" Id="R903ddbc0fa8f4f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18ca78f60e416a" /><Relationship Type="http://schemas.openxmlformats.org/officeDocument/2006/relationships/notesMaster" Target="/ppt/notesMasters/notesMaster1.xml" Id="R2c6253f4f40043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936c691234427e" /><Relationship Type="http://schemas.openxmlformats.org/officeDocument/2006/relationships/notesMaster" Target="/ppt/notesMasters/notesMaster1.xml" Id="R0fa15cb119ea4bd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faa4ab79d346a6" /><Relationship Type="http://schemas.openxmlformats.org/officeDocument/2006/relationships/notesMaster" Target="/ppt/notesMasters/notesMaster1.xml" Id="R5d1bdcdd0974438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d348ba3160b4304" /><Relationship Type="http://schemas.openxmlformats.org/officeDocument/2006/relationships/notesMaster" Target="/ppt/notesMasters/notesMaster1.xml" Id="R051903b6968146d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e23feee3b634ab3" /><Relationship Type="http://schemas.openxmlformats.org/officeDocument/2006/relationships/notesMaster" Target="/ppt/notesMasters/notesMaster1.xml" Id="R86fbfc5be23c41c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5b0f8eacb284fe5" /><Relationship Type="http://schemas.openxmlformats.org/officeDocument/2006/relationships/notesMaster" Target="/ppt/notesMasters/notesMaster1.xml" Id="Rcf0a96fea12d4da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fd7900cacfa48ed" /><Relationship Type="http://schemas.openxmlformats.org/officeDocument/2006/relationships/notesMaster" Target="/ppt/notesMasters/notesMaster1.xml" Id="Rab693ef2dd924f6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15ac52250e54eb1" /><Relationship Type="http://schemas.openxmlformats.org/officeDocument/2006/relationships/notesMaster" Target="/ppt/notesMasters/notesMaster1.xml" Id="R77936bfaec2f49d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5269d2ef8a344e3" /><Relationship Type="http://schemas.openxmlformats.org/officeDocument/2006/relationships/notesMaster" Target="/ppt/notesMasters/notesMaster1.xml" Id="R6134518328df43f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368d216e7df465b" /><Relationship Type="http://schemas.openxmlformats.org/officeDocument/2006/relationships/notesMaster" Target="/ppt/notesMasters/notesMaster1.xml" Id="Rdae31b85d1df4c1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118f69f39e040ee" /><Relationship Type="http://schemas.openxmlformats.org/officeDocument/2006/relationships/notesMaster" Target="/ppt/notesMasters/notesMaster1.xml" Id="R0f19e1f44cb54d7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8d4e916fc66423e" /><Relationship Type="http://schemas.openxmlformats.org/officeDocument/2006/relationships/notesMaster" Target="/ppt/notesMasters/notesMaster1.xml" Id="R89154db0999f48a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91a9ba959d14b23" /><Relationship Type="http://schemas.openxmlformats.org/officeDocument/2006/relationships/notesMaster" Target="/ppt/notesMasters/notesMaster1.xml" Id="R7121ca6d6a75417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346acff538c474f" /><Relationship Type="http://schemas.openxmlformats.org/officeDocument/2006/relationships/notesMaster" Target="/ppt/notesMasters/notesMaster1.xml" Id="R30dc8570612d473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42c15441529432b" /><Relationship Type="http://schemas.openxmlformats.org/officeDocument/2006/relationships/notesMaster" Target="/ppt/notesMasters/notesMaster1.xml" Id="Ra59547d47c4248d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941048763a2466b" /><Relationship Type="http://schemas.openxmlformats.org/officeDocument/2006/relationships/notesMaster" Target="/ppt/notesMasters/notesMaster1.xml" Id="R4b2b10ccd2ea45d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51066fd11c54b5d" /><Relationship Type="http://schemas.openxmlformats.org/officeDocument/2006/relationships/notesMaster" Target="/ppt/notesMasters/notesMaster1.xml" Id="Rc2c699a2cb5947e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ff7d5b335bf455b" /><Relationship Type="http://schemas.openxmlformats.org/officeDocument/2006/relationships/notesMaster" Target="/ppt/notesMasters/notesMaster1.xml" Id="Rd57b0e28ced041a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26c9ef151b047b9" /><Relationship Type="http://schemas.openxmlformats.org/officeDocument/2006/relationships/notesMaster" Target="/ppt/notesMasters/notesMaster1.xml" Id="Ra4ff5b4202dc46d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237dd1d412b474d" /><Relationship Type="http://schemas.openxmlformats.org/officeDocument/2006/relationships/notesMaster" Target="/ppt/notesMasters/notesMaster1.xml" Id="R29fcd2a80f6142b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dc491b072934a57" /><Relationship Type="http://schemas.openxmlformats.org/officeDocument/2006/relationships/notesMaster" Target="/ppt/notesMasters/notesMaster1.xml" Id="R3998d3bc31d94ab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07f8987ed9c4067" /><Relationship Type="http://schemas.openxmlformats.org/officeDocument/2006/relationships/notesMaster" Target="/ppt/notesMasters/notesMaster1.xml" Id="R5b7f3790f1c74d1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1b7269182d74475" /><Relationship Type="http://schemas.openxmlformats.org/officeDocument/2006/relationships/notesMaster" Target="/ppt/notesMasters/notesMaster1.xml" Id="R46051577edd0412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aab38b05a244536" /><Relationship Type="http://schemas.openxmlformats.org/officeDocument/2006/relationships/notesMaster" Target="/ppt/notesMasters/notesMaster1.xml" Id="Rc65a157ea2e64cd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f372f2ed5244a57" /><Relationship Type="http://schemas.openxmlformats.org/officeDocument/2006/relationships/notesMaster" Target="/ppt/notesMasters/notesMaster1.xml" Id="R15954daab2184d5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af495e4c0f14b1f" /><Relationship Type="http://schemas.openxmlformats.org/officeDocument/2006/relationships/notesMaster" Target="/ppt/notesMasters/notesMaster1.xml" Id="R9ed84377dd6a4f0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f68a584f04345f9" /><Relationship Type="http://schemas.openxmlformats.org/officeDocument/2006/relationships/notesMaster" Target="/ppt/notesMasters/notesMaster1.xml" Id="R2b3f878ce86d484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defc1a3932f4cf2" /><Relationship Type="http://schemas.openxmlformats.org/officeDocument/2006/relationships/notesMaster" Target="/ppt/notesMasters/notesMaster1.xml" Id="R35716e414f4940a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47e1e850b65404e" /><Relationship Type="http://schemas.openxmlformats.org/officeDocument/2006/relationships/notesMaster" Target="/ppt/notesMasters/notesMaster1.xml" Id="Rc89e52a19cf34cb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854869bf1034223" /><Relationship Type="http://schemas.openxmlformats.org/officeDocument/2006/relationships/notesMaster" Target="/ppt/notesMasters/notesMaster1.xml" Id="Ra5df472d9f1644b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6fda5f7432a4a52" /><Relationship Type="http://schemas.openxmlformats.org/officeDocument/2006/relationships/notesMaster" Target="/ppt/notesMasters/notesMaster1.xml" Id="Rba5f98c96e8f442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2f1b4d7be3043d0" /><Relationship Type="http://schemas.openxmlformats.org/officeDocument/2006/relationships/notesMaster" Target="/ppt/notesMasters/notesMaster1.xml" Id="Rccf16a41189e493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afe21a0696e4a5e" /><Relationship Type="http://schemas.openxmlformats.org/officeDocument/2006/relationships/notesMaster" Target="/ppt/notesMasters/notesMaster1.xml" Id="Re18f3024f3894b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Chapter opener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What can a moving object do to other things?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move, hit, change</a:t>
            </a:r>
          </a:p>
          <a:p xmlns:a="http://schemas.openxmlformats.org/drawingml/2006/main">
            <a:r>
              <a:t>REVEAL 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Open the Big Question.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Big Question discussion</a:t>
            </a:r>
          </a:p>
          <a:p xmlns:a="http://schemas.openxmlformats.org/drawingml/2006/main">
            <a:r>
              <a:t>TIME 2 min; Session 2 re-entry uses 1 min</a:t>
            </a:r>
          </a:p>
          <a:p xmlns:a="http://schemas.openxmlformats.org/drawingml/2006/main">
            <a:r>
              <a:t>SESSION 1 and 2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1</a:t>
            </a:r>
          </a:p>
          <a:p xmlns:a="http://schemas.openxmlformats.org/drawingml/2006/main">
            <a:r>
              <a:t>READER PAGE p. 7</a:t>
            </a:r>
          </a:p>
          <a:p xmlns:a="http://schemas.openxmlformats.org/drawingml/2006/main">
            <a:r>
              <a:t>SAY / ASK What change have you seen a moving object cause?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a named moving object and change</a:t>
            </a:r>
          </a:p>
          <a:p xmlns:a="http://schemas.openxmlformats.org/drawingml/2006/main">
            <a:r>
              <a:t>REVEAL Do not answer the Big Question yet.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Record first thinking.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Guided Notes write</a:t>
            </a:r>
          </a:p>
          <a:p xmlns:a="http://schemas.openxmlformats.org/drawingml/2006/main">
            <a:r>
              <a:t>TIME 2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1</a:t>
            </a:r>
          </a:p>
          <a:p xmlns:a="http://schemas.openxmlformats.org/drawingml/2006/main">
            <a:r>
              <a:t>READER PAGE p. 7</a:t>
            </a:r>
          </a:p>
          <a:p xmlns:a="http://schemas.openxmlformats.org/drawingml/2006/main">
            <a:r>
              <a:t>SAY / ASK Write your first idea.</a:t>
            </a:r>
          </a:p>
          <a:p xmlns:a="http://schemas.openxmlformats.org/drawingml/2006/main">
            <a:r>
              <a:t>DO Wait quietly while students write.</a:t>
            </a:r>
          </a:p>
          <a:p xmlns:a="http://schemas.openxmlformats.org/drawingml/2006/main">
            <a:r>
              <a:t>LISTEN FOR a moving object causing any observable change</a:t>
            </a:r>
          </a:p>
          <a:p xmlns:a="http://schemas.openxmlformats.org/drawingml/2006/main">
            <a:r>
              <a:t>REVEAL No sample answer yet.</a:t>
            </a:r>
          </a:p>
          <a:p xmlns:a="http://schemas.openxmlformats.org/drawingml/2006/main">
            <a:r>
              <a:t>MISCONCEPTION Accept a reasonable first idea without correcting it.</a:t>
            </a:r>
          </a:p>
          <a:p xmlns:a="http://schemas.openxmlformats.org/drawingml/2006/main">
            <a:r>
              <a:t>NEXT Observe the marble collision.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Demonstration observe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TG Lesson 3</a:t>
            </a:r>
          </a:p>
          <a:p xmlns:a="http://schemas.openxmlformats.org/drawingml/2006/main">
            <a:r>
              <a:t>SAY / ASK What does each marble look like right now?</a:t>
            </a:r>
          </a:p>
          <a:p xmlns:a="http://schemas.openxmlformats.org/drawingml/2006/main">
            <a:r>
              <a:t>DO Set one target marble still and place the rolling marble several inches away.</a:t>
            </a:r>
          </a:p>
          <a:p xmlns:a="http://schemas.openxmlformats.org/drawingml/2006/main">
            <a:r>
              <a:t>LISTEN FOR still, ready to roll, separated</a:t>
            </a:r>
          </a:p>
          <a:p xmlns:a="http://schemas.openxmlformats.org/drawingml/2006/main">
            <a:r>
              <a:t>REVEAL Nothing yet.</a:t>
            </a:r>
          </a:p>
          <a:p xmlns:a="http://schemas.openxmlformats.org/drawingml/2006/main">
            <a:r>
              <a:t>MISCONCEPTION A still photograph alone does not prove motion; the live roll follows.</a:t>
            </a:r>
          </a:p>
          <a:p xmlns:a="http://schemas.openxmlformats.org/drawingml/2006/main">
            <a:r>
              <a:t>NEXT Predict what will happen.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two marbles and a clear tabletop lane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Prediction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What will happen to the still marble?</a:t>
            </a:r>
          </a:p>
          <a:p xmlns:a="http://schemas.openxmlformats.org/drawingml/2006/main">
            <a:r>
              <a:t>DO Give five seconds of quiet thinking, then partner share.</a:t>
            </a:r>
          </a:p>
          <a:p xmlns:a="http://schemas.openxmlformats.org/drawingml/2006/main">
            <a:r>
              <a:t>LISTEN FOR the target may start moving</a:t>
            </a:r>
          </a:p>
          <a:p xmlns:a="http://schemas.openxmlformats.org/drawingml/2006/main">
            <a:r>
              <a:t>REVEAL Do not confirm before the roll.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Run the live demonstration.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two marbles and lane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Media support or live demonstration</a:t>
            </a:r>
          </a:p>
          <a:p xmlns:a="http://schemas.openxmlformats.org/drawingml/2006/main">
            <a:r>
              <a:t>TIME 0 min in core route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Watch the target marble. What changes?</a:t>
            </a:r>
          </a:p>
          <a:p xmlns:a="http://schemas.openxmlformats.org/drawingml/2006/main">
            <a:r>
              <a:t>DO Use only if an approved replay binary exists. The live roll remains the default.</a:t>
            </a:r>
          </a:p>
          <a:p xmlns:a="http://schemas.openxmlformats.org/drawingml/2006/main">
            <a:r>
              <a:t>LISTEN FOR the target marble starts moving</a:t>
            </a:r>
          </a:p>
          <a:p xmlns:a="http://schemas.openxmlformats.org/drawingml/2006/main">
            <a:r>
              <a:t>REVEAL No answer overlay.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Compare before and after.</a:t>
            </a:r>
          </a:p>
          <a:p xmlns:a="http://schemas.openxmlformats.org/drawingml/2006/main">
            <a:r>
              <a:t>IF SHORT Skip directly to Slide 7.</a:t>
            </a:r>
          </a:p>
          <a:p xmlns:a="http://schemas.openxmlformats.org/drawingml/2006/main">
            <a:r>
              <a:t>MATERIALS approved media binary if available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Demonstration observe</a:t>
            </a:r>
          </a:p>
          <a:p xmlns:a="http://schemas.openxmlformats.org/drawingml/2006/main">
            <a:r>
              <a:t>TIME 2.5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Name the change you saw.</a:t>
            </a:r>
          </a:p>
          <a:p xmlns:a="http://schemas.openxmlformats.org/drawingml/2006/main">
            <a:r>
              <a:t>DO Roll one marble into the target. Repeat once only if students missed the target's movement.</a:t>
            </a:r>
          </a:p>
          <a:p xmlns:a="http://schemas.openxmlformats.org/drawingml/2006/main">
            <a:r>
              <a:t>LISTEN FOR the target marble changed from still to moving</a:t>
            </a:r>
          </a:p>
          <a:p xmlns:a="http://schemas.openxmlformats.org/drawingml/2006/main">
            <a:r>
              <a:t>REVEAL The target marble changed from still to moving.</a:t>
            </a:r>
          </a:p>
          <a:p xmlns:a="http://schemas.openxmlformats.org/drawingml/2006/main">
            <a:r>
              <a:t>MISCONCEPTION Do not discuss energy transfer or the first marble slowing.</a:t>
            </a:r>
          </a:p>
          <a:p xmlns:a="http://schemas.openxmlformats.org/drawingml/2006/main">
            <a:r>
              <a:t>NEXT Use the change as evidence.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two marbles and lane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Evidence explanation</a:t>
            </a:r>
          </a:p>
          <a:p xmlns:a="http://schemas.openxmlformats.org/drawingml/2006/main">
            <a:r>
              <a:t>TIME 1.5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p. 9</a:t>
            </a:r>
          </a:p>
          <a:p xmlns:a="http://schemas.openxmlformats.org/drawingml/2006/main">
            <a:r>
              <a:t>SAY / ASK How do we know the moving marble had energy if we cannot see energy?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we saw the target change</a:t>
            </a:r>
          </a:p>
          <a:p xmlns:a="http://schemas.openxmlformats.org/drawingml/2006/main">
            <a:r>
              <a:t>REVEAL Trace moving object, change, evidence.</a:t>
            </a:r>
          </a:p>
          <a:p xmlns:a="http://schemas.openxmlformats.org/drawingml/2006/main">
            <a:r>
              <a:t>MISCONCEPTION Say evidence, not proof. Energy is not a visible substance.</a:t>
            </a:r>
          </a:p>
          <a:p xmlns:a="http://schemas.openxmlformats.org/drawingml/2006/main">
            <a:r>
              <a:t>NEXT Define motion.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Vocabulary teach</a:t>
            </a:r>
          </a:p>
          <a:p xmlns:a="http://schemas.openxmlformats.org/drawingml/2006/main">
            <a:r>
              <a:t>TIME 2.5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V1</a:t>
            </a:r>
          </a:p>
          <a:p xmlns:a="http://schemas.openxmlformats.org/drawingml/2006/main">
            <a:r>
              <a:t>READER PAGE p. 7</a:t>
            </a:r>
          </a:p>
          <a:p xmlns:a="http://schemas.openxmlformats.org/drawingml/2006/main">
            <a:r>
              <a:t>SAY / ASK What changes when an object is in motion?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its position</a:t>
            </a:r>
          </a:p>
          <a:p xmlns:a="http://schemas.openxmlformats.org/drawingml/2006/main">
            <a:r>
              <a:t>REVEAL Read the exact definition together.</a:t>
            </a:r>
          </a:p>
          <a:p xmlns:a="http://schemas.openxmlformats.org/drawingml/2006/main">
            <a:r>
              <a:t>MISCONCEPTION Motion is the process; it is not the same as speed.</a:t>
            </a:r>
          </a:p>
          <a:p xmlns:a="http://schemas.openxmlformats.org/drawingml/2006/main">
            <a:r>
              <a:t>NEXT Record V1.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Guided Notes write</a:t>
            </a:r>
          </a:p>
          <a:p xmlns:a="http://schemas.openxmlformats.org/drawingml/2006/main">
            <a:r>
              <a:t>TIME 1.5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1, V1</a:t>
            </a:r>
          </a:p>
          <a:p xmlns:a="http://schemas.openxmlformats.org/drawingml/2006/main">
            <a:r>
              <a:t>READER PAGE p. 7</a:t>
            </a:r>
          </a:p>
          <a:p xmlns:a="http://schemas.openxmlformats.org/drawingml/2006/main">
            <a:r>
              <a:t>SAY / ASK Fill in the blank.</a:t>
            </a:r>
          </a:p>
          <a:p xmlns:a="http://schemas.openxmlformats.org/drawingml/2006/main">
            <a:r>
              <a:t>DO Wait for students to write.</a:t>
            </a:r>
          </a:p>
          <a:p xmlns:a="http://schemas.openxmlformats.org/drawingml/2006/main">
            <a:r>
              <a:t>LISTEN FOR position</a:t>
            </a:r>
          </a:p>
          <a:p xmlns:a="http://schemas.openxmlformats.org/drawingml/2006/main">
            <a:r>
              <a:t>REVEAL Do not say or show the answer until Slide 11.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Check V1.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Guided Notes check</a:t>
            </a:r>
          </a:p>
          <a:p xmlns:a="http://schemas.openxmlformats.org/drawingml/2006/main">
            <a:r>
              <a:t>TIME 0.5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1, V1</a:t>
            </a:r>
          </a:p>
          <a:p xmlns:a="http://schemas.openxmlformats.org/drawingml/2006/main">
            <a:r>
              <a:t>READER PAGE p. 7</a:t>
            </a:r>
          </a:p>
          <a:p xmlns:a="http://schemas.openxmlformats.org/drawingml/2006/main">
            <a:r>
              <a:t>SAY / ASK 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</a:t>
            </a:r>
          </a:p>
          <a:p xmlns:a="http://schemas.openxmlformats.org/drawingml/2006/main">
            <a:r>
              <a:t>REVEAL position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Read about how motion begins.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Reader bridge</a:t>
            </a:r>
          </a:p>
          <a:p xmlns:a="http://schemas.openxmlformats.org/drawingml/2006/main">
            <a:r>
              <a:t>TIME 2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Reader p. 8</a:t>
            </a:r>
          </a:p>
          <a:p xmlns:a="http://schemas.openxmlformats.org/drawingml/2006/main">
            <a:r>
              <a:t>READER PAGE p. 8</a:t>
            </a:r>
          </a:p>
          <a:p xmlns:a="http://schemas.openxmlformats.org/drawingml/2006/main">
            <a:r>
              <a:t>SAY / ASK How did the person and the ball begin to move?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the person moved muscles; a kick put the ball into motion</a:t>
            </a:r>
          </a:p>
          <a:p xmlns:a="http://schemas.openxmlformats.org/drawingml/2006/main">
            <a:r>
              <a:t>REVEAL Keep the notes words hidden.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Record N1.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Guided Notes write</a:t>
            </a:r>
          </a:p>
          <a:p xmlns:a="http://schemas.openxmlformats.org/drawingml/2006/main">
            <a:r>
              <a:t>TIME 2.5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1, N1</a:t>
            </a:r>
          </a:p>
          <a:p xmlns:a="http://schemas.openxmlformats.org/drawingml/2006/main">
            <a:r>
              <a:t>READER PAGE p. 8</a:t>
            </a:r>
          </a:p>
          <a:p xmlns:a="http://schemas.openxmlformats.org/drawingml/2006/main">
            <a:r>
              <a:t>SAY / ASK Fill both blanks in order.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change; outside</a:t>
            </a:r>
          </a:p>
          <a:p xmlns:a="http://schemas.openxmlformats.org/drawingml/2006/main">
            <a:r>
              <a:t>REVEAL Keep both answers hidden until Slide 14.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Check N1.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Guided Notes check</a:t>
            </a:r>
          </a:p>
          <a:p xmlns:a="http://schemas.openxmlformats.org/drawingml/2006/main">
            <a:r>
              <a:t>TIME 0.5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1, N1</a:t>
            </a:r>
          </a:p>
          <a:p xmlns:a="http://schemas.openxmlformats.org/drawingml/2006/main">
            <a:r>
              <a:t>READER PAGE p. 8</a:t>
            </a:r>
          </a:p>
          <a:p xmlns:a="http://schemas.openxmlformats.org/drawingml/2006/main">
            <a:r>
              <a:t>SAY / ASK 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</a:t>
            </a:r>
          </a:p>
          <a:p xmlns:a="http://schemas.openxmlformats.org/drawingml/2006/main">
            <a:r>
              <a:t>REVEAL change; outside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Teach energy of motion.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Reader application</a:t>
            </a:r>
          </a:p>
          <a:p xmlns:a="http://schemas.openxmlformats.org/drawingml/2006/main">
            <a:r>
              <a:t>TIME 0 min in core route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Reader pp. 8–9</a:t>
            </a:r>
          </a:p>
          <a:p xmlns:a="http://schemas.openxmlformats.org/drawingml/2006/main">
            <a:r>
              <a:t>READER PAGE pp. 8–9</a:t>
            </a:r>
          </a:p>
          <a:p xmlns:a="http://schemas.openxmlformats.org/drawingml/2006/main">
            <a:r>
              <a:t>SAY / ASK What changed because the ball was moving?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the net moved or bent</a:t>
            </a:r>
          </a:p>
          <a:p xmlns:a="http://schemas.openxmlformats.org/drawingml/2006/main">
            <a:r>
              <a:t>REVEAL Moving ball, net changes.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Teach V2.</a:t>
            </a:r>
          </a:p>
          <a:p xmlns:a="http://schemas.openxmlformats.org/drawingml/2006/main">
            <a:r>
              <a:t>IF SHORT Skip directly to Slide 16.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Vocabulary teach</a:t>
            </a:r>
          </a:p>
          <a:p xmlns:a="http://schemas.openxmlformats.org/drawingml/2006/main">
            <a:r>
              <a:t>TIME 2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2, V2</a:t>
            </a:r>
          </a:p>
          <a:p xmlns:a="http://schemas.openxmlformats.org/drawingml/2006/main">
            <a:r>
              <a:t>READER PAGE p. 9</a:t>
            </a:r>
          </a:p>
          <a:p xmlns:a="http://schemas.openxmlformats.org/drawingml/2006/main">
            <a:r>
              <a:t>SAY / ASK Does a rolling ball have energy? How do you know?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yes; it can cause a change</a:t>
            </a:r>
          </a:p>
          <a:p xmlns:a="http://schemas.openxmlformats.org/drawingml/2006/main">
            <a:r>
              <a:t>REVEAL Read the exact definition together.</a:t>
            </a:r>
          </a:p>
          <a:p xmlns:a="http://schemas.openxmlformats.org/drawingml/2006/main">
            <a:r>
              <a:t>MISCONCEPTION Energy of motion is not speed.</a:t>
            </a:r>
          </a:p>
          <a:p xmlns:a="http://schemas.openxmlformats.org/drawingml/2006/main">
            <a:r>
              <a:t>NEXT Record V2.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Guided Notes write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2, V2</a:t>
            </a:r>
          </a:p>
          <a:p xmlns:a="http://schemas.openxmlformats.org/drawingml/2006/main">
            <a:r>
              <a:t>READER PAGE p. 9</a:t>
            </a:r>
          </a:p>
          <a:p xmlns:a="http://schemas.openxmlformats.org/drawingml/2006/main">
            <a:r>
              <a:t>SAY / ASK Fill in the blank.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moving</a:t>
            </a:r>
          </a:p>
          <a:p xmlns:a="http://schemas.openxmlformats.org/drawingml/2006/main">
            <a:r>
              <a:t>REVEAL Keep moving hidden until Slide 18.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Check V2.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Guided Notes check</a:t>
            </a:r>
          </a:p>
          <a:p xmlns:a="http://schemas.openxmlformats.org/drawingml/2006/main">
            <a:r>
              <a:t>TIME 0.5 min</a:t>
            </a:r>
          </a:p>
          <a:p xmlns:a="http://schemas.openxmlformats.org/drawingml/2006/main">
            <a:r>
              <a:t>SESSION 1 — Wednesday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2, V2</a:t>
            </a:r>
          </a:p>
          <a:p xmlns:a="http://schemas.openxmlformats.org/drawingml/2006/main">
            <a:r>
              <a:t>READER PAGE p. 9</a:t>
            </a:r>
          </a:p>
          <a:p xmlns:a="http://schemas.openxmlformats.org/drawingml/2006/main">
            <a:r>
              <a:t>SAY / ASK 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</a:t>
            </a:r>
          </a:p>
          <a:p xmlns:a="http://schemas.openxmlformats.org/drawingml/2006/main">
            <a:r>
              <a:t>REVEAL moving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End Session 1. Session 2 reopens on Slide 2, then continues to Slide 19.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Reader model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2 — Thursday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Reader p. 9</a:t>
            </a:r>
          </a:p>
          <a:p xmlns:a="http://schemas.openxmlformats.org/drawingml/2006/main">
            <a:r>
              <a:t>READER PAGE p. 9</a:t>
            </a:r>
          </a:p>
          <a:p xmlns:a="http://schemas.openxmlformats.org/drawingml/2006/main">
            <a:r>
              <a:t>SAY / ASK Trace moving object, change, evidence.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a change is evidence</a:t>
            </a:r>
          </a:p>
          <a:p xmlns:a="http://schemas.openxmlformats.org/drawingml/2006/main">
            <a:r>
              <a:t>REVEAL The full model is visible because the next blank is motion, not a model node.</a:t>
            </a:r>
          </a:p>
          <a:p xmlns:a="http://schemas.openxmlformats.org/drawingml/2006/main">
            <a:r>
              <a:t>MISCONCEPTION Use evidence, not proof.</a:t>
            </a:r>
          </a:p>
          <a:p xmlns:a="http://schemas.openxmlformats.org/drawingml/2006/main">
            <a:r>
              <a:t>NEXT Record N2.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Guided Notes write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2 — Thursday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2, N2</a:t>
            </a:r>
          </a:p>
          <a:p xmlns:a="http://schemas.openxmlformats.org/drawingml/2006/main">
            <a:r>
              <a:t>READER PAGE p. 9</a:t>
            </a:r>
          </a:p>
          <a:p xmlns:a="http://schemas.openxmlformats.org/drawingml/2006/main">
            <a:r>
              <a:t>SAY / ASK Fill in the blank.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motion</a:t>
            </a:r>
          </a:p>
          <a:p xmlns:a="http://schemas.openxmlformats.org/drawingml/2006/main">
            <a:r>
              <a:t>REVEAL Keep motion hidden until Slide 22.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Recall and draw the marble change.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Guided Notes draw and observe</a:t>
            </a:r>
          </a:p>
          <a:p xmlns:a="http://schemas.openxmlformats.org/drawingml/2006/main">
            <a:r>
              <a:t>TIME 2 min</a:t>
            </a:r>
          </a:p>
          <a:p xmlns:a="http://schemas.openxmlformats.org/drawingml/2006/main">
            <a:r>
              <a:t>SESSION 2 — Thursday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2, N2 OBSERVE</a:t>
            </a:r>
          </a:p>
          <a:p xmlns:a="http://schemas.openxmlformats.org/drawingml/2006/main">
            <a:r>
              <a:t>READER PAGE p. 9</a:t>
            </a:r>
          </a:p>
          <a:p xmlns:a="http://schemas.openxmlformats.org/drawingml/2006/main">
            <a:r>
              <a:t>SAY / ASK Draw the target marble before and after. What changed?</a:t>
            </a:r>
          </a:p>
          <a:p xmlns:a="http://schemas.openxmlformats.org/drawingml/2006/main">
            <a:r>
              <a:t>DO Use one 30-second reminder roll only if students do not remember.</a:t>
            </a:r>
          </a:p>
          <a:p xmlns:a="http://schemas.openxmlformats.org/drawingml/2006/main">
            <a:r>
              <a:t>LISTEN FOR the target was still, then moved</a:t>
            </a:r>
          </a:p>
          <a:p xmlns:a="http://schemas.openxmlformats.org/drawingml/2006/main">
            <a:r>
              <a:t>REVEAL Do not draw the sample for students.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Check N2.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two marbles only if a reminder roll is needed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Guided Notes check</a:t>
            </a:r>
          </a:p>
          <a:p xmlns:a="http://schemas.openxmlformats.org/drawingml/2006/main">
            <a:r>
              <a:t>TIME 0.5 min</a:t>
            </a:r>
          </a:p>
          <a:p xmlns:a="http://schemas.openxmlformats.org/drawingml/2006/main">
            <a:r>
              <a:t>SESSION 2 — Thursday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2, N2</a:t>
            </a:r>
          </a:p>
          <a:p xmlns:a="http://schemas.openxmlformats.org/drawingml/2006/main">
            <a:r>
              <a:t>READER PAGE p. 9</a:t>
            </a:r>
          </a:p>
          <a:p xmlns:a="http://schemas.openxmlformats.org/drawingml/2006/main">
            <a:r>
              <a:t>SAY / ASK 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</a:t>
            </a:r>
          </a:p>
          <a:p xmlns:a="http://schemas.openxmlformats.org/drawingml/2006/main">
            <a:r>
              <a:t>REVEAL motion; sample: The target marble changed from sitting still to moving.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Read the three useful examples.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Reader examples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2 — Thursday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Reader pp. 10–12</a:t>
            </a:r>
          </a:p>
          <a:p xmlns:a="http://schemas.openxmlformats.org/drawingml/2006/main">
            <a:r>
              <a:t>READER PAGE pp. 10–12</a:t>
            </a:r>
          </a:p>
          <a:p xmlns:a="http://schemas.openxmlformats.org/drawingml/2006/main">
            <a:r>
              <a:t>SAY / ASK What change does each moving thing cause?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hammer drives nail; pendulum turns gears; wind spins blades</a:t>
            </a:r>
          </a:p>
          <a:p xmlns:a="http://schemas.openxmlformats.org/drawingml/2006/main">
            <a:r>
              <a:t>REVEAL Keep table wording for the next slides.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Record N3.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Guided Notes table</a:t>
            </a:r>
          </a:p>
          <a:p xmlns:a="http://schemas.openxmlformats.org/drawingml/2006/main">
            <a:r>
              <a:t>TIME 1.5 min</a:t>
            </a:r>
          </a:p>
          <a:p xmlns:a="http://schemas.openxmlformats.org/drawingml/2006/main">
            <a:r>
              <a:t>SESSION 2 — Thursday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3, N3</a:t>
            </a:r>
          </a:p>
          <a:p xmlns:a="http://schemas.openxmlformats.org/drawingml/2006/main">
            <a:r>
              <a:t>READER PAGE pp. 10–12</a:t>
            </a:r>
          </a:p>
          <a:p xmlns:a="http://schemas.openxmlformats.org/drawingml/2006/main">
            <a:r>
              <a:t>SAY / ASK Write or draw the change each moving object causes.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source-faithful useful change</a:t>
            </a:r>
          </a:p>
          <a:p xmlns:a="http://schemas.openxmlformats.org/drawingml/2006/main">
            <a:r>
              <a:t>REVEAL No samples until Slide 25.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Check N3.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Guided Notes check</a:t>
            </a:r>
          </a:p>
          <a:p xmlns:a="http://schemas.openxmlformats.org/drawingml/2006/main">
            <a:r>
              <a:t>TIME 0.5 min</a:t>
            </a:r>
          </a:p>
          <a:p xmlns:a="http://schemas.openxmlformats.org/drawingml/2006/main">
            <a:r>
              <a:t>SESSION 2 — Thursday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3, N3</a:t>
            </a:r>
          </a:p>
          <a:p xmlns:a="http://schemas.openxmlformats.org/drawingml/2006/main">
            <a:r>
              <a:t>READER PAGE pp. 10–12</a:t>
            </a:r>
          </a:p>
          <a:p xmlns:a="http://schemas.openxmlformats.org/drawingml/2006/main">
            <a:r>
              <a:t>SAY / ASK 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</a:t>
            </a:r>
          </a:p>
          <a:p xmlns:a="http://schemas.openxmlformats.org/drawingml/2006/main">
            <a:r>
              <a:t>REVEAL hammer drives a nail into the wood; pendulum turns the clock gears; wind spins the turbine blades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Check Your Thinking.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Guided Notes synthesis write</a:t>
            </a:r>
          </a:p>
          <a:p xmlns:a="http://schemas.openxmlformats.org/drawingml/2006/main">
            <a:r>
              <a:t>TIME 1.5 min</a:t>
            </a:r>
          </a:p>
          <a:p xmlns:a="http://schemas.openxmlformats.org/drawingml/2006/main">
            <a:r>
              <a:t>SESSION 2 — Thursday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3, CHECK</a:t>
            </a:r>
          </a:p>
          <a:p xmlns:a="http://schemas.openxmlformats.org/drawingml/2006/main">
            <a:r>
              <a:t>READER PAGE pp. 7–12</a:t>
            </a:r>
          </a:p>
          <a:p xmlns:a="http://schemas.openxmlformats.org/drawingml/2006/main">
            <a:r>
              <a:t>SAY / ASK Complete the sentence starter.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the moving object causes a change</a:t>
            </a:r>
          </a:p>
          <a:p xmlns:a="http://schemas.openxmlformats.org/drawingml/2006/main">
            <a:r>
              <a:t>REVEAL No sample response until Slide 27.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Reveal a sample.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Guided Notes sample reveal</a:t>
            </a:r>
          </a:p>
          <a:p xmlns:a="http://schemas.openxmlformats.org/drawingml/2006/main">
            <a:r>
              <a:t>TIME 0.5 min</a:t>
            </a:r>
          </a:p>
          <a:p xmlns:a="http://schemas.openxmlformats.org/drawingml/2006/main">
            <a:r>
              <a:t>SESSION 2 — Thursday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3, CHECK</a:t>
            </a:r>
          </a:p>
          <a:p xmlns:a="http://schemas.openxmlformats.org/drawingml/2006/main">
            <a:r>
              <a:t>READER PAGE pp. 7–12</a:t>
            </a:r>
          </a:p>
          <a:p xmlns:a="http://schemas.openxmlformats.org/drawingml/2006/main">
            <a:r>
              <a:t>SAY / ASK 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</a:t>
            </a:r>
          </a:p>
          <a:p xmlns:a="http://schemas.openxmlformats.org/drawingml/2006/main">
            <a:r>
              <a:t>REVEAL Sample response; accept any response using change as evidence.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Return to the Big Question.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Optional application</a:t>
            </a:r>
          </a:p>
          <a:p xmlns:a="http://schemas.openxmlformats.org/drawingml/2006/main">
            <a:r>
              <a:t>TIME 2 min</a:t>
            </a:r>
          </a:p>
          <a:p xmlns:a="http://schemas.openxmlformats.org/drawingml/2006/main">
            <a:r>
              <a:t>SESSION 2 — Thursday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Which example shows a moving object causing a change?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the moving marble</a:t>
            </a:r>
          </a:p>
          <a:p xmlns:a="http://schemas.openxmlformats.org/drawingml/2006/main">
            <a:r>
              <a:t>REVEAL The moving marble causes a change.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Optional observation/inference check or BQ return.</a:t>
            </a:r>
          </a:p>
          <a:p xmlns:a="http://schemas.openxmlformats.org/drawingml/2006/main">
            <a:r>
              <a:t>IF SHORT Skip to Slide 30.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Optional reasoning support</a:t>
            </a:r>
          </a:p>
          <a:p xmlns:a="http://schemas.openxmlformats.org/drawingml/2006/main">
            <a:r>
              <a:t>TIME 0 min in core route</a:t>
            </a:r>
          </a:p>
          <a:p xmlns:a="http://schemas.openxmlformats.org/drawingml/2006/main">
            <a:r>
              <a:t>SESSION 2 — Thursday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Which statement tells what we saw? Which tells what we conclude?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target moved is observation; moving marble had energy is inference</a:t>
            </a:r>
          </a:p>
          <a:p xmlns:a="http://schemas.openxmlformats.org/drawingml/2006/main">
            <a:r>
              <a:t>REVEAL </a:t>
            </a:r>
          </a:p>
          <a:p xmlns:a="http://schemas.openxmlformats.org/drawingml/2006/main">
            <a:r>
              <a:t>MISCONCEPTION Do not say we saw energy.</a:t>
            </a:r>
          </a:p>
          <a:p xmlns:a="http://schemas.openxmlformats.org/drawingml/2006/main">
            <a:r>
              <a:t>NEXT Answer the Big Question.</a:t>
            </a:r>
          </a:p>
          <a:p xmlns:a="http://schemas.openxmlformats.org/drawingml/2006/main">
            <a:r>
              <a:t>IF SHORT Skip to Slide 30.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Final Guided Notes synthesis</a:t>
            </a:r>
          </a:p>
          <a:p xmlns:a="http://schemas.openxmlformats.org/drawingml/2006/main">
            <a:r>
              <a:t>TIME 1.5 min</a:t>
            </a:r>
          </a:p>
          <a:p xmlns:a="http://schemas.openxmlformats.org/drawingml/2006/main">
            <a:r>
              <a:t>SESSION 2 — Thursday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Guided Notes p. 3, BQ return</a:t>
            </a:r>
          </a:p>
          <a:p xmlns:a="http://schemas.openxmlformats.org/drawingml/2006/main">
            <a:r>
              <a:t>READER PAGE pp. 7–12</a:t>
            </a:r>
          </a:p>
          <a:p xmlns:a="http://schemas.openxmlformats.org/drawingml/2006/main">
            <a:r>
              <a:t>SAY / ASK Answer the Big Question now.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moving object has energy and causes a change</a:t>
            </a:r>
          </a:p>
          <a:p xmlns:a="http://schemas.openxmlformats.org/drawingml/2006/main">
            <a:r>
              <a:t>REVEAL No model answer on this slide.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Transition to the Chapter 2 quiz.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Assessment transition</a:t>
            </a:r>
          </a:p>
          <a:p xmlns:a="http://schemas.openxmlformats.org/drawingml/2006/main">
            <a:r>
              <a:t>TIME 12 min including handout and collection</a:t>
            </a:r>
          </a:p>
          <a:p xmlns:a="http://schemas.openxmlformats.org/drawingml/2006/main">
            <a:r>
              <a:t>SESSION 2 — Thursday</a:t>
            </a:r>
          </a:p>
          <a:p xmlns:a="http://schemas.openxmlformats.org/drawingml/2006/main">
            <a:r>
              <a:t>PLAN REQUIRED</a:t>
            </a:r>
          </a:p>
          <a:p xmlns:a="http://schemas.openxmlformats.org/drawingml/2006/main">
            <a:r>
              <a:t>STUDENT RESOURCE Chapter 2 quiz, 8 questions, 12 points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Read the directions and answer independently.</a:t>
            </a:r>
          </a:p>
          <a:p xmlns:a="http://schemas.openxmlformats.org/drawingml/2006/main">
            <a:r>
              <a:t>DO Circle open note or closed note on each paper before distribution. Protect the full 12 minutes.</a:t>
            </a:r>
          </a:p>
          <a:p xmlns:a="http://schemas.openxmlformats.org/drawingml/2006/main">
            <a:r>
              <a:t>LISTEN FOR quiet questions about directions only</a:t>
            </a:r>
          </a:p>
          <a:p xmlns:a="http://schemas.openxmlformats.org/drawingml/2006/main">
            <a:r>
              <a:t>REVEAL No answers or definitions.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Collect quizzes. Optional review or extension may follow later.</a:t>
            </a:r>
          </a:p>
          <a:p xmlns:a="http://schemas.openxmlformats.org/drawingml/2006/main">
            <a:r>
              <a:t>IF SHORT Continue to the next required slide.</a:t>
            </a:r>
          </a:p>
          <a:p xmlns:a="http://schemas.openxmlformats.org/drawingml/2006/main">
            <a:r>
              <a:t>MATERIALS printed Chapter 2 quizzes and pencils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Review 1 question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Optional review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Students vote A, B, C, or D.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energy of motion</a:t>
            </a:r>
          </a:p>
          <a:p xmlns:a="http://schemas.openxmlformats.org/drawingml/2006/main">
            <a:r>
              <a:t>REVEAL Do not reveal yet.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Reveal the answer.</a:t>
            </a:r>
          </a:p>
          <a:p xmlns:a="http://schemas.openxmlformats.org/drawingml/2006/main">
            <a:r>
              <a:t>IF SHORT Skip optional review.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Review 1 answer</a:t>
            </a:r>
          </a:p>
          <a:p xmlns:a="http://schemas.openxmlformats.org/drawingml/2006/main">
            <a:r>
              <a:t>TIME 0.5 min</a:t>
            </a:r>
          </a:p>
          <a:p xmlns:a="http://schemas.openxmlformats.org/drawingml/2006/main">
            <a:r>
              <a:t>SESSION Optional review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</a:t>
            </a:r>
          </a:p>
          <a:p xmlns:a="http://schemas.openxmlformats.org/drawingml/2006/main">
            <a:r>
              <a:t>REVEAL B: energy of motion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Continue to the next question.</a:t>
            </a:r>
          </a:p>
          <a:p xmlns:a="http://schemas.openxmlformats.org/drawingml/2006/main">
            <a:r>
              <a:t>IF SHORT Skip optional review.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Review 2 question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Optional review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Students vote A, B, C, or D.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The still marble starts to move</a:t>
            </a:r>
          </a:p>
          <a:p xmlns:a="http://schemas.openxmlformats.org/drawingml/2006/main">
            <a:r>
              <a:t>REVEAL Do not reveal yet.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Reveal the answer.</a:t>
            </a:r>
          </a:p>
          <a:p xmlns:a="http://schemas.openxmlformats.org/drawingml/2006/main">
            <a:r>
              <a:t>IF SHORT Skip optional review.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Review 2 answer</a:t>
            </a:r>
          </a:p>
          <a:p xmlns:a="http://schemas.openxmlformats.org/drawingml/2006/main">
            <a:r>
              <a:t>TIME 0.5 min</a:t>
            </a:r>
          </a:p>
          <a:p xmlns:a="http://schemas.openxmlformats.org/drawingml/2006/main">
            <a:r>
              <a:t>SESSION Optional review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</a:t>
            </a:r>
          </a:p>
          <a:p xmlns:a="http://schemas.openxmlformats.org/drawingml/2006/main">
            <a:r>
              <a:t>REVEAL B: The still marble starts to move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Continue to the next question.</a:t>
            </a:r>
          </a:p>
          <a:p xmlns:a="http://schemas.openxmlformats.org/drawingml/2006/main">
            <a:r>
              <a:t>IF SHORT Skip optional review.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Review 3 question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Optional review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Students vote A, B, C, or D.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The nail is driven into the wood</a:t>
            </a:r>
          </a:p>
          <a:p xmlns:a="http://schemas.openxmlformats.org/drawingml/2006/main">
            <a:r>
              <a:t>REVEAL Do not reveal yet.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Reveal the answer.</a:t>
            </a:r>
          </a:p>
          <a:p xmlns:a="http://schemas.openxmlformats.org/drawingml/2006/main">
            <a:r>
              <a:t>IF SHORT Skip optional review.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Review 3 answer</a:t>
            </a:r>
          </a:p>
          <a:p xmlns:a="http://schemas.openxmlformats.org/drawingml/2006/main">
            <a:r>
              <a:t>TIME 0.5 min</a:t>
            </a:r>
          </a:p>
          <a:p xmlns:a="http://schemas.openxmlformats.org/drawingml/2006/main">
            <a:r>
              <a:t>SESSION Optional review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</a:t>
            </a:r>
          </a:p>
          <a:p xmlns:a="http://schemas.openxmlformats.org/drawingml/2006/main">
            <a:r>
              <a:t>REVEAL C: The nail is driven into the wood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Continue to the next question.</a:t>
            </a:r>
          </a:p>
          <a:p xmlns:a="http://schemas.openxmlformats.org/drawingml/2006/main">
            <a:r>
              <a:t>IF SHORT Skip optional review.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Review 4 question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Optional review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Students vote A, B, C, or D.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We observe the change it causes</a:t>
            </a:r>
          </a:p>
          <a:p xmlns:a="http://schemas.openxmlformats.org/drawingml/2006/main">
            <a:r>
              <a:t>REVEAL Do not reveal yet.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Reveal the answer.</a:t>
            </a:r>
          </a:p>
          <a:p xmlns:a="http://schemas.openxmlformats.org/drawingml/2006/main">
            <a:r>
              <a:t>IF SHORT Skip optional review.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Review 4 answer</a:t>
            </a:r>
          </a:p>
          <a:p xmlns:a="http://schemas.openxmlformats.org/drawingml/2006/main">
            <a:r>
              <a:t>TIME 0.5 min</a:t>
            </a:r>
          </a:p>
          <a:p xmlns:a="http://schemas.openxmlformats.org/drawingml/2006/main">
            <a:r>
              <a:t>SESSION Optional review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</a:t>
            </a:r>
          </a:p>
          <a:p xmlns:a="http://schemas.openxmlformats.org/drawingml/2006/main">
            <a:r>
              <a:t>REVEAL D: We observe the change it causes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Continue to the next question.</a:t>
            </a:r>
          </a:p>
          <a:p xmlns:a="http://schemas.openxmlformats.org/drawingml/2006/main">
            <a:r>
              <a:t>IF SHORT Skip optional review.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Review 5 question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Optional review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Students vote A, B, C, or D.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Moving air has energy of motion</a:t>
            </a:r>
          </a:p>
          <a:p xmlns:a="http://schemas.openxmlformats.org/drawingml/2006/main">
            <a:r>
              <a:t>REVEAL Do not reveal yet.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Reveal the answer.</a:t>
            </a:r>
          </a:p>
          <a:p xmlns:a="http://schemas.openxmlformats.org/drawingml/2006/main">
            <a:r>
              <a:t>IF SHORT Skip optional review.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Review 5 answer</a:t>
            </a:r>
          </a:p>
          <a:p xmlns:a="http://schemas.openxmlformats.org/drawingml/2006/main">
            <a:r>
              <a:t>TIME 0.5 min</a:t>
            </a:r>
          </a:p>
          <a:p xmlns:a="http://schemas.openxmlformats.org/drawingml/2006/main">
            <a:r>
              <a:t>SESSION Optional review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</a:t>
            </a:r>
          </a:p>
          <a:p xmlns:a="http://schemas.openxmlformats.org/drawingml/2006/main">
            <a:r>
              <a:t>REVEAL A: Moving air has energy of motion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Finish review or begin the optional extension.</a:t>
            </a:r>
          </a:p>
          <a:p xmlns:a="http://schemas.openxmlformats.org/drawingml/2006/main">
            <a:r>
              <a:t>IF SHORT Skip optional review.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Optional extension opener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Moving Marbles student sheet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Can a moving marble cause an observable change?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a prediction grounded in the core demo</a:t>
            </a:r>
          </a:p>
          <a:p xmlns:a="http://schemas.openxmlformats.org/drawingml/2006/main">
            <a:r>
              <a:t>REVEAL 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Prepare materials and review safety.</a:t>
            </a:r>
          </a:p>
          <a:p xmlns:a="http://schemas.openxmlformats.org/drawingml/2006/main">
            <a:r>
              <a:t>IF SHORT Skip the entire extension.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Optional activity setup</a:t>
            </a:r>
          </a:p>
          <a:p xmlns:a="http://schemas.openxmlformats.org/drawingml/2006/main">
            <a:r>
              <a:t>TIME 2 min</a:t>
            </a:r>
          </a:p>
          <a:p xmlns:a="http://schemas.openxmlformats.org/drawingml/2006/main">
            <a:r>
              <a:t>SESSION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Moving Marbles student sheet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What keeps this activity safe and fair?</a:t>
            </a:r>
          </a:p>
          <a:p xmlns:a="http://schemas.openxmlformats.org/drawingml/2006/main">
            <a:r>
              <a:t>DO Distribute two identical marbles per group and premark lanes.</a:t>
            </a:r>
          </a:p>
          <a:p xmlns:a="http://schemas.openxmlformats.org/drawingml/2006/main">
            <a:r>
              <a:t>LISTEN FOR roll, keep hands clear, reset the same setup</a:t>
            </a:r>
          </a:p>
          <a:p xmlns:a="http://schemas.openxmlformats.org/drawingml/2006/main">
            <a:r>
              <a:t>REVEAL 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Make a prediction.</a:t>
            </a:r>
          </a:p>
          <a:p xmlns:a="http://schemas.openxmlformats.org/drawingml/2006/main">
            <a:r>
              <a:t>IF SHORT Skip the entire extension.</a:t>
            </a:r>
          </a:p>
          <a:p xmlns:a="http://schemas.openxmlformats.org/drawingml/2006/main">
            <a:r>
              <a:t>MATERIALS two identical marbles per group, marked lane, student sheet, pencils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Optional activity prediction</a:t>
            </a:r>
          </a:p>
          <a:p xmlns:a="http://schemas.openxmlformats.org/drawingml/2006/main">
            <a:r>
              <a:t>TIME 2 min</a:t>
            </a:r>
          </a:p>
          <a:p xmlns:a="http://schemas.openxmlformats.org/drawingml/2006/main">
            <a:r>
              <a:t>SESSION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Moving Marbles student sheet, prediction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What do you think will change?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the target may move</a:t>
            </a:r>
          </a:p>
          <a:p xmlns:a="http://schemas.openxmlformats.org/drawingml/2006/main">
            <a:r>
              <a:t>REVEAL No answer yet.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Run the trial.</a:t>
            </a:r>
          </a:p>
          <a:p xmlns:a="http://schemas.openxmlformats.org/drawingml/2006/main">
            <a:r>
              <a:t>IF SHORT Skip the entire extension.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Optional activity procedure</a:t>
            </a:r>
          </a:p>
          <a:p xmlns:a="http://schemas.openxmlformats.org/drawingml/2006/main">
            <a:r>
              <a:t>TIME 5 min</a:t>
            </a:r>
          </a:p>
          <a:p xmlns:a="http://schemas.openxmlformats.org/drawingml/2006/main">
            <a:r>
              <a:t>SESSION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Moving Marbles student sheet, trial table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What moved before? What changed after?</a:t>
            </a:r>
          </a:p>
          <a:p xmlns:a="http://schemas.openxmlformats.org/drawingml/2006/main">
            <a:r>
              <a:t>DO Run three quick rolls with the same setup.</a:t>
            </a:r>
          </a:p>
          <a:p xmlns:a="http://schemas.openxmlformats.org/drawingml/2006/main">
            <a:r>
              <a:t>LISTEN FOR direct observations only</a:t>
            </a:r>
          </a:p>
          <a:p xmlns:a="http://schemas.openxmlformats.org/drawingml/2006/main">
            <a:r>
              <a:t>REVEAL </a:t>
            </a:r>
          </a:p>
          <a:p xmlns:a="http://schemas.openxmlformats.org/drawingml/2006/main">
            <a:r>
              <a:t>MISCONCEPTION Do not measure speed, distance, mass, or energy transfer.</a:t>
            </a:r>
          </a:p>
          <a:p xmlns:a="http://schemas.openxmlformats.org/drawingml/2006/main">
            <a:r>
              <a:t>NEXT Draw before and after.</a:t>
            </a:r>
          </a:p>
          <a:p xmlns:a="http://schemas.openxmlformats.org/drawingml/2006/main">
            <a:r>
              <a:t>IF SHORT Run one roll instead of three.</a:t>
            </a:r>
          </a:p>
          <a:p xmlns:a="http://schemas.openxmlformats.org/drawingml/2006/main">
            <a:r>
              <a:t>MATERIALS two identical marbles and lane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Optional activity drawing</a:t>
            </a:r>
          </a:p>
          <a:p xmlns:a="http://schemas.openxmlformats.org/drawingml/2006/main">
            <a:r>
              <a:t>TIME 3 min</a:t>
            </a:r>
          </a:p>
          <a:p xmlns:a="http://schemas.openxmlformats.org/drawingml/2006/main">
            <a:r>
              <a:t>SESSION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Moving Marbles student sheet, page 2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Show the target marble before and after one roll. What changed?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target still, then moved</a:t>
            </a:r>
          </a:p>
          <a:p xmlns:a="http://schemas.openxmlformats.org/drawingml/2006/main">
            <a:r>
              <a:t>REVEAL No sample yet.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Discuss the evidence.</a:t>
            </a:r>
          </a:p>
          <a:p xmlns:a="http://schemas.openxmlformats.org/drawingml/2006/main">
            <a:r>
              <a:t>IF SHORT Students may finish the drawing later.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Optional evidence discussion</a:t>
            </a:r>
          </a:p>
          <a:p xmlns:a="http://schemas.openxmlformats.org/drawingml/2006/main">
            <a:r>
              <a:t>TIME 2 min</a:t>
            </a:r>
          </a:p>
          <a:p xmlns:a="http://schemas.openxmlformats.org/drawingml/2006/main">
            <a:r>
              <a:t>SESSION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Moving Marbles student sheet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Complete the discussion stem using what you observed.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the target marble moved</a:t>
            </a:r>
          </a:p>
          <a:p xmlns:a="http://schemas.openxmlformats.org/drawingml/2006/main">
            <a:r>
              <a:t>REVEAL Wait for students to share before the sample.</a:t>
            </a:r>
          </a:p>
          <a:p xmlns:a="http://schemas.openxmlformats.org/drawingml/2006/main">
            <a:r>
              <a:t>MISCONCEPTION Students observed the change; they inferred energy.</a:t>
            </a:r>
          </a:p>
          <a:p xmlns:a="http://schemas.openxmlformats.org/drawingml/2006/main">
            <a:r>
              <a:t>NEXT Compare with one possible observation.</a:t>
            </a:r>
          </a:p>
          <a:p xmlns:a="http://schemas.openxmlformats.org/drawingml/2006/main">
            <a:r>
              <a:t>IF SHORT One partner share only.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Optional activity sample check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Moving Marbles student sheet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</a:t>
            </a:r>
          </a:p>
          <a:p xmlns:a="http://schemas.openxmlformats.org/drawingml/2006/main">
            <a:r>
              <a:t>REVEAL One possible observation and evidence statement.</a:t>
            </a:r>
          </a:p>
          <a:p xmlns:a="http://schemas.openxmlformats.org/drawingml/2006/main">
            <a:r>
              <a:t>MISCONCEPTION </a:t>
            </a:r>
          </a:p>
          <a:p xmlns:a="http://schemas.openxmlformats.org/drawingml/2006/main">
            <a:r>
              <a:t>NEXT Close Chapter 2 and preview the next question.</a:t>
            </a:r>
          </a:p>
          <a:p xmlns:a="http://schemas.openxmlformats.org/drawingml/2006/main">
            <a:r>
              <a:t>IF SHORT Skip to Slide 49 or end.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 Optional closure and bridge</a:t>
            </a:r>
          </a:p>
          <a:p xmlns:a="http://schemas.openxmlformats.org/drawingml/2006/main">
            <a:r>
              <a:t>TIME 1 min</a:t>
            </a:r>
          </a:p>
          <a:p xmlns:a="http://schemas.openxmlformats.org/drawingml/2006/main">
            <a:r>
              <a:t>SESSION After quiz or later</a:t>
            </a:r>
          </a:p>
          <a:p xmlns:a="http://schemas.openxmlformats.org/drawingml/2006/main">
            <a:r>
              <a:t>PLAN OPTIONAL</a:t>
            </a:r>
          </a:p>
          <a:p xmlns:a="http://schemas.openxmlformats.org/drawingml/2006/main">
            <a:r>
              <a:t>STUDENT RESOURCE none</a:t>
            </a:r>
          </a:p>
          <a:p xmlns:a="http://schemas.openxmlformats.org/drawingml/2006/main">
            <a:r>
              <a:t>READER PAGE none</a:t>
            </a:r>
          </a:p>
          <a:p xmlns:a="http://schemas.openxmlformats.org/drawingml/2006/main">
            <a:r>
              <a:t>SAY / ASK If the same object moves faster, could it cause a bigger change?</a:t>
            </a:r>
          </a:p>
          <a:p xmlns:a="http://schemas.openxmlformats.org/drawingml/2006/main">
            <a:r>
              <a:t>DO </a:t>
            </a:r>
          </a:p>
          <a:p xmlns:a="http://schemas.openxmlformats.org/drawingml/2006/main">
            <a:r>
              <a:t>LISTEN FOR curiosity only; do not confirm</a:t>
            </a:r>
          </a:p>
          <a:p xmlns:a="http://schemas.openxmlformats.org/drawingml/2006/main">
            <a:r>
              <a:t>REVEAL No Chapter 3 answer.</a:t>
            </a:r>
          </a:p>
          <a:p xmlns:a="http://schemas.openxmlformats.org/drawingml/2006/main">
            <a:r>
              <a:t>MISCONCEPTION Do not teach faster means more energy here.</a:t>
            </a:r>
          </a:p>
          <a:p xmlns:a="http://schemas.openxmlformats.org/drawingml/2006/main">
            <a:r>
              <a:t>NEXT Chapter 3 investigates the question.</a:t>
            </a:r>
          </a:p>
          <a:p xmlns:a="http://schemas.openxmlformats.org/drawingml/2006/main">
            <a:r>
              <a:t>IF SHORT End after the first statement.</a:t>
            </a:r>
          </a:p>
          <a:p xmlns:a="http://schemas.openxmlformats.org/drawingml/2006/main">
            <a:r>
              <a:t>MATERIALS none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40c28cef041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8f80349bc45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83c41b8dc4c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28b61eaff341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cf519dc8147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475fec5b344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448C37-F1BA-4A18-AD9F-8F01ACEE57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A67AC0-7CF2-4AC9-A5E4-47FEE21823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F4DBF56-BE5D-46A4-8E87-D4303D9EC5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A4195A-E48F-4E33-B449-E4F4223CAE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4E8353-68C2-42F8-B962-FEEBF9ECA1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307311-6458-40DA-ADF1-647343678E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3B82D8-B6C7-4FEB-8E86-FA8CC8B4E9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623CC8-BBBC-4E8C-8CF0-9C06465645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8F64DA-2C31-435F-8A42-9E8E68D680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A148AA-AA1F-4806-8DC4-536049F233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a06e5e9813469b" /><Relationship Type="http://schemas.openxmlformats.org/officeDocument/2006/relationships/slideLayout" Target="/ppt/slideLayouts/slideLayout1.xml" Id="R9967257d75324d1f" /><Relationship Type="http://schemas.openxmlformats.org/officeDocument/2006/relationships/slideLayout" Target="/ppt/slideLayouts/slideLayout2.xml" Id="R949fd0d673874e1c" /><Relationship Type="http://schemas.openxmlformats.org/officeDocument/2006/relationships/slideLayout" Target="/ppt/slideLayouts/slideLayout3.xml" Id="R43d22e13cac14e01" /><Relationship Type="http://schemas.openxmlformats.org/officeDocument/2006/relationships/slideLayout" Target="/ppt/slideLayouts/slideLayout4.xml" Id="R8e555682f60a44dc" /><Relationship Type="http://schemas.openxmlformats.org/officeDocument/2006/relationships/slideLayout" Target="/ppt/slideLayouts/slideLayout5.xml" Id="R7ea16742fa004ad9" /><Relationship Type="http://schemas.openxmlformats.org/officeDocument/2006/relationships/slideLayout" Target="/ppt/slideLayouts/slideLayout6.xml" Id="R7e8946e34bcd4a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67257d75324d1f"/>
    <p:sldLayoutId xmlns:r="http://schemas.openxmlformats.org/officeDocument/2006/relationships" id="2147483650" r:id="R949fd0d673874e1c"/>
    <p:sldLayoutId xmlns:r="http://schemas.openxmlformats.org/officeDocument/2006/relationships" id="2147483651" r:id="R43d22e13cac14e01"/>
    <p:sldLayoutId xmlns:r="http://schemas.openxmlformats.org/officeDocument/2006/relationships" id="2147483652" r:id="R8e555682f60a44dc"/>
    <p:sldLayoutId xmlns:r="http://schemas.openxmlformats.org/officeDocument/2006/relationships" id="2147483653" r:id="R7ea16742fa004ad9"/>
    <p:sldLayoutId xmlns:r="http://schemas.openxmlformats.org/officeDocument/2006/relationships" id="2147483654" r:id="R7e8946e34bcd4a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20866b59744915" /><Relationship Type="http://schemas.openxmlformats.org/officeDocument/2006/relationships/image" Target="/ppt/media/image.png" Id="Rd582c1daaa084191" /><Relationship Type="http://schemas.openxmlformats.org/officeDocument/2006/relationships/notesSlide" Target="/ppt/notesSlides/notesSlide1.xml" Id="R235a121758314c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83e7e84c7d402d" /><Relationship Type="http://schemas.openxmlformats.org/officeDocument/2006/relationships/notesSlide" Target="/ppt/notesSlides/notesSlide2.xml" Id="Re3b3bb5379d24f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fe686b478b43ba" /><Relationship Type="http://schemas.openxmlformats.org/officeDocument/2006/relationships/notesSlide" Target="/ppt/notesSlides/notesSlide3.xml" Id="R773022c34e9840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92da536ed54b5c" /><Relationship Type="http://schemas.openxmlformats.org/officeDocument/2006/relationships/image" Target="/ppt/media/image2.png" Id="R57b22f6e3ad94aa8" /><Relationship Type="http://schemas.openxmlformats.org/officeDocument/2006/relationships/notesSlide" Target="/ppt/notesSlides/notesSlide4.xml" Id="R4aa0fb958d494c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5f631e9f44b3d" /><Relationship Type="http://schemas.openxmlformats.org/officeDocument/2006/relationships/notesSlide" Target="/ppt/notesSlides/notesSlide5.xml" Id="Rb7dac2777e6d4d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4ba07778204763" /><Relationship Type="http://schemas.openxmlformats.org/officeDocument/2006/relationships/notesSlide" Target="/ppt/notesSlides/notesSlide6.xml" Id="R6e16340f32954efd" /><Relationship Id="R1000000000000002" Type="http://schemas.openxmlformats.org/officeDocument/2006/relationships/video" Target="../media/video1.mp4"/><Relationship Id="R1000000000000003" Type="http://schemas.openxmlformats.org/officeDocument/2006/relationships/image" Target="../media/poster1.jpg"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d5ba87e2a4d0c" /><Relationship Type="http://schemas.openxmlformats.org/officeDocument/2006/relationships/image" Target="/ppt/media/image3.png" Id="R9107ddf9bab54fd8" /><Relationship Type="http://schemas.openxmlformats.org/officeDocument/2006/relationships/notesSlide" Target="/ppt/notesSlides/notesSlide7.xml" Id="R34872fc6cbe941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832024e2bf439b" /><Relationship Type="http://schemas.openxmlformats.org/officeDocument/2006/relationships/notesSlide" Target="/ppt/notesSlides/notesSlide8.xml" Id="R4e284f8be3824a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264a37a6a47aa" /><Relationship Type="http://schemas.openxmlformats.org/officeDocument/2006/relationships/image" Target="/ppt/media/image4.png" Id="Rfb336f882d14435a" /><Relationship Type="http://schemas.openxmlformats.org/officeDocument/2006/relationships/notesSlide" Target="/ppt/notesSlides/notesSlide9.xml" Id="R42ada6053de145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e6aadbe759451b" /><Relationship Type="http://schemas.openxmlformats.org/officeDocument/2006/relationships/notesSlide" Target="/ppt/notesSlides/notesSlide10.xml" Id="Rae70f74917684c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46b36a327b4c6b" /><Relationship Type="http://schemas.openxmlformats.org/officeDocument/2006/relationships/notesSlide" Target="/ppt/notesSlides/notesSlide11.xml" Id="Rf933bbadae4743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5b4ad0ed54810" /><Relationship Type="http://schemas.openxmlformats.org/officeDocument/2006/relationships/image" Target="/ppt/media/image5.png" Id="R298c8601357c4e60" /><Relationship Type="http://schemas.openxmlformats.org/officeDocument/2006/relationships/notesSlide" Target="/ppt/notesSlides/notesSlide12.xml" Id="R784a25a4ba7f43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881c5a346a4077" /><Relationship Type="http://schemas.openxmlformats.org/officeDocument/2006/relationships/notesSlide" Target="/ppt/notesSlides/notesSlide13.xml" Id="R4d1bce854ae341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6641efeec4fec" /><Relationship Type="http://schemas.openxmlformats.org/officeDocument/2006/relationships/notesSlide" Target="/ppt/notesSlides/notesSlide14.xml" Id="Rfa6f62f859e747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2a7145e1bf4c1d" /><Relationship Type="http://schemas.openxmlformats.org/officeDocument/2006/relationships/image" Target="/ppt/media/image6.png" Id="R4342010ce6714f84" /><Relationship Type="http://schemas.openxmlformats.org/officeDocument/2006/relationships/notesSlide" Target="/ppt/notesSlides/notesSlide15.xml" Id="R0d66ce52027b4dae" /><Relationship Id="R1000000000000004" Type="http://schemas.openxmlformats.org/officeDocument/2006/relationships/video" Target="../media/video2.mp4"/><Relationship Id="R1000000000000005" Type="http://schemas.openxmlformats.org/officeDocument/2006/relationships/image" Target="../media/poster2.jpg"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e888380ad4f04" /><Relationship Type="http://schemas.openxmlformats.org/officeDocument/2006/relationships/image" Target="/ppt/media/image7.png" Id="Ra3cfe79ba30f451d" /><Relationship Type="http://schemas.openxmlformats.org/officeDocument/2006/relationships/notesSlide" Target="/ppt/notesSlides/notesSlide16.xml" Id="Rb35a4e33efa241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60a347074e4270" /><Relationship Type="http://schemas.openxmlformats.org/officeDocument/2006/relationships/notesSlide" Target="/ppt/notesSlides/notesSlide17.xml" Id="R852c106e9e5c4f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fdee0350b744db" /><Relationship Type="http://schemas.openxmlformats.org/officeDocument/2006/relationships/notesSlide" Target="/ppt/notesSlides/notesSlide18.xml" Id="R0801e125562241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e1d5b80d24a29" /><Relationship Type="http://schemas.openxmlformats.org/officeDocument/2006/relationships/notesSlide" Target="/ppt/notesSlides/notesSlide19.xml" Id="Ra666053b4cd74ab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f0d1fa6684308" /><Relationship Type="http://schemas.openxmlformats.org/officeDocument/2006/relationships/notesSlide" Target="/ppt/notesSlides/notesSlide20.xml" Id="Rf4efea164174403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a177f8909b48be" /><Relationship Type="http://schemas.openxmlformats.org/officeDocument/2006/relationships/notesSlide" Target="/ppt/notesSlides/notesSlide21.xml" Id="Rf78d5b594e4c449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6b32b36094ebf" /><Relationship Type="http://schemas.openxmlformats.org/officeDocument/2006/relationships/notesSlide" Target="/ppt/notesSlides/notesSlide22.xml" Id="Rdc0924be0b99499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723dd8091478f" /><Relationship Type="http://schemas.openxmlformats.org/officeDocument/2006/relationships/image" Target="/ppt/media/image8.png" Id="R2859a81f73914310" /><Relationship Type="http://schemas.openxmlformats.org/officeDocument/2006/relationships/image" Target="/ppt/media/image9.png" Id="Ra235ce50cfe44cf4" /><Relationship Type="http://schemas.openxmlformats.org/officeDocument/2006/relationships/image" Target="/ppt/media/image10.png" Id="R7fc17b90099541aa" /><Relationship Type="http://schemas.openxmlformats.org/officeDocument/2006/relationships/notesSlide" Target="/ppt/notesSlides/notesSlide23.xml" Id="Rae1a00e2fbae4cd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f3a0e0364c42d9" /><Relationship Type="http://schemas.openxmlformats.org/officeDocument/2006/relationships/notesSlide" Target="/ppt/notesSlides/notesSlide24.xml" Id="R7891c9aa9ac54a9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990f37cd9e47b7" /><Relationship Type="http://schemas.openxmlformats.org/officeDocument/2006/relationships/notesSlide" Target="/ppt/notesSlides/notesSlide25.xml" Id="Rf6a28dc002eb40f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8a6da0079f4949" /><Relationship Type="http://schemas.openxmlformats.org/officeDocument/2006/relationships/notesSlide" Target="/ppt/notesSlides/notesSlide26.xml" Id="R345d331d71df49b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e3d25227584c7b" /><Relationship Type="http://schemas.openxmlformats.org/officeDocument/2006/relationships/notesSlide" Target="/ppt/notesSlides/notesSlide27.xml" Id="Rcbc951f3eb3c44e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364f0b91f14abf" /><Relationship Type="http://schemas.openxmlformats.org/officeDocument/2006/relationships/notesSlide" Target="/ppt/notesSlides/notesSlide28.xml" Id="R19e026041b514fe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095c083944fe0" /><Relationship Type="http://schemas.openxmlformats.org/officeDocument/2006/relationships/notesSlide" Target="/ppt/notesSlides/notesSlide29.xml" Id="Re7542a8d3b2b423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f1c2e0e5440cf" /><Relationship Type="http://schemas.openxmlformats.org/officeDocument/2006/relationships/notesSlide" Target="/ppt/notesSlides/notesSlide30.xml" Id="Rccf5e3a7132d43d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c2cdcd1164580" /><Relationship Type="http://schemas.openxmlformats.org/officeDocument/2006/relationships/notesSlide" Target="/ppt/notesSlides/notesSlide31.xml" Id="Rc2d4aa8eb96048f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a862e6103149a1" /><Relationship Type="http://schemas.openxmlformats.org/officeDocument/2006/relationships/notesSlide" Target="/ppt/notesSlides/notesSlide32.xml" Id="R76116d805d89403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b35f3c1be4db3" /><Relationship Type="http://schemas.openxmlformats.org/officeDocument/2006/relationships/notesSlide" Target="/ppt/notesSlides/notesSlide33.xml" Id="R275e37920a67492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6031e302e49f2" /><Relationship Type="http://schemas.openxmlformats.org/officeDocument/2006/relationships/notesSlide" Target="/ppt/notesSlides/notesSlide34.xml" Id="R6c2828a71ebc441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f0f77947d54a64" /><Relationship Type="http://schemas.openxmlformats.org/officeDocument/2006/relationships/notesSlide" Target="/ppt/notesSlides/notesSlide35.xml" Id="R2f1313126b614cd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51c737efd74a49" /><Relationship Type="http://schemas.openxmlformats.org/officeDocument/2006/relationships/notesSlide" Target="/ppt/notesSlides/notesSlide36.xml" Id="Rc9d79a2d3987499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95614815c74494" /><Relationship Type="http://schemas.openxmlformats.org/officeDocument/2006/relationships/notesSlide" Target="/ppt/notesSlides/notesSlide37.xml" Id="Rd6e745c1ecfb44d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3644125e1b449e" /><Relationship Type="http://schemas.openxmlformats.org/officeDocument/2006/relationships/notesSlide" Target="/ppt/notesSlides/notesSlide38.xml" Id="Rce8c8d30b594492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4fa501234458f" /><Relationship Type="http://schemas.openxmlformats.org/officeDocument/2006/relationships/notesSlide" Target="/ppt/notesSlides/notesSlide39.xml" Id="R52adef2784b8469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e849fb4474a8c" /><Relationship Type="http://schemas.openxmlformats.org/officeDocument/2006/relationships/notesSlide" Target="/ppt/notesSlides/notesSlide40.xml" Id="Rf09501421579461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3b930859644c4f" /><Relationship Type="http://schemas.openxmlformats.org/officeDocument/2006/relationships/notesSlide" Target="/ppt/notesSlides/notesSlide41.xml" Id="R0f1a306df3b1483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3e4ad3f91b41c8" /><Relationship Type="http://schemas.openxmlformats.org/officeDocument/2006/relationships/image" Target="/ppt/media/image11.png" Id="Rafeca0d98aee42fb" /><Relationship Type="http://schemas.openxmlformats.org/officeDocument/2006/relationships/notesSlide" Target="/ppt/notesSlides/notesSlide42.xml" Id="R18634ab3a9e04d6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37a5e2619e481f" /><Relationship Type="http://schemas.openxmlformats.org/officeDocument/2006/relationships/image" Target="/ppt/media/image12.png" Id="R22831d551839420b" /><Relationship Type="http://schemas.openxmlformats.org/officeDocument/2006/relationships/notesSlide" Target="/ppt/notesSlides/notesSlide43.xml" Id="Ra6cb4590327d46a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f79c082204d0f" /><Relationship Type="http://schemas.openxmlformats.org/officeDocument/2006/relationships/notesSlide" Target="/ppt/notesSlides/notesSlide44.xml" Id="R8d7322ae5dbc44a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517959d1c40e9" /><Relationship Type="http://schemas.openxmlformats.org/officeDocument/2006/relationships/notesSlide" Target="/ppt/notesSlides/notesSlide45.xml" Id="R43dc07ce27a44ee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50a3644864a4f" /><Relationship Type="http://schemas.openxmlformats.org/officeDocument/2006/relationships/notesSlide" Target="/ppt/notesSlides/notesSlide46.xml" Id="Rab924c535e8d472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0be0addaa4342" /><Relationship Type="http://schemas.openxmlformats.org/officeDocument/2006/relationships/notesSlide" Target="/ppt/notesSlides/notesSlide47.xml" Id="Rb6825beeea3b4cb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a8a084675440f" /><Relationship Type="http://schemas.openxmlformats.org/officeDocument/2006/relationships/image" Target="/ppt/media/image13.png" Id="Raa20a0b76fa54220" /><Relationship Type="http://schemas.openxmlformats.org/officeDocument/2006/relationships/notesSlide" Target="/ppt/notesSlides/notesSlide48.xml" Id="Rc71079574d194be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52290f5bfe4ced" /><Relationship Type="http://schemas.openxmlformats.org/officeDocument/2006/relationships/notesSlide" Target="/ppt/notesSlides/notesSlide49.xml" Id="Rd8dec2dfea0045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FA75E-F439-41EC-AD1D-3EBA6CF730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2c1daaa08419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E73A5-1D3A-447E-AAAE-4E8947EA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272D">
                  <a:alpha val="96078"/>
                </a:srgbClr>
              </a:gs>
              <a:gs pos="100000">
                <a:srgbClr val="06272D">
                  <a:alpha val="13333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220B0-3985-4ADF-9B60-DE852208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GRADE 4  •  WEEK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256CC-F423-452E-A8D1-F7E59575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54483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994"/>
          </a:bodyPr>
          <a:lstStyle xmlns:a="http://schemas.openxmlformats.org/drawingml/2006/main">
            <a:defPPr algn="l">
              <a:defRPr sz="45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5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5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Moving Objects</a:t>
            </a:r>
          </a:p>
          <a:p xmlns:a="http://schemas.openxmlformats.org/drawingml/2006/main">
            <a:pPr algn="l">
              <a:defRPr sz="45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5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Have Energy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BE0BB-5E1D-467E-86CF-A1D8BB72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BDE8E8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BDE8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BDE8E8"/>
                </a:solidFill>
                <a:latin typeface="Avenir Next"/>
                <a:ea typeface="Avenir Next"/>
                <a:cs typeface="Avenir Next"/>
              </a:rPr>
              <a:t>MOTION  •  CHANGE  • 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C9E95-B681-4740-9C2B-E9EF3D8D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5219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How are energy, change, and movement of objects related?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2125F-1B04-4057-9D27-FD385548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23241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975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MOVING 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D57E5-AF51-4065-B5C9-F0B3B22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57700"/>
            <a:ext cx="24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5A7D1-51C6-47A5-816A-2A7FD5B5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57700"/>
            <a:ext cx="133350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9AC47-97EF-4094-B3C5-71F18120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57700"/>
            <a:ext cx="24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1D936-6BF2-4EA3-AA1F-D2F8199B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57700"/>
            <a:ext cx="1809750" cy="6286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74799-48AC-40C4-9618-61F1BF9A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53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FFFFFF">
                    <a:alpha val="80000"/>
                  </a:srgbClr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FFF">
                    <a:alpha val="8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FFFFFF">
                    <a:alpha val="80000"/>
                  </a:srgbClr>
                </a:solidFill>
                <a:latin typeface="Avenir Next"/>
                <a:ea typeface="Avenir Next"/>
                <a:cs typeface="Avenir Next"/>
              </a:rPr>
              <a:t>Unit 1  •  Energy Transfer &amp;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0158708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9BC1E-2544-4918-A459-189761F2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BBE28-4582-40CC-ACEF-B4F598C5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TURN &amp; 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317BB-8393-497F-92C1-426CC34F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BQ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3046C-CC60-4C79-9319-6327B9CD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Big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F49AC-596E-43F4-892A-2C50D6FD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D1425-6655-4837-91DC-10A4A54A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10172700" cy="23622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B4DC8-2441-4CBB-ACB5-3246BFB9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43100"/>
            <a:ext cx="941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BIG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F54C5-B478-4A7C-A5F5-16AF2CD6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43150"/>
            <a:ext cx="9372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22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322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22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How are energy, change, and movement of objects related?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E8400-001C-440D-963E-4382C80E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481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00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Keep this question in mind. We will return to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D16BD-1D87-4B4C-A850-7DE02C00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0"/>
            <a:ext cx="872490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95250" rIns="95250" bIns="9525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Think: What is ONE change a moving object can cause?</a:t>
            </a:r>
          </a:p>
        </p:txBody>
      </p:sp>
    </p:spTree>
    <p:extLst>
      <p:ext uri="{BB962C8B-B14F-4D97-AF65-F5344CB8AC3E}">
        <p14:creationId xmlns:p14="http://schemas.microsoft.com/office/powerpoint/2010/main" val="771119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1F4F3-DB49-4BEC-A954-3D44BEAE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FA0B7-1A30-4954-B31E-623AE691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C2010-0598-4FF9-A4CC-36B3F2B5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BQ •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C4039-1C35-4DE6-9DFE-EDB606FA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Big Question: My first thinking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197B1-44F8-430A-B600-86744B98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p.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AFE8A-CBA5-4A3A-8E3A-540BAF81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F6208-6C5D-4D2E-A3BD-ABB47F51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62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62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62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How are energy, change, and movement of objects related?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C9888-E2AE-4226-BA9C-955E4CA5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9829800" cy="2686050"/>
          </a:xfrm>
          <a:prstGeom xmlns:a="http://schemas.openxmlformats.org/drawingml/2006/main" prst="roundRect">
            <a:avLst>
              <a:gd name="adj" fmla="val 78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B1D16-E187-45E2-A8A3-778305CF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480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My first thinking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1A5EA-77FF-480E-889B-EFDF87D6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671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E6475-1740-4AFA-BEA8-CC574D8E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386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9B71D-A84E-4E17-9C87-6CAF492E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101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BE01C-0BA4-4B81-92B0-DC909D91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578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Write 1–2 quick ideas. No wrong answer yet.</a:t>
            </a:r>
          </a:p>
        </p:txBody>
      </p:sp>
    </p:spTree>
    <p:extLst>
      <p:ext uri="{BB962C8B-B14F-4D97-AF65-F5344CB8AC3E}">
        <p14:creationId xmlns:p14="http://schemas.microsoft.com/office/powerpoint/2010/main" val="1186534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F07FE-FAFA-4797-B813-49EB66E5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B7AA0-776F-45C7-9194-11A72AF2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OBSERVE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35F75-12FA-4C8D-A20D-04D0F0EF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670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2FA71-A9EE-4B13-8684-347F1BA3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Marble Collision: 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9F7BF-B846-4513-BD1B-6D5109A9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One marble is still. Another marble will roll toward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1071D-3BEB-4853-95D8-DC51AA73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C6C9E-B30D-4EB3-8630-DFFB13E4AA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22f6e3ad94aa8"/>
          <a:srcRect xmlns:a="http://schemas.openxmlformats.org/drawingml/2006/main" l="0" t="0" r="50000" b="0"/>
          <a:stretch xmlns:a="http://schemas.openxmlformats.org/drawingml/2006/main"/>
        </p:blipFill>
        <p:spPr>
          <a:xfrm xmlns:a="http://schemas.openxmlformats.org/drawingml/2006/main">
            <a:off x="457200" y="1752600"/>
            <a:ext cx="7639050" cy="3886200"/>
          </a:xfrm>
          <a:prstGeom xmlns:a="http://schemas.openxmlformats.org/drawingml/2006/main" prst="roundRect">
            <a:avLst>
              <a:gd name="adj" fmla="val 490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D62F2-34C2-4D9B-9936-5742E898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3257550" cy="3486150"/>
          </a:xfrm>
          <a:prstGeom xmlns:a="http://schemas.openxmlformats.org/drawingml/2006/main" prst="roundRect">
            <a:avLst>
              <a:gd name="adj" fmla="val 64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C63A4-CB3C-469A-AEB0-FA5C9BAA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8636"/>
          </a:bodyPr>
          <a:lstStyle xmlns:a="http://schemas.openxmlformats.org/drawingml/2006/main">
            <a:defPPr algn="ctr"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9A415-551E-4F7F-BA08-CCB40178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38450"/>
            <a:ext cx="26479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One marble is still.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One marble is ready to move.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EC6E4-7E4B-4BC6-8DD6-CDC24929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72000"/>
            <a:ext cx="2838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7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What do you notice before the marbles touch?</a:t>
            </a:r>
          </a:p>
        </p:txBody>
      </p:sp>
    </p:spTree>
    <p:extLst>
      <p:ext uri="{BB962C8B-B14F-4D97-AF65-F5344CB8AC3E}">
        <p14:creationId xmlns:p14="http://schemas.microsoft.com/office/powerpoint/2010/main" val="2746111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2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0D4D5-25FB-4802-A4E1-ADB37F6C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AA471-DD03-4369-8D5D-D98B8986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670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11EA3-5E3E-499C-99F1-CCAB6299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670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11430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94C6A-3FFA-4709-9DC8-ADFABF6A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Predict: What will happen?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07C83-47DA-4B0D-8D48-D848817C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D8F1F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D8F1F1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D8F1F1"/>
                </a:solidFill>
                <a:latin typeface="Avenir Next"/>
                <a:ea typeface="Avenir Next"/>
                <a:cs typeface="Avenir Next"/>
              </a:rPr>
              <a:t>Think before the moving marble reaches the still marble.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5B97E-2310-41DB-A307-BEA81EEB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3AEF4-7F86-48D4-B8CE-BC39FDAB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52650"/>
            <a:ext cx="9944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42"/>
          </a:bodyPr>
          <a:lstStyle xmlns:a="http://schemas.openxmlformats.org/drawingml/2006/main">
            <a:defPPr algn="ctr">
              <a:defRPr sz="27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7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When the moving marble hits the still marble, the still marble will…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74A0F-6C1A-4741-BD4E-2D3AEEC4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76600"/>
            <a:ext cx="731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00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300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________________________________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001F9-6504-4F99-AEB4-1539C18F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719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4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●      →      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29204-674F-4CAD-B38B-A61CD935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91150"/>
            <a:ext cx="85725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1430">
            <a:solidFill>
              <a:srgbClr val="FFFFFF">
                <a:alpha val="2000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Say your prediction to a partner.</a:t>
            </a:r>
          </a:p>
        </p:txBody>
      </p:sp>
    </p:spTree>
    <p:extLst>
      <p:ext uri="{BB962C8B-B14F-4D97-AF65-F5344CB8AC3E}">
        <p14:creationId xmlns:p14="http://schemas.microsoft.com/office/powerpoint/2010/main" val="2937555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E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7977A-DD0A-4BD6-B45D-82C97A8B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OPTIONAL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2D010-1B09-4A07-8595-B0968472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3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Marble Collision Replay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F553D-C9BC-4133-9128-F2A5CEAE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04950"/>
            <a:ext cx="9944100" cy="40576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020E11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5F40D-611E-499C-A04F-27F57E8D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91200"/>
            <a:ext cx="883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 changes after the marbles touch?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77AB5-9AEF-47DE-892A-B2B44A43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05550"/>
            <a:ext cx="883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FFFFFF">
                    <a:alpha val="60000"/>
                  </a:srgbClr>
                </a:solidFill>
                <a:latin typeface="Avenir Next"/>
                <a:ea typeface="Avenir Next"/>
                <a:cs typeface="Avenir Next"/>
              </a:rPr>
              <a:t>Live demonstration is the default. Continue to Slide 7 if video is unavailable.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DA733-CF9B-4563-833B-D4D9BA4F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pic xmlns:a="http://schemas.openxmlformats.org/drawingml/2006/main" xmlns:r="http://schemas.openxmlformats.org/officeDocument/2006/relationships" xmlns:p14="http://schemas.microsoft.com/office/powerpoint/2010/main">
        <p:nvPicPr>
          <p:cNvPr id="10" name="Video A">
            <a:extLst>
              <a:ext uri="{DAA4B4D4-6D71-4841-9C94-3DE7FCFB9230}">
                <p14:media r:embed="R1000000000000002"/>
              </a:ext>
            </a:extLst>
          </p:cNvPr>
          <p:cNvPicPr>
            <a:picLocks noChangeAspect="1"/>
          </p:cNvPicPr>
          <p:nvPr>
            <a:videoFile r:link="R1000000000000002"/>
            <p:extLst>
              <p:ext uri="{DAA4B4D4-6D71-4841-9C94-3DE7FCFB9230}">
                <p14:media r:embed="R1000000000000002"/>
              </p:ext>
            </p:extLst>
          </p:nvPr>
        </p:nvPicPr>
        <p:blipFill>
          <a:blip r:embed="R1000000000000003"/>
          <a:stretch>
            <a:fillRect/>
          </a:stretch>
        </p:blipFill>
        <p:spPr>
          <a:xfrm>
            <a:off x="2489200" y="1504950"/>
            <a:ext cx="7213600" cy="405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204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27FFE-1795-4A77-B275-A3F0050A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D9799-7DB8-4E79-953D-9918629D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OBSERVE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63DD4-7784-40B7-A0B3-C3FE2B4A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670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FAABD-8F78-4511-A4E3-9C826C2C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What changed?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D7E6D-DACA-4DA9-80C7-B4B383B9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F01DA-9A68-4E4D-823A-AC672885DF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7ddf9bab54fd8"/>
          <a:srcRect xmlns:a="http://schemas.openxmlformats.org/drawingml/2006/main" l="0" t="9989" r="0" b="99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714500"/>
            <a:ext cx="7867650" cy="3543300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9A7FA-A853-4CA4-B571-35D90453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551"/>
          </a:bodyPr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F552D-D1AC-4E32-9651-49454536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8630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551"/>
          </a:bodyPr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65EEE-2DD1-457B-9ACF-0AEB27E2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148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target marble still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3BFDC-85A3-446F-85D8-2943D6E5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148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13"/>
          </a:bodyPr>
          <a:lstStyle xmlns:a="http://schemas.openxmlformats.org/drawingml/2006/main">
            <a:defPPr algn="ctr"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target marble now moving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DD23B-64AE-407E-B1BE-B8DF1F71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28800"/>
            <a:ext cx="2990850" cy="3219450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E5A6C-5227-46D3-8083-A2BE1C06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9AF7E-135E-4349-A3B0-45050F54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343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656"/>
          </a:bodyPr>
          <a:lstStyle xmlns:a="http://schemas.openxmlformats.org/drawingml/2006/main">
            <a:defPPr algn="ctr">
              <a:defRPr sz="240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The target marble changed from still to moving.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0485E-1FEF-4002-A5CB-B98D7C40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Describe only what you observed.</a:t>
            </a:r>
          </a:p>
        </p:txBody>
      </p:sp>
    </p:spTree>
    <p:extLst>
      <p:ext uri="{BB962C8B-B14F-4D97-AF65-F5344CB8AC3E}">
        <p14:creationId xmlns:p14="http://schemas.microsoft.com/office/powerpoint/2010/main" val="158234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7F606-10BB-4E85-A895-E39F54C9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92718-A9EF-424F-9939-4D387EFD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6700"/>
            <a:ext cx="933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9A2A7-E096-47A5-A9CB-90873E4A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670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EF0AC-F65E-42BC-93D6-EA4AF5A9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How do we know it had energy?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B1597-B46C-4AAF-9FBC-C0D04BFF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CA7B8-5913-4532-98F3-72C7172A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19250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1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Energy can be invisible. We look for the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C9E38-D81A-4F8D-8F14-F4D225BC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30861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MOVING 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0C47D-B3B9-432D-B697-C25E405E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495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C302B-A0CD-49A1-834B-F0681921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7450"/>
            <a:ext cx="30861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ECDA4-3551-45FC-A21D-AC9FF1C0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57450"/>
            <a:ext cx="495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DC14F5-1289-4BD6-9DDA-F82BDB37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57450"/>
            <a:ext cx="30861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C51D2-30F8-48F9-B854-DABB34CD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9677400" cy="1390650"/>
          </a:xfrm>
          <a:prstGeom xmlns:a="http://schemas.openxmlformats.org/drawingml/2006/main" prst="roundRect">
            <a:avLst>
              <a:gd name="adj" fmla="val 13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BC8F4-B4D4-41C6-AFF7-9920FD01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76700"/>
            <a:ext cx="8877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The target marble started to move. That change is evidence that the moving marble had energy.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1E43E-4D2B-4C3C-B9E6-90EDA855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We observe the change. We infer that energy was involved.</a:t>
            </a:r>
          </a:p>
        </p:txBody>
      </p:sp>
    </p:spTree>
    <p:extLst>
      <p:ext uri="{BB962C8B-B14F-4D97-AF65-F5344CB8AC3E}">
        <p14:creationId xmlns:p14="http://schemas.microsoft.com/office/powerpoint/2010/main" val="211397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396FE-0291-45F1-B4C3-7CA2590C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21D58-AEAA-4395-B240-A772F140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66700"/>
            <a:ext cx="819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RECITE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141A4-3163-454C-B658-2E1278D1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V1 • 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529C3-59E0-4E12-9EC7-516151D1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Vocabulary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B935E-1DB3-40B5-B05B-E5072EFC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FCD9E-78FB-433B-B77E-BC202EBD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62100"/>
            <a:ext cx="9982200" cy="4457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6792A-5DD6-40C6-A07D-475ED151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KEY WORD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EC588-5FE3-4788-B745-D6E08C92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05050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9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9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495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motion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3E3A7-7B17-46B8-93FD-A0915ACB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the process of an object changing position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1EB59-C017-4122-BBD9-0D4D195047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36f882d14435a"/>
          <a:srcRect xmlns:a="http://schemas.openxmlformats.org/drawingml/2006/main" l="6511" t="0" r="65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7400" y="1828800"/>
            <a:ext cx="4857750" cy="314325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ECBE1-079F-4429-BD52-FECB2D0E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81600"/>
            <a:ext cx="4857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61B54-09DA-4C0A-8021-64341D97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76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350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Reader p. 7</a:t>
            </a:r>
          </a:p>
        </p:txBody>
      </p:sp>
    </p:spTree>
    <p:extLst>
      <p:ext uri="{BB962C8B-B14F-4D97-AF65-F5344CB8AC3E}">
        <p14:creationId xmlns:p14="http://schemas.microsoft.com/office/powerpoint/2010/main" val="784241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5819A-F908-47BE-A76B-69A3A159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BF03B-2996-41EB-8054-2C852956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B864D-E720-4363-A676-B242CCBB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V1 •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D6900-ECD8-451D-B76E-BB7E0CDA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Vocabulary: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F6EFC-0D11-4049-A218-1404A2A7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• Reader p.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71518-9DD2-4A6B-A3B2-8FE2B3DB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657A4-77B7-4C21-8DF7-0B735AEB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97917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A58E3-1A80-4A9B-9171-8FBC015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9334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motion — the process of an object changing ______________ 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1DD20-94CB-4920-85B3-28B28869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Write the missing word.</a:t>
            </a:r>
          </a:p>
        </p:txBody>
      </p:sp>
    </p:spTree>
    <p:extLst>
      <p:ext uri="{BB962C8B-B14F-4D97-AF65-F5344CB8AC3E}">
        <p14:creationId xmlns:p14="http://schemas.microsoft.com/office/powerpoint/2010/main" val="11200711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742B4-091C-47CF-87F8-8646CFF4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109A9-BCFA-4E92-8FE5-B759395D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EE9A2-7287-4F6A-BA86-BA82E9EB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V1 •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F97AB-BB06-4102-AAFF-61D86108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Vocabulary: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091E3-5E04-4485-B3D4-E7F1130C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• Reader p.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FFA67-3BB3-4413-8679-1B3E975A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996A2-A2FD-41EF-9CCD-73E791BE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9800"/>
            <a:ext cx="97917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0F9B9-2D42-4207-9C1B-BAC60C2F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09850"/>
            <a:ext cx="9029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motion — the process of an object changing position 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EDA6B-E5CE-41D9-AFA8-C420F2FB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55700"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21002063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561A0-ACB1-46FA-8224-139EEBD8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87634-D3B4-4B07-9AC2-AC2707AB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OBSERVE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46AA2-2072-4902-A329-87A192A8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670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7A0CC-60AE-4E2C-816F-E32DDD7A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How did each object begin to move?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AFF0F-11A2-4FC5-85A8-406E43B4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Reader p.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788FF-84AE-4068-ABB8-8C84ED10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1B4CC-AFF5-40CC-B835-3ABFBA80B8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c8601357c4e60"/>
          <a:srcRect xmlns:a="http://schemas.openxmlformats.org/drawingml/2006/main" l="0" t="22559" r="0" b="225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52600"/>
            <a:ext cx="11163300" cy="3448050"/>
          </a:xfrm>
          <a:prstGeom xmlns:a="http://schemas.openxmlformats.org/drawingml/2006/main" prst="roundRect">
            <a:avLst>
              <a:gd name="adj" fmla="val 497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7EAD7-CDD0-4E83-A29B-114A1512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18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551"/>
          </a:bodyPr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PERSON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C8051-E833-4A7A-BD8E-9DF6A628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1009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551"/>
          </a:bodyPr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7488E-E29A-4076-97C9-920A0219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2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What started the motion in each example?</a:t>
            </a:r>
          </a:p>
        </p:txBody>
      </p:sp>
    </p:spTree>
    <p:extLst>
      <p:ext uri="{BB962C8B-B14F-4D97-AF65-F5344CB8AC3E}">
        <p14:creationId xmlns:p14="http://schemas.microsoft.com/office/powerpoint/2010/main" val="17575254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9550B-20CB-4D66-8A7F-87EF3BFA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D5987-C2F1-4A67-8B37-A2053856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253D2-F61E-493F-9206-96F8B935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N1 •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95C95-AB2E-4B65-9B7B-BD2DC6AB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Write the Missing Words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FAE97-9666-4F08-AB1A-697F8460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• Reader p.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6E4FD-1DBD-4907-BAD5-B0ACB206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45949-177A-4C0D-B2D9-D94881FA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994410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65B6C-E529-4840-BB58-E33597A2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4315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A moving object can cause a ______________ 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4BB46-7DF7-4479-87F6-22D54908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 i="1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1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1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Players cause their own motion. A ball does not. Something else puts the ball into motion.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6C485-B666-4018-83AA-41CBE52C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411"/>
          </a:bodyPr>
          <a:lstStyle xmlns:a="http://schemas.openxmlformats.org/drawingml/2006/main">
            <a:defPPr algn="l">
              <a:defRPr sz="240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Some objects cause their own motion. Other objects are put into motion by</a:t>
            </a:r>
          </a:p>
          <a:p xmlns:a="http://schemas.openxmlformats.org/drawingml/2006/main">
            <a:pPr algn="l">
              <a:defRPr sz="240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____________ motion.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69532-B658-4A73-83BE-3592A8E6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Fill both blanks in order.</a:t>
            </a:r>
          </a:p>
        </p:txBody>
      </p:sp>
    </p:spTree>
    <p:extLst>
      <p:ext uri="{BB962C8B-B14F-4D97-AF65-F5344CB8AC3E}">
        <p14:creationId xmlns:p14="http://schemas.microsoft.com/office/powerpoint/2010/main" val="11811234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6D9B0-ECE3-4356-90A1-4F2C8D90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30158-C496-4548-91AB-1A504B42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7A0C0-6A6E-4639-A67B-E300E11C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N1 •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2CEBF-1DAD-40A1-A493-D5C44F7B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Moving Objects Can Cause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321DE-E23F-407A-974B-0D332B37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• Reader p.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86EDA-01CC-428E-8D97-1CC59479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17AC9-4C47-45D3-8244-5A482BE1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994410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ED30E-4A6A-46E4-9F96-3FC69DE9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4315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A moving object can cause a change 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2F3AD-9047-4F16-9F3D-F992E25A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 i="1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1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1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Players cause their own motion. A ball does not. Something else puts the ball into motion.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A6AE8-D4C7-4F7A-AA15-457C43F9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411"/>
          </a:bodyPr>
          <a:lstStyle xmlns:a="http://schemas.openxmlformats.org/drawingml/2006/main">
            <a:defPPr algn="l">
              <a:defRPr sz="240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Some objects cause their own motion. Other objects are put into motion by</a:t>
            </a:r>
          </a:p>
          <a:p xmlns:a="http://schemas.openxmlformats.org/drawingml/2006/main">
            <a:pPr algn="l">
              <a:defRPr sz="240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outside motion.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C6F55-9617-4116-862D-FDAC32E3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81650"/>
            <a:ext cx="3733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58122"/>
          </a:bodyPr>
          <a:lstStyle xmlns:a="http://schemas.openxmlformats.org/drawingml/2006/main">
            <a:defPPr algn="ctr"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change  •  outside</a:t>
            </a:r>
          </a:p>
        </p:txBody>
      </p:sp>
    </p:spTree>
    <p:extLst>
      <p:ext uri="{BB962C8B-B14F-4D97-AF65-F5344CB8AC3E}">
        <p14:creationId xmlns:p14="http://schemas.microsoft.com/office/powerpoint/2010/main" val="17040324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2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2A459-D75E-4992-A6F7-F8C7BCCCC0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2010ce6714f8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5C3D8-431E-4482-9284-5FF92CDC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F34">
              <a:alpha val="8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41F20-14EB-46A8-B543-7E968902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E00A0-19D7-4BA7-BCB3-3EE1F30A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OBSERVE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08928-EE19-49E3-88C5-C5D337A6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6700"/>
            <a:ext cx="7524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11430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 •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BF291-4323-45C2-B145-F9812C9B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Look for the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50488-CED0-4D0E-B6A8-022ABFF5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D8F1F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D8F1F1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D8F1F1"/>
                </a:solidFill>
                <a:latin typeface="Avenir Next"/>
                <a:ea typeface="Avenir Next"/>
                <a:cs typeface="Avenir Next"/>
              </a:rPr>
              <a:t>Reader pp. 8–9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DDCA2-A2AF-4AEC-BFF8-0D0CAA8F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53823-98F4-4DE1-8FB4-3B7BA522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What changed because the ball was moving?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FD00E-2E4F-45B3-B8B0-F7B474EC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9240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MOVING BALL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11F1A-4276-4DB9-86DD-49705863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05250"/>
            <a:ext cx="49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C5A5F-A3CC-4EC5-A080-E7C79DA4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05250"/>
            <a:ext cx="19240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NET CHANGES</a:t>
            </a:r>
          </a:p>
        </p:txBody>
      </p:sp>
      <p:pic xmlns:a="http://schemas.openxmlformats.org/drawingml/2006/main" xmlns:r="http://schemas.openxmlformats.org/officeDocument/2006/relationships" xmlns:p14="http://schemas.microsoft.com/office/powerpoint/2010/main">
        <p:nvPicPr>
          <p:cNvPr id="14" name="Video B">
            <a:extLst>
              <a:ext uri="{DAA4B4D4-6D71-4841-9C94-3DE7FCFB9230}">
                <p14:media r:embed="R1000000000000004"/>
              </a:ext>
            </a:extLst>
          </p:cNvPr>
          <p:cNvPicPr>
            <a:picLocks noChangeAspect="1"/>
          </p:cNvPicPr>
          <p:nvPr>
            <a:videoFile r:link="R1000000000000004"/>
            <p:extLst>
              <p:ext uri="{DAA4B4D4-6D71-4841-9C94-3DE7FCFB9230}">
                <p14:media r:embed="R1000000000000004"/>
              </p:ext>
            </p:extLst>
          </p:nvPr>
        </p:nvPicPr>
        <p:blipFill>
          <a:blip r:embed="R1000000000000005"/>
          <a:stretch>
            <a:fillRect/>
          </a:stretch>
        </p:blipFill>
        <p:spPr>
          <a:xfrm>
            <a:off x="6200000" y="2000000"/>
            <a:ext cx="5400000" cy="303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5593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8149B-BEA6-4567-BB06-26500946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D1F1A-D03A-4EC6-BC77-65C50D12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66700"/>
            <a:ext cx="819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RECITE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2A494-D095-41D7-9559-E00C7492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V2 • TEACH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17CC9-1861-44EB-83D1-FA5CCC33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Vocabulary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876A7-925F-4749-8D52-3CF620A2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1E2E7-F3E0-4C14-959E-CCE9D882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62100"/>
            <a:ext cx="9982200" cy="4457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A4EC4-E58E-4F5A-ADC5-CC20A56F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KEY WORD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501D4-5BB2-4563-869B-3B880B8F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05050"/>
            <a:ext cx="4095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725"/>
          </a:bodyPr>
          <a:lstStyle xmlns:a="http://schemas.openxmlformats.org/drawingml/2006/main">
            <a:defPPr algn="l">
              <a:defRPr sz="39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9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9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energy of motion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5E9E6-6CB3-46CA-BDE9-5B286296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the energy an object possesses while it is moving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02782-C8DB-46AB-B4D8-C5B436F2E1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fe79ba30f451d"/>
          <a:srcRect xmlns:a="http://schemas.openxmlformats.org/drawingml/2006/main" l="6511" t="0" r="65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7400" y="1828800"/>
            <a:ext cx="4857750" cy="314325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6F409-B2C0-4E42-A36F-9AB83C85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81600"/>
            <a:ext cx="485775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F7265-FB3A-4431-B1CE-CBD3C670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76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350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Reader p. 9</a:t>
            </a:r>
          </a:p>
        </p:txBody>
      </p:sp>
    </p:spTree>
    <p:extLst>
      <p:ext uri="{BB962C8B-B14F-4D97-AF65-F5344CB8AC3E}">
        <p14:creationId xmlns:p14="http://schemas.microsoft.com/office/powerpoint/2010/main" val="1743733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AB734-6250-42CA-970A-D2AF215F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69E86-51D3-4771-B6FC-88D0E980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B09F0-1F4E-4CF4-AE3C-0B481F83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V2 •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45A7C-ED06-4DC6-B133-F5C05F8D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Vocabulary: Energy of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1B8FB-49ED-4362-8149-69E72FA3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• Reader p.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962DF-29FF-499F-94BF-90CB5D5A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555A7-A93B-4394-8723-5CDFB53C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99060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4C41A-D134-49B9-9F30-8C85DF1A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71750"/>
            <a:ext cx="9182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energy of motion — the energy an object possesses while it is ______________ 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05152-F35E-4E77-9CC5-0785EF58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Write the missing word.</a:t>
            </a:r>
          </a:p>
        </p:txBody>
      </p:sp>
    </p:spTree>
    <p:extLst>
      <p:ext uri="{BB962C8B-B14F-4D97-AF65-F5344CB8AC3E}">
        <p14:creationId xmlns:p14="http://schemas.microsoft.com/office/powerpoint/2010/main" val="7962016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507B0-3D0F-4948-9508-F26630A7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FCA4B-C2D6-41FD-9B3C-73199EFC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AC46B-365D-4516-A66B-34CF5199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V2 •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B5EBE-D1BB-4CED-AA0F-55AC13A8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Vocabulary: Energy of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3001B-E3CA-4693-9CA9-7CABC3CE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• Reader p.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57807-12BC-43EB-A7C8-D80A7908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DE11C-40F4-400A-A830-D3174B4D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99060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AF7BB-36FF-4871-9177-AA282BD9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71750"/>
            <a:ext cx="9182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40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energy of motion — the energy an object possesses while it is moving 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8F29A-2BE5-42BE-AEF9-DA8544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2915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55700"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moving</a:t>
            </a:r>
          </a:p>
        </p:txBody>
      </p:sp>
    </p:spTree>
    <p:extLst>
      <p:ext uri="{BB962C8B-B14F-4D97-AF65-F5344CB8AC3E}">
        <p14:creationId xmlns:p14="http://schemas.microsoft.com/office/powerpoint/2010/main" val="4859830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74072-DF84-45F9-A26A-4E5FB5A0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4B353-3591-445F-940C-E33AE094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6700"/>
            <a:ext cx="933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AF2F9-C6E1-4EB8-B035-659DAAD0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670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ECB5B-6F37-4928-82EA-C7E49634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Moving objects have energy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359B2-6726-4558-948A-6D63A027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Reader p.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AD213-D865-4036-A3A7-61EAC9D8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E0621-85A7-4D90-8D17-EBB32CF6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30861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MOVING OBJECT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8CFC9-378D-4986-95C9-59E4E8C1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76450"/>
            <a:ext cx="495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26FD8-3697-4A54-9B3D-562E16D7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76450"/>
            <a:ext cx="30861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7565A-1C20-463B-9174-70EF03D8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76450"/>
            <a:ext cx="495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C3E28-EE9C-48DC-9448-9C375B35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76450"/>
            <a:ext cx="30861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5D881-436B-4618-8B74-04FB512F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4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4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Energy is the ability to cause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64A18-D8C3-4FAA-BD81-6A0D012A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A moving object causes change, so it has energy.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A141E-8937-4921-95F1-B535019C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81600"/>
            <a:ext cx="70104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D0B64-8BD9-4CAA-AA5F-2FE4A76D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14950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Trace the model from left to right.</a:t>
            </a:r>
          </a:p>
        </p:txBody>
      </p:sp>
    </p:spTree>
    <p:extLst>
      <p:ext uri="{BB962C8B-B14F-4D97-AF65-F5344CB8AC3E}">
        <p14:creationId xmlns:p14="http://schemas.microsoft.com/office/powerpoint/2010/main" val="20441273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C5FA9-64BB-4FCF-82F5-B6AE0963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B2F68-1B74-4C72-B0EB-91797E54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5A350-B42F-4EED-8A23-038B73D5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N2 •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E0C78-DD0E-4C6C-9A41-35809FAB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Moving Objects Have Energy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7C472-DD11-4CDD-B7DC-A52E173D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• Reader p.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C09A2-BCFB-4A46-9A5C-AC48CE46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BA28F-5C5E-40EE-B422-45C290D9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24050"/>
            <a:ext cx="9486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6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6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All moving objects have energy of ______________ 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4AE60-F2B4-488A-97EF-7994453E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0" i="1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0" i="1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1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Energy is the ability to cause change. A moving object causes change, so it has energy.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D7D95-4284-4C1D-B212-1845745B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2933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MOVING OBJECT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7E9E1-9EC0-4CFE-B0B0-E14CA246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00"/>
            <a:ext cx="495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ABC6B-2511-448D-B2C1-88D333A0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10000"/>
            <a:ext cx="2933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89608-9F5C-48DE-8368-B8FB109B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10000"/>
            <a:ext cx="495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A5C1F-6BA8-4BFF-8F17-849A9C25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0000"/>
            <a:ext cx="2933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6267F-DD16-4FAD-A969-E2406A21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Write the missing word.</a:t>
            </a:r>
          </a:p>
        </p:txBody>
      </p:sp>
    </p:spTree>
    <p:extLst>
      <p:ext uri="{BB962C8B-B14F-4D97-AF65-F5344CB8AC3E}">
        <p14:creationId xmlns:p14="http://schemas.microsoft.com/office/powerpoint/2010/main" val="18749614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02362-C85C-445C-8D2A-0D6C2599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0C374-19E2-41E1-833B-5F376458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66700"/>
            <a:ext cx="742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DRAW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22D58-EBB7-4AA9-8725-F4A39AED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66700"/>
            <a:ext cx="11715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N2 • DRAW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597BB-5339-48FB-AD0D-EC05A603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Marble Collision: Observe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C70D6-0AC2-440A-A230-A73C0830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• Reader p.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DB7EE5-8465-4500-BA81-A69710C8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13C89-243C-4376-9166-CEC181D0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52600"/>
            <a:ext cx="979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OBSERVE: one moving marble rolls into a target marble.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BDB2B-7094-4166-9E78-B3EEFBFA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443865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A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AB86F-C267-41E1-BBF9-1D998BDD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443865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9DE41-3FDF-4961-9FF7-C4C52236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98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551"/>
          </a:bodyPr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CE893-C9FA-4C88-82F1-6F8D0837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551"/>
          </a:bodyPr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AFTER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75DC2-FD61-4E2B-A40F-10699CD9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443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draw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6C675-1542-4AFD-927B-27DABAC7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14700"/>
            <a:ext cx="443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draw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F25B2-80DA-44D0-9FDA-9CE9408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19450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31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04B13-B74F-4385-AD94-DC437D39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979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What changed?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D5C12-2D4E-4B8E-9C89-7CCE5267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15000"/>
            <a:ext cx="979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9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07777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4AEA7-A240-42F9-A533-3B849A52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30D8C-9278-4EF1-B768-29EB7222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BAF4C-69A7-4B8C-8061-B5EFAE3C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N2 •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D1A99-9436-4C3A-B224-859668BA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Moving Objects Have Energy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CA894-0881-41F8-8B99-A451E87B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• Reader p.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81B5F-8C82-4F3D-963C-A02191DA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60D44-3809-4EC9-9912-A71A2136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09750"/>
            <a:ext cx="979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6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6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All moving objects have energy of motion 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565F9-1111-41B2-94C4-1B1167F7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29337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MOVING OBJECT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677E3-9DA8-4DA3-9E2C-AEE0C3AD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24150"/>
            <a:ext cx="495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73C7D-332C-478A-8A0D-184DF4B0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337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E9C00-4569-4220-B48B-55CE9990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24150"/>
            <a:ext cx="495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7100C-F6B3-4CC4-B4B4-9FFA727B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29337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C6232-038C-4310-9C53-17191A86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43350"/>
            <a:ext cx="979170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9CB2D-751E-47E4-8443-3B68AEA0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529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Sample observation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A39A5-7000-4BF3-B0C0-B8E52D33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148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The target marble changed from sitting still to moving.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498FA3-DAD9-4F92-A325-D64D25C3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The change matters more than the drawing style.</a:t>
            </a:r>
          </a:p>
        </p:txBody>
      </p:sp>
    </p:spTree>
    <p:extLst>
      <p:ext uri="{BB962C8B-B14F-4D97-AF65-F5344CB8AC3E}">
        <p14:creationId xmlns:p14="http://schemas.microsoft.com/office/powerpoint/2010/main" val="14277703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16831-33F2-41F1-83E4-9643067E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3FEC2-2D98-4E59-8E66-04E4FE47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OBSERVE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A4107-FF78-4CB8-8281-4DFD3553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6700"/>
            <a:ext cx="7524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R •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D2180-F89F-4601-90F1-73B74F9B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People use the energy of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38703-E006-4112-B4A6-D4080D63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Reader pp. 10–12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299C2-40F9-4D1E-80AD-0DF3E9C2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55C8F-E325-4F0D-8845-5B4FFF8B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467100" cy="41148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8BC39-73A4-4ABF-B045-33A3A38F0E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9a81f73914310"/>
          <a:srcRect xmlns:a="http://schemas.openxmlformats.org/drawingml/2006/main" l="13353" t="0" r="133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28800"/>
            <a:ext cx="3200400" cy="24574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4B2E8-121E-4CF0-8E51-D68623C1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moving hammer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01495-5C03-4EF6-9262-5EFDC75E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What changes?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D6E7E-4A61-4DED-96A5-81D1FDE1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95450"/>
            <a:ext cx="3467100" cy="41148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BA77D-1FE9-4D6F-9D6A-DE1C2E4953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5ce50cfe44cf4"/>
          <a:srcRect xmlns:a="http://schemas.openxmlformats.org/drawingml/2006/main" l="13353" t="0" r="133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5300" y="1828800"/>
            <a:ext cx="3200400" cy="24574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6F6FE-C0FD-4AD8-AD1B-36D4C6D0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swinging pendulum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E5696-623C-4399-AF00-1A6AE8FC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673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What moves?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353A0B-CBF6-46A9-8CF3-7B8FD43F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95450"/>
            <a:ext cx="3467100" cy="41148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D9D5E-8CA4-4026-9587-87ECAA7056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17b90099541aa"/>
          <a:srcRect xmlns:a="http://schemas.openxmlformats.org/drawingml/2006/main" l="13353" t="0" r="133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7200" y="1828800"/>
            <a:ext cx="3200400" cy="2457450"/>
          </a:xfrm>
          <a:prstGeom xmlns:a="http://schemas.openxmlformats.org/drawingml/2006/main" prst="roundRect">
            <a:avLst>
              <a:gd name="adj" fmla="val 4651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1DD7D-20AC-43FA-8F6E-5D6E9070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148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moving air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B0925-C4CF-4A22-ACB1-9D21F3D0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67300"/>
            <a:ext cx="300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What changes?</a:t>
            </a:r>
          </a:p>
        </p:txBody>
      </p:sp>
    </p:spTree>
    <p:extLst>
      <p:ext uri="{BB962C8B-B14F-4D97-AF65-F5344CB8AC3E}">
        <p14:creationId xmlns:p14="http://schemas.microsoft.com/office/powerpoint/2010/main" val="8698883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E57EE-BBAE-4E58-A88F-CEE476CA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4304A-A4AF-4DE0-93CA-9566CAE3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5A4DE-77EB-46F6-8D8F-9739E58B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N3 •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DCCDF-8569-4334-92C3-37940948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People Use the Energy of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8A1F6-8799-4631-A5BD-2405FD33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• Reader pp. 10–12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1DA83-1FAE-4363-B241-813DDC84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04EE2-2AD7-4937-82E3-8DA0112D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Write or draw the change each moving object causes.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D5769-74EF-4BAF-8D85-ABA9E72E10F2}"/>
              </a:ext>
            </a:extLst>
          </p:cNvPr>
          <p:cNvGraphicFramePr/>
          <p:nvPr/>
        </p:nvGraphicFramePr>
        <p:xfrm>
          <a:off xmlns:a="http://schemas.openxmlformats.org/drawingml/2006/main" x="1238250" y="2286000"/>
          <a:ext xmlns:a="http://schemas.openxmlformats.org/drawingml/2006/main" cx="97155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6000750"/>
              </a:tblGrid>
              <a:tr h="8715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MOVING OBJECT</a:t>
                      </a:r>
                    </a:p>
                  </a:txBody>
                  <a:tcPr marL="114300" marR="114300" marT="76200" marB="76200" anchor="ctr">
                    <a:solidFill>
                      <a:srgbClr val="0F5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WHAT CHANGE DOES IT CAUSE?</a:t>
                      </a:r>
                    </a:p>
                  </a:txBody>
                  <a:tcPr marL="114300" marR="114300" marT="76200" marB="76200" anchor="ctr">
                    <a:solidFill>
                      <a:srgbClr val="0F5A5C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F5A5C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hammer (swinging)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2313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/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F5A5C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pendulum (swinging)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2313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/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F5A5C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wind (moving air)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2313A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/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2296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BCF92-F669-459D-AD90-F31F0E93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D187F-9175-4BFF-857A-94867941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4F996-1932-4266-B75E-7AB38E8A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N3 •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D8CFB-F1CC-431F-869B-C9AA05AA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People Use the Energy of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8F66C-E2B3-4819-B5FF-25DE3B8C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• Reader pp. 10–12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2D479-C06C-400B-9A07-AB638C14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E6882-96E5-4F82-A2D9-A1F16130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95450"/>
            <a:ext cx="5372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SAMPLE ANSWERS — YOUR WORDING MAY DIFFER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B5478-78FB-49F8-9EEC-F2FAF4C84FD7}"/>
              </a:ext>
            </a:extLst>
          </p:cNvPr>
          <p:cNvGraphicFramePr/>
          <p:nvPr/>
        </p:nvGraphicFramePr>
        <p:xfrm>
          <a:off xmlns:a="http://schemas.openxmlformats.org/drawingml/2006/main" x="1238250" y="2190750"/>
          <a:ext xmlns:a="http://schemas.openxmlformats.org/drawingml/2006/main" cx="97155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6000750"/>
              </a:tblGrid>
              <a:tr h="900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MOVING OBJECT</a:t>
                      </a:r>
                    </a:p>
                  </a:txBody>
                  <a:tcPr marL="114300" marR="114300" marT="76200" marB="76200" anchor="ctr">
                    <a:solidFill>
                      <a:srgbClr val="0F5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WHAT CHANGE DOES IT CAUSE?</a:t>
                      </a:r>
                    </a:p>
                  </a:txBody>
                  <a:tcPr marL="114300" marR="114300" marT="76200" marB="76200" anchor="ctr">
                    <a:solidFill>
                      <a:srgbClr val="0F5A5C"/>
                    </a:solidFill>
                  </a:tcPr>
                </a:tc>
              </a:tr>
              <a:tr h="9001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F5A5C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hammer (swinging)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F5A5C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drives a nail into the wood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9001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F5A5C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pendulum (swinging)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F5A5C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turns the clock gears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  <a:tr h="9001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F5A5C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wind (moving air)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F5A5C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spins the turbine blades</a:t>
                      </a:r>
                    </a:p>
                  </a:txBody>
                  <a:tcPr marL="114300" marR="1143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3815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3569D-DA1D-42C3-86B7-9BD88820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1AC8C-C326-4847-8B76-B23CE40C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4035B-BFFB-4385-8A76-235E2E98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6700"/>
            <a:ext cx="15906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CHECK •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415D5-C1A9-41C2-ADF8-F60E7020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Check Your Thinking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1D28E-948A-4A63-A1AA-745E4662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• Reader pp. 7–12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84799-29EA-4AAE-B6D1-230E09DF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35D68-7D51-4F61-94CA-75CEBD79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19300"/>
            <a:ext cx="93345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628A8-0DF1-4CF4-9574-A16BD7FA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669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0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70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How do we know a moving object has energy?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F2F86-EBA1-436C-AD41-A97D0B28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Start with: “We know because the moving object causes …”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E46A6-6B77-4B8B-B519-31772DDD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291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F08B5-FB3F-4ED7-9D73-DF19B705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B1294-15D5-4924-B278-1C86FE0E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578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9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69140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2645D-678B-4852-BC9B-CE40E8FB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5DFBE-EB0B-4ED0-962A-C7743368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0B9BE-CFCE-4DA1-B91A-18DE347D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6700"/>
            <a:ext cx="1695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CHECK • REVEAL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ECEBF-5AFA-474B-B7D3-F35B663B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Check Your Thinking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67676-2C0C-4DAF-9742-D38E2DE6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• Reader pp. 7–12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99BB6-F910-4841-A1B6-A6C12E91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D616C-B95A-4AEF-9C32-9B51C446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62150"/>
            <a:ext cx="9829800" cy="2343150"/>
          </a:xfrm>
          <a:prstGeom xmlns:a="http://schemas.openxmlformats.org/drawingml/2006/main" prst="roundRect">
            <a:avLst>
              <a:gd name="adj" fmla="val 89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C5738-3B02-4CF8-8AD1-ACCEBC1D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09800"/>
            <a:ext cx="487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SAMPLE RESPONSE — WORDING MAY VARY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14921-771C-47F9-B4D3-38C8167B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57500"/>
            <a:ext cx="8839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“We know because the moving object causes a change, like a moving marble making another marble move.”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C6E3A-044C-4D81-8DCA-7A6FC661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2590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MOVING OBJECT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DEFDC-48FC-4134-A08B-7E5E2071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495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4F7AB-56F0-4ADA-AF70-43D87ADF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0"/>
            <a:ext cx="2590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76713-3D2E-4106-B71B-01D893D3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57750"/>
            <a:ext cx="495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76BE1-539C-479D-BBD3-E5EA4129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57750"/>
            <a:ext cx="2590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5240552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191DE-2DEF-4ED6-B7BE-05CCA4C5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737ED-B315-461B-A731-EF2799EB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670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A9607-3FF8-4EE0-8BBE-16710C58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4C937-BF30-471D-AFDA-67528A9A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Which example shows energy of motion?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66B17D-D334-4C3C-88C0-589C1007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AEF66-31CD-48B7-9666-9293C9C8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47850"/>
            <a:ext cx="94488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DA707-C21B-4BED-8647-52494D92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62150"/>
            <a:ext cx="8686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A moving marble makes a still marble move.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D02AB-86F4-4F45-8AA5-C0803C31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94488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D2B2B-6EF6-4A93-A319-ED39B165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62300"/>
            <a:ext cx="8686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250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A rock keeps sitting still on the ground.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3C5FE-714C-495E-B058-4E27D4D2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48150"/>
            <a:ext cx="94488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DA182-B461-455B-95A7-23E922D0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62450"/>
            <a:ext cx="8686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250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A pencil rests on a desk.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D7463-A513-4EB4-8929-5AD2D552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959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0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Look for a moving object that causes a change.</a:t>
            </a:r>
          </a:p>
        </p:txBody>
      </p:sp>
    </p:spTree>
    <p:extLst>
      <p:ext uri="{BB962C8B-B14F-4D97-AF65-F5344CB8AC3E}">
        <p14:creationId xmlns:p14="http://schemas.microsoft.com/office/powerpoint/2010/main" val="17919041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FE8F2-ED76-412A-AFB4-A4472C57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98DA4-E351-4213-86A7-70FF5B2E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6700"/>
            <a:ext cx="933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978E4-1ECF-4C37-8E3B-F609A26A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OPTIONAL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848C9-33E8-44B9-99E9-28E37AA4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Observation and inference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8D240-F6A7-48B6-99C0-B07DDB63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140A9-1BF5-47C3-9E32-72E49078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4914900" cy="3257550"/>
          </a:xfrm>
          <a:prstGeom xmlns:a="http://schemas.openxmlformats.org/drawingml/2006/main" prst="roundRect">
            <a:avLst>
              <a:gd name="adj" fmla="val 5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5D8D1-7AE9-4B3A-A1E9-66B8DD5D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AA2FD-D8BF-415A-A046-7865C46E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4152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8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The target marble moved.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F1F43-2A71-433F-ADF4-BD784FCD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415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What we directly saw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77391-DE2A-46B1-9A74-C8DB6489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4914900" cy="3257550"/>
          </a:xfrm>
          <a:prstGeom xmlns:a="http://schemas.openxmlformats.org/drawingml/2006/main" prst="roundRect">
            <a:avLst>
              <a:gd name="adj" fmla="val 5848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AC357-238F-4F5B-9125-B0244FC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33600"/>
            <a:ext cx="415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INFERENCE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D524C-C506-4147-9D19-5D8840B6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81300"/>
            <a:ext cx="4152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0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70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The moving marble had energy.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2FC1D-A885-4181-9F50-183AADBB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10050"/>
            <a:ext cx="415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What the change tells us</a:t>
            </a:r>
          </a:p>
        </p:txBody>
      </p:sp>
    </p:spTree>
    <p:extLst>
      <p:ext uri="{BB962C8B-B14F-4D97-AF65-F5344CB8AC3E}">
        <p14:creationId xmlns:p14="http://schemas.microsoft.com/office/powerpoint/2010/main" val="5998775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C52A3-6BEC-4742-9A3D-8EF77210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5F593-6454-410A-B71B-B78DA8DB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D5DC9-270B-4EFE-A593-36B706FA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"/>
            <a:ext cx="190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BQ • NOW I THINK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2696F-DFD8-4131-B7D5-79AEF2F0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Big Question: Now I think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2A2C1-99D9-46D7-9014-C5050522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Guided Notes p.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F4B0B-15BA-4016-8990-EB0F186E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A894A-145E-451D-8575-8BDA72AB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59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0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70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70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How are energy, change, and movement of objects related?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4481E-4FEB-4994-B7B5-6730290E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10058400" cy="2628900"/>
          </a:xfrm>
          <a:prstGeom xmlns:a="http://schemas.openxmlformats.org/drawingml/2006/main" prst="roundRect">
            <a:avLst>
              <a:gd name="adj" fmla="val 79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09A65-DF46-41E5-BD8B-BA14E3EC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925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Now I think…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4FFAB-1E16-423C-B936-9C37725E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925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898A5-DFBF-47BB-8B16-1DE80C57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05300"/>
            <a:ext cx="925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EB6FB-C913-4745-B113-1AF804FD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925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69777-5309-41D8-B0B8-E6026A08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Use what you learned about motion and energy of motion.</a:t>
            </a:r>
          </a:p>
        </p:txBody>
      </p:sp>
    </p:spTree>
    <p:extLst>
      <p:ext uri="{BB962C8B-B14F-4D97-AF65-F5344CB8AC3E}">
        <p14:creationId xmlns:p14="http://schemas.microsoft.com/office/powerpoint/2010/main" val="211192509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32465-5B37-4A6D-97BF-1344A304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0D079-4EB7-428D-887E-4E19A988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66700"/>
            <a:ext cx="857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1CFFD-ECBC-4CDC-9AEE-101DD779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Chapter 2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2105D-D10B-4F7B-8C33-03503D90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1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Moving Objects Have Energy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7F434-B450-4C57-B6AA-D2A97094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E32B8-E0AF-4654-BBA9-A3AF53F7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895350"/>
            <a:ext cx="23812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12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051C7-A7EF-4977-84B5-CD7F3AE1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4BA1C-55A1-4FE4-8CD7-59DBDC04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050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Write your name and homeroom.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77B38-A5C3-4908-844B-40E08C1E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194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B1435-629B-48FA-8F6F-FBD19435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Read each question carefully.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04350-4A2D-4608-8DBD-3331FD63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957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83C46-5250-4B20-97D2-64F707A4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576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Use complete thoughts when a question asks you to explain.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56BE7-5136-4FD9-ADA7-C234BDA1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AD4B8-281B-46C0-842E-40419F12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33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When you finish, turn your paper over and wait quietly.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3C591-4371-422E-8B5F-1EED6274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38800"/>
            <a:ext cx="74676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60882-1F41-4F7A-BB31-C9E64A3E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753100"/>
            <a:ext cx="689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589"/>
          </a:bodyPr>
          <a:lstStyle xmlns:a="http://schemas.openxmlformats.org/drawingml/2006/main">
            <a:defPPr algn="ctr">
              <a:defRPr sz="17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7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You will have about 12 minutes. Teacher chooses open note or closed note.</a:t>
            </a:r>
          </a:p>
        </p:txBody>
      </p:sp>
    </p:spTree>
    <p:extLst>
      <p:ext uri="{BB962C8B-B14F-4D97-AF65-F5344CB8AC3E}">
        <p14:creationId xmlns:p14="http://schemas.microsoft.com/office/powerpoint/2010/main" val="15207518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42A644-8125-4A81-8254-897B3B32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C0799-1757-414A-9EF7-BF6F545B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670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69A53-8624-421B-9CDC-6F28C542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6700"/>
            <a:ext cx="11715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Q1 • VOTE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A59A6-D409-4827-B777-F4D930FD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Review 1: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D24E2-B239-4F5C-A8C6-C545E6C9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E9E72-CB3F-4555-951D-AAF63DD8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A moving object has energy. What is this energy called?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2BB90-BA75-4814-9E21-C10055AB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CB2AA-DB84-49B4-81DA-AC9BB376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8D7B3-7604-40E6-9802-BFF22511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stored energy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3CB32-FB7B-4580-914D-9DE68AF1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A8881-4181-4693-9755-6B943AF2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F724A-4042-449B-B7FE-08717066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energy of 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176B5-E772-4D08-A695-B363ACAC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4EB4A-8A1F-4F22-A88F-897C5A33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47B0F-0573-4ED3-815F-F2AD79AF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energy of light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90A1E-9701-4EA3-AB17-07FF3357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A50B8-F88C-427D-B5F8-E3E38614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3964F-921A-44BC-9A42-BE9921A5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energy of sound</a:t>
            </a:r>
          </a:p>
        </p:txBody>
      </p:sp>
    </p:spTree>
    <p:extLst>
      <p:ext uri="{BB962C8B-B14F-4D97-AF65-F5344CB8AC3E}">
        <p14:creationId xmlns:p14="http://schemas.microsoft.com/office/powerpoint/2010/main" val="192084865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E7CA9B-B86A-4943-BD5A-E5EFA62C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C122D-D81A-4E8E-9297-9B595311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11ADD-D088-4081-8C11-B9C95B21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Q1 •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98C71-888A-4AEA-9F8D-281E2034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Review 1: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BC28A-C9F0-4CC1-94D6-AB9F02DD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4F7A3-046A-4152-8595-1C103362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A moving object has energy. What is this energy called?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4CE5A-C8C0-4701-8139-83F728BA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AB045-8089-4630-941C-BEFE4F8A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DDEC7-D74D-4A40-B1B3-DE144AA2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stored energy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55FE6-AFA4-4895-8A72-75469058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FFD67-3309-418B-8C36-4B2CA05E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762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 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935E6-89B8-4512-8184-4C8A2FA8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38450"/>
            <a:ext cx="3924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energy of 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FC078-B811-4244-8C5B-01803A2D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0DCDB-5F66-4FFD-A100-48EE008F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9D8ADE-9689-4116-8CCD-DE545FE6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energy of light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1385C8-3EEE-41BB-BF5D-71ECED13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267C4-0974-4138-AFDD-AB15DE2C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6403BC-6B49-41ED-93DD-C6A14407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energy of sound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FFEE74-A765-4E85-8CC9-90073818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629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33231-4D8D-4B4C-ADED-05983C8D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Energy of motion (Reader p. 9).</a:t>
            </a:r>
          </a:p>
        </p:txBody>
      </p:sp>
    </p:spTree>
    <p:extLst>
      <p:ext uri="{BB962C8B-B14F-4D97-AF65-F5344CB8AC3E}">
        <p14:creationId xmlns:p14="http://schemas.microsoft.com/office/powerpoint/2010/main" val="146669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4B223-7FE5-4169-94EC-5A58ECC5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967AE-CCBD-4FD9-AA19-1DFB8832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670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F71C4-0E5A-4F2D-A7DF-1C907603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6700"/>
            <a:ext cx="11715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Q2 • VOTE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E2143-A478-46A4-838B-210BEAE4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Review 2: visual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A931C-1482-42BB-BAE3-A1730EBC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FE80F-6E97-4217-9A49-FCC6C3E1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A marble rolls and hits a still marble. What change do you observe?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3A070-6E14-4673-A14B-68817DEC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91787-050A-4C12-A5B6-1F72B6F2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7F456-4173-4932-A3E3-38B39C91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Both marbles stop moving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AAD5A-B34F-46F9-8F98-475A9FD0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5FBC4-872E-40E2-B667-35148963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AC3ED-1D47-49F5-93F4-1EA20A7B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The still marble starts to move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5A18F-DE22-4109-BD85-A01113A8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6727D-A19A-4B32-B0C1-15EF724D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3BA42-73CB-4159-87D0-9760B48C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The marbles change color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F66B1-A589-4FE2-A44A-6CEE1CC3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A3786-280F-41C8-8E01-5BBD3E73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89E15-5975-44C2-871C-53A06AF5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Nothing happens</a:t>
            </a:r>
          </a:p>
        </p:txBody>
      </p:sp>
    </p:spTree>
    <p:extLst>
      <p:ext uri="{BB962C8B-B14F-4D97-AF65-F5344CB8AC3E}">
        <p14:creationId xmlns:p14="http://schemas.microsoft.com/office/powerpoint/2010/main" val="6098917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16927-C552-450D-A00C-DDD3565B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16AAE-9A77-4CB6-ACEB-C6036E36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56E78-47FF-42E7-8471-CF2C64D5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Q2 •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0DB01-DEFF-413C-97D8-518278AF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Review 2: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A7030-C61E-4B8C-A263-F34ADDDD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8DE8A-B461-44C8-9962-B4EC948C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A marble rolls and hits a still marble. What change do you observe?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DDB4F-3D79-4FD4-B93E-B20A1C4C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8E1F0-0A97-4A35-A7AB-036B08E0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90D70-B6A5-49FC-AD4F-63A21427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Both marbles stop moving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060C2-F229-4502-98B9-DBFB0D59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45188-B7A7-48BE-9F51-1756F3B4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762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 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2E2EF-EDCF-425E-984E-D87CF2B9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38450"/>
            <a:ext cx="3924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still marble starts to move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52974-7FBC-4042-A683-856CABFC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804AF-298D-4A1D-AFCF-5E8DA2CA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F6CF2-5B43-43C1-A779-2D10B9F9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The marbles change color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496B2-876D-4D51-B505-2C71AD60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5A06C-FEA2-4D8D-B5CF-F4ED3345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60992-3FFF-46A8-92A6-08069363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Nothing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F02DB-109C-4248-A109-AD62A52F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629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E2443-A6FA-45BD-B629-F14D48DE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The still marble starts to move (Reader p. 8).</a:t>
            </a:r>
          </a:p>
        </p:txBody>
      </p:sp>
    </p:spTree>
    <p:extLst>
      <p:ext uri="{BB962C8B-B14F-4D97-AF65-F5344CB8AC3E}">
        <p14:creationId xmlns:p14="http://schemas.microsoft.com/office/powerpoint/2010/main" val="61051776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69001-5C79-42CB-A2F2-2F2BF4F4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BDD58-5D30-426F-9D4E-AA3750E3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670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3B136-F395-4BE1-A2D0-8CC7FD1A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6700"/>
            <a:ext cx="11715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Q3 • VOTE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129DE-E8CA-47EB-A229-E0909018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Review 3: 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70B4D-C628-48C2-929A-93968772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5F714-18E1-4450-8D8B-C3D3839C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A swinging hammer hits a nail. What change does the hammer cause?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3F8D0-51A9-458A-BED2-FA53B981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3F196-4BB9-49E0-9EDB-BDCD7D14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D4C55-A1ED-45A9-A7BD-169352CE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The hammer turns to liquid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B0DE9-86E9-4D9C-A150-2621A694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57D67-2200-4553-B83F-D6FDE11E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A8279-1539-4737-9F3F-31D49C77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The hammer floats away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01328-D485-4BAD-A155-63F29F40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330F0-9A8E-4E43-AD90-2CBB834D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6F13C-CA22-40A5-B2C1-AE8BB7F4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The nail is driven into the wood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DB2EA-49CB-4D5C-A62B-2834158E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C8307-D142-498A-964C-E2FF095B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CE6CF-CE68-4579-AB35-6E39C449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The nail melts</a:t>
            </a:r>
          </a:p>
        </p:txBody>
      </p:sp>
    </p:spTree>
    <p:extLst>
      <p:ext uri="{BB962C8B-B14F-4D97-AF65-F5344CB8AC3E}">
        <p14:creationId xmlns:p14="http://schemas.microsoft.com/office/powerpoint/2010/main" val="154721375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B56CC-2B3E-47C8-825A-73F5E6D7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F1CBF-FD8D-43C6-AAD6-5C7B3208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1C4A8-2C46-4A5E-959C-2FCE88E1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Q3 •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C8435-02DC-4DB6-8AF2-3219DEE1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Review 3: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5CF37-FC20-487E-A679-F8D44C86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25B26-B069-46BB-8557-AEE7BB4C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A swinging hammer hits a nail. What change does the hammer cause?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6D0FB-503D-4C0F-933C-780BCC16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8BEBF-8218-4CDD-BECE-1878DE1A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DB06E-BD85-47DA-954F-3A3A835D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The hammer turns to liquid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B7B96-2D5E-4491-9D08-632FCF17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3770E-ABD9-4E1C-9191-0337ACDE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FFE9A-7F16-4CE6-BFE6-E0AEF07A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The hammer floats away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19713-E63F-448E-A87E-2265A1F8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6CFA6-A065-4014-98AC-E7D44085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762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  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84593-31CA-4C41-80AA-D0006519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38600"/>
            <a:ext cx="3924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 nail is driven into the wood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B4F78-3B5B-40E4-B83B-51C72D21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B97A9-A5FC-4656-A0DC-8CBB1C7B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71130-C421-4D58-8CDA-86B12AC2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The nail melts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5ED7A-DEF9-4ABE-A750-8638B29A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629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49D41-CD75-45C4-A515-A5D5BA63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The hammer drives the nail in (Reader p. 10).</a:t>
            </a:r>
          </a:p>
        </p:txBody>
      </p:sp>
    </p:spTree>
    <p:extLst>
      <p:ext uri="{BB962C8B-B14F-4D97-AF65-F5344CB8AC3E}">
        <p14:creationId xmlns:p14="http://schemas.microsoft.com/office/powerpoint/2010/main" val="168695864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B09D2-DAD8-4EF8-9814-2E1DB22A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5E704-8D7E-4F6E-8B67-7578D4E1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670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C0395-93F6-47A3-BBDC-12969302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6700"/>
            <a:ext cx="11715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Q4 • VOTE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059E9-55B8-4F66-938E-E544A2B8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Review 4: 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CE686-D78E-4C4A-9C57-7730589B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BCB44-2A37-430C-B854-C2BC5352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How do we know a moving object has energy if we cannot see the energy itself?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6AD4C-BED0-43D4-964C-E5B3B74F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2F04C-0331-4EE9-B94E-EBF1892D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1D261-26F8-4F22-9053-E8026BDA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We can always see energy directly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FAE22-94C4-4628-8694-F30DEF08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3422D-4903-40DC-84EC-5952A6FC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38720-FB58-431D-AD4C-7D5DDEAE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We guess without any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B6253-4124-414F-93DB-EE55110F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2615F-600E-4A8C-8525-98368CCF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3C2AE-BDDD-48FF-BC7B-F669EB8B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Moving objects never have energy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61A50-F774-4645-9656-CE5BC0EF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A1C6D-948B-4312-B675-22A60CC3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6F2E8-D5DC-4804-B326-9516D5A3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We observe the change it causes</a:t>
            </a:r>
          </a:p>
        </p:txBody>
      </p:sp>
    </p:spTree>
    <p:extLst>
      <p:ext uri="{BB962C8B-B14F-4D97-AF65-F5344CB8AC3E}">
        <p14:creationId xmlns:p14="http://schemas.microsoft.com/office/powerpoint/2010/main" val="190327208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37A16D-3D24-4EE7-A171-18E414BB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95111-AD64-4325-8C6F-666E32EE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2ADEC-DE31-433F-81F1-EAA0BC81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Q4 •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BDFF8-4D83-408C-925B-E1194E77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Review 4: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89F24-E413-478D-8020-3B87477E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53D01-E2E6-4289-A82A-D61A244C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How do we know a moving object has energy if we cannot see the energy itself?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FDA4C-EFC4-4D37-97C8-3AC4647A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C1155-9D99-4F67-80EA-D19CFCA9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B9467-5755-43F0-82C7-BE7ED542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We can always see energy directly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7CD0F-6906-4D44-9F7B-B1B2FEF2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491D7-93ED-43F3-8F27-D871A6CB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82558-6ECC-4E7D-9DC4-9260E19C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We guess without any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1AD08-1757-4816-A350-95E9832C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35075-AD54-4C31-A48F-59D05F3E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A455E-BD4A-48E1-9DA8-8806D844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Moving objects never have energy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C4233-DFFA-40B7-939E-FEDD5F28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FA5B9-4D7B-42EA-BEF2-EC3FE69A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762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  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FB078-3A84-46D9-932B-A3927AC0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38600"/>
            <a:ext cx="3924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We observe the change it causes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5880DF-F333-4D2C-891B-755DA402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629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0E8DC-6FBF-4EED-B253-95E58FAC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We know because it causes a change.</a:t>
            </a:r>
          </a:p>
        </p:txBody>
      </p:sp>
    </p:spTree>
    <p:extLst>
      <p:ext uri="{BB962C8B-B14F-4D97-AF65-F5344CB8AC3E}">
        <p14:creationId xmlns:p14="http://schemas.microsoft.com/office/powerpoint/2010/main" val="147271616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75B77-AF5A-4230-9AE7-625FA86A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EF47D-F744-4CCC-8E9C-9F48DA15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6700"/>
            <a:ext cx="66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83762-CFCE-4C59-BEF8-3E11B82A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6700"/>
            <a:ext cx="11715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Q5 • VOTE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371BF-A559-4008-8D58-677A133E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Review 5: 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9D5F8-8723-4D11-A8C8-EC796F3F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FED7C-5B53-43E1-A871-C98C44C8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Wind (moving air) spins windmill blades. What does this show?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E348A-2832-413C-950C-197D54CB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F07DA-5D34-4317-85A3-CC5A15B4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F8880-3EB5-4AC9-81C3-C1DE1E08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Moving air has energy of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AAB7D-938F-4BB8-864D-88D5F5EF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08733-A1A4-499D-BEC5-359CFEF9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56DEE-219F-4CF9-95FD-16063EC3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Still air is stronger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1B034-FD85-4430-9DF4-CC68E611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F14BD-1B85-4997-8643-C0FAE597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34237-E01C-4F89-AB9E-6E0D0E69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Windmills work without energy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402A2-774F-4DBF-B779-5F297101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06CAE-E4F0-4C12-81BD-F8A3C886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4F1EB-D1E2-4E9F-AFAE-28D3677F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Blades move on their own</a:t>
            </a:r>
          </a:p>
        </p:txBody>
      </p:sp>
    </p:spTree>
    <p:extLst>
      <p:ext uri="{BB962C8B-B14F-4D97-AF65-F5344CB8AC3E}">
        <p14:creationId xmlns:p14="http://schemas.microsoft.com/office/powerpoint/2010/main" val="100122296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63509-9106-4987-9BB6-B4F8FFE4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67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MOVING OBJECTS HAVE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3E8D1-D197-44D8-80E1-2D548124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34E5B-3F63-4131-BB33-3FF34D05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276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Q5 •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4E7DA-AB69-4A63-A9DF-B867F4BF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Review 5: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966F4-B04F-4D8D-B30E-D0D0D731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1FE5D-86B8-4684-8374-26FA0D77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Wind (moving air) spins windmill blades. What does this show?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9BCBC-8C53-4838-AE30-F313EF0A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30555-DB1C-4DBA-937A-8EB4A037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762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✓ 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B6B4A-3BC0-4837-9049-42DDD54D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38450"/>
            <a:ext cx="3924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Moving air has energy of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98AA5-2B35-47AB-99FD-C7A10021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0510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E97FF-37A7-4881-854F-1C319F90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0F626-ACC1-4F7C-ADDC-1432A0B0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3845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Still air is stronger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A889B-63A6-4BB3-A617-62A7B031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F7199-BE59-4D37-AFFF-DD03B0F2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2354E-01E9-4DE6-AFCF-CB8A54A4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Windmills work without energy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C8ED8-C0B9-49C8-A618-7EA7688E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51816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64F79-5560-40CF-B0D5-EBDD7F5A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74267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46EAD9-3358-4F18-B1AC-17E90641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38600"/>
            <a:ext cx="4171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Blades move on their 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6E411-069B-4328-8C4B-46601563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629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9F5CB0-9236-48E1-80E0-D59A05D9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Moving air has energy of motion (Reader p. 12).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0AFBE7-13E0-4C23-8415-B8917055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115050"/>
            <a:ext cx="868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Moving objects have energy because they can cause change.</a:t>
            </a:r>
          </a:p>
        </p:txBody>
      </p:sp>
    </p:spTree>
    <p:extLst>
      <p:ext uri="{BB962C8B-B14F-4D97-AF65-F5344CB8AC3E}">
        <p14:creationId xmlns:p14="http://schemas.microsoft.com/office/powerpoint/2010/main" val="198664581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92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6B04C-F616-4EA2-9173-D4BBEA2BE2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ca0d98aee42f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16675-C44C-476F-94AA-8AB00D19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23">
              <a:alpha val="7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4B383-F644-484F-BEFA-61A795FA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OPTIONAL EXTENSION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34DE0-A9E7-4D47-98B4-AE0DBD54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OBSERVE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ED97F-EBD0-480A-8CDC-32C75A0A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11430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FLEX •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C927C-9BB4-458C-A729-534814AF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Moving Marbles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EB6D0-83EE-4ECB-864C-C0850D6D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F6BF0-5421-4B95-B4CB-6397DE13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2362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OPTIONAL  •  NOT GRADED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1AC9F-8FB6-4D0B-98F1-97E9C85C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0325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589"/>
          </a:bodyPr>
          <a:lstStyle xmlns:a="http://schemas.openxmlformats.org/drawingml/2006/main">
            <a:defPPr algn="ctr"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Can a moving marble cause an observable change?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027A3-B6CA-40B4-97A3-A75FA933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95750"/>
            <a:ext cx="2806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MOVING MARBLE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B16DD-A881-42FE-9048-F56ABCC0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4095750"/>
            <a:ext cx="495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A9F30-3B16-4805-8C97-C2C1C30B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2650" y="4095750"/>
            <a:ext cx="2806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F7C50-0673-49FD-ABD3-C69E3DCA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9350" y="4095750"/>
            <a:ext cx="495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8EF15-2C49-4FC0-902C-DB25304A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4095750"/>
            <a:ext cx="28067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33466514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8EF0F-C7E4-4198-A1B5-63DE48DB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OPTIONAL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9816D-D732-4521-8C9D-9F2AA17B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OBSERVE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4F5EB-E3C7-4E16-9A4D-082F3A70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FLEX •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D34E9-967D-4423-84E3-7DD44C26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Materials and 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6B209-DF3D-42A5-BDB7-35E46734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3B95C-75EC-4257-AA78-31E1ED47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2362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OPTIONAL  •  NOT GRADED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93B25-E047-4134-BCEC-2385F5677F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31d551839420b"/>
          <a:srcRect xmlns:a="http://schemas.openxmlformats.org/drawingml/2006/main" l="5803" t="0" r="58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733550"/>
            <a:ext cx="5295900" cy="337185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AB5866-3FA8-4D84-8BA9-E22B0200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Materials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C1753-16D2-4557-8C7A-97A600B3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476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• two identical marbles</a:t>
            </a:r>
          </a:p>
          <a:p xmlns:a="http://schemas.openxmlformats.org/drawingml/2006/main">
            <a:pPr algn="l">
              <a:defRPr sz="20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• clear testing lane</a:t>
            </a:r>
          </a:p>
          <a:p xmlns:a="http://schemas.openxmlformats.org/drawingml/2006/main">
            <a:pPr algn="l">
              <a:defRPr sz="20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• Moving Marbles sheet</a:t>
            </a:r>
          </a:p>
          <a:p xmlns:a="http://schemas.openxmlformats.org/drawingml/2006/main">
            <a:pPr algn="l">
              <a:defRPr sz="20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• pencil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E4397-A30B-4BE8-9D6F-3953E0C5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43350"/>
            <a:ext cx="514350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BD4B1-DFD2-4AF5-841F-16C94432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57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Roll, do not throw.</a:t>
            </a:r>
          </a:p>
          <a:p xmlns:a="http://schemas.openxmlformats.org/drawingml/2006/main">
            <a:pPr algn="l">
              <a:defRPr sz="187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Keep hands out of the lane during a roll.</a:t>
            </a:r>
          </a:p>
          <a:p xmlns:a="http://schemas.openxmlformats.org/drawingml/2006/main">
            <a:pPr algn="l">
              <a:defRPr sz="187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Retrieve marbles after the trial stops.</a:t>
            </a:r>
          </a:p>
        </p:txBody>
      </p:sp>
    </p:spTree>
    <p:extLst>
      <p:ext uri="{BB962C8B-B14F-4D97-AF65-F5344CB8AC3E}">
        <p14:creationId xmlns:p14="http://schemas.microsoft.com/office/powerpoint/2010/main" val="115334816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92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4D36E-1D3C-4C20-B4A2-12D1AF46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OPTIONAL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EBBD1-F9CC-4343-BA10-CBE32E12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670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PREDICT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26031-45FA-4CAD-A35E-BF9BE740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6700"/>
            <a:ext cx="1695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11430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FLEX • PREDICT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90240-25CB-4D5F-A29F-DB64F1B5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Before you roll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1F750-8249-4329-BFA5-3F3FBC97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rPr>
              <a:t>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D369A-2358-4046-B6BD-D8649770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2362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OPTIONAL  •  NOT GRADED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C637C-1077-4A2E-AD36-44CA212F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76450"/>
            <a:ext cx="990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What do you think will change when the moving marble reaches the target marble?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464A9-136B-40E6-B7EE-7B3960D0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●      →      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3BD12-F372-4D29-A360-D4BA143F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19700"/>
            <a:ext cx="88392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1430">
            <a:solidFill>
              <a:srgbClr val="FFFFFF">
                <a:alpha val="2000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Record your prediction on the Moving Marbles sheet.</a:t>
            </a:r>
          </a:p>
        </p:txBody>
      </p:sp>
    </p:spTree>
    <p:extLst>
      <p:ext uri="{BB962C8B-B14F-4D97-AF65-F5344CB8AC3E}">
        <p14:creationId xmlns:p14="http://schemas.microsoft.com/office/powerpoint/2010/main" val="136491751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7083A-1514-4ABA-BE2F-EFFEC79B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OPTIONAL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DB7CE-583E-4301-9A36-F1EB5000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670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OBSERVE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5F32F-263D-4454-87FA-84D5F606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FLEX •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D1563-3267-4742-8F3B-BCF65A2F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Run one fair observation 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FAD24-3389-4A21-AEBE-DC9B5A96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2E808-D32D-428D-9B2F-196544BD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2362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OPTIONAL  •  NOT GRADED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E3AE1-4E57-4E9E-839F-D6ECCF2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BC910-58A5-43B7-918C-D2516ACF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2057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Place the target marble in the marked spot.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9CA58-424F-4DEE-81B4-497B11E3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19450"/>
            <a:ext cx="28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2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96662-A366-43CF-9008-4E84632F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478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D63F1-2246-49B5-AF89-8FE2CB32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38450"/>
            <a:ext cx="2057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Roll the moving marble toward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E2127-E43F-43D8-9BCF-88276807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19450"/>
            <a:ext cx="28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2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1BE29-0BBC-46F6-9435-2249DD16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478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4C274-DAAB-495E-826C-E5EED680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38450"/>
            <a:ext cx="2057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Watch what moves before contact.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C2994-A839-484F-A4C3-04317EAA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19450"/>
            <a:ext cx="28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2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07B40-DB64-4840-B846-53C6F8E6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469FD-F5AA-4116-912D-E6CD4A68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38450"/>
            <a:ext cx="2057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Watch what changes after contact.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0F75A-12A6-49FF-B879-B080679C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19450"/>
            <a:ext cx="28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2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9D84B-EB77-408C-A6FD-93481E66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84785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9DCA8-8574-448C-A27E-458FEB5F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38450"/>
            <a:ext cx="2057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Record only what you observed.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B6661-2315-42AB-ABB3-4F8C41DD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38750"/>
            <a:ext cx="91821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EDF02E-0E7E-400B-8CF4-B161BEC9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53050"/>
            <a:ext cx="861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Keep the setup the same. Do not measure speed.</a:t>
            </a:r>
          </a:p>
        </p:txBody>
      </p:sp>
    </p:spTree>
    <p:extLst>
      <p:ext uri="{BB962C8B-B14F-4D97-AF65-F5344CB8AC3E}">
        <p14:creationId xmlns:p14="http://schemas.microsoft.com/office/powerpoint/2010/main" val="81035962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9709E-7BBD-4123-86CF-78676E31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OPTIONAL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E96FE-FCEB-4835-B8C2-9252BC77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66700"/>
            <a:ext cx="742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DRAW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20B24-FA7D-4683-9933-EA750FB3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670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FLEX • DRAW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3ACC2-3E05-4C87-9E99-5C38CA3B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Show what happened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416C6-26E0-404C-B7D0-9FF1E924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CDCB4-77D1-4406-9A3D-A6E98F3B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2362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OPTIONAL  •  NOT GRADED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74911-EE82-48F7-B438-706A96E8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44386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A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4E592-BFFE-4DBC-8901-6C2B8880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4386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1BBB4-5996-48D5-94AE-5F5CF162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860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551"/>
          </a:bodyPr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8E707-1645-4163-BEB5-B9961844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551"/>
          </a:bodyPr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AFTER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E8931-8C24-4259-A38E-578596B5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90850"/>
            <a:ext cx="87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31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E484E-4F98-46C3-8987-0979069A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79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What changed?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02C4A-5128-49D7-988C-B3E881FB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19750"/>
            <a:ext cx="979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7014B-C43D-4C7F-98CF-B04FA6BA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057900"/>
            <a:ext cx="9791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A9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389201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C4EB8-6430-47FE-AA2B-6858CD5D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OPTIONAL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EB508-EE0E-478C-940E-179F48A7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TURN &amp; 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9B48A-29D6-446B-929A-73381F94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"/>
            <a:ext cx="1695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FLEX • EXPLAIN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AD9B1-111B-4EFC-A6E4-368118F9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Evidence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17AD4-61DE-4A2A-9649-69F04C93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138FA-8A54-4F17-A0CF-4C51A6DC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2362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OPTIONAL  •  NOT GRADED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2B47D-24BD-4FDC-B5B7-C2E89D1F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05000"/>
            <a:ext cx="9829800" cy="1847850"/>
          </a:xfrm>
          <a:prstGeom xmlns:a="http://schemas.openxmlformats.org/drawingml/2006/main" prst="roundRect">
            <a:avLst>
              <a:gd name="adj" fmla="val 113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E788E-CD0C-48CB-B3C1-92AF3DED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66950"/>
            <a:ext cx="9029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850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2850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What change is evidence that the moving marble had energy?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B370A-9383-4C75-A8D2-CC5D9BBF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967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74"/>
          </a:bodyPr>
          <a:lstStyle xmlns:a="http://schemas.openxmlformats.org/drawingml/2006/main">
            <a:defPPr algn="ctr">
              <a:defRPr sz="23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22313A"/>
                </a:solidFill>
                <a:latin typeface="Avenir Next"/>
                <a:ea typeface="Avenir Next"/>
                <a:cs typeface="Avenir Next"/>
              </a:rPr>
              <a:t>I know the moving marble had energy because ________________________________.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5EF01-294E-43E7-ACA9-DD1741F6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67350"/>
            <a:ext cx="24511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MOVING OBJECT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E316A-D290-4132-97A8-8CE1C8A7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5467350"/>
            <a:ext cx="49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95690-12CD-42E3-ACEF-A4120C4A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5467350"/>
            <a:ext cx="24511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56B23-8ED3-4935-9F37-A78E4FDF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1550" y="5467350"/>
            <a:ext cx="49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 i="0">
                <a:solidFill>
                  <a:srgbClr val="0E8A97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73D60-3CFA-41FA-8240-7E5C69AF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5467350"/>
            <a:ext cx="24511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208332222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B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42D19-9AAE-4355-9BB6-208D5BC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A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OPTIONAL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1CD6B-612D-45F6-AE82-D0A432B6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781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74BB6-249A-4750-86D9-2FB53BBE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D8E3E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FLEX •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6462A-5C90-461A-8785-982F8F09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0F5A5C"/>
                </a:solidFill>
                <a:latin typeface="Georgia"/>
                <a:ea typeface="Georgia"/>
                <a:cs typeface="Georgia"/>
              </a:rPr>
              <a:t>One possible observation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69A72-5783-476B-93CD-D8F76F4E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1727C"/>
                </a:solidFill>
                <a:latin typeface="Avenir Next"/>
                <a:ea typeface="Avenir Next"/>
                <a:cs typeface="Avenir Next"/>
              </a:rPr>
              <a:t>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A4F80-6ECA-4FFA-BFAE-E6788C42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2362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OPTIONAL  •  NOT GRADED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26C48-407C-4E37-B2DE-18D6C99D00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0a0b76fa54220"/>
          <a:srcRect xmlns:a="http://schemas.openxmlformats.org/drawingml/2006/main" l="0" t="5725" r="0" b="5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790700"/>
            <a:ext cx="5810250" cy="2895600"/>
          </a:xfrm>
          <a:prstGeom xmlns:a="http://schemas.openxmlformats.org/drawingml/2006/main" prst="roundRect">
            <a:avLst>
              <a:gd name="adj" fmla="val 592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919CE-E012-411E-90E3-5DBA4C9F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09750"/>
            <a:ext cx="4953000" cy="2876550"/>
          </a:xfrm>
          <a:prstGeom xmlns:a="http://schemas.openxmlformats.org/drawingml/2006/main" prst="roundRect">
            <a:avLst>
              <a:gd name="adj" fmla="val 6623"/>
            </a:avLst>
          </a:prstGeom>
          <a:solidFill xmlns:a="http://schemas.openxmlformats.org/drawingml/2006/main">
            <a:srgbClr val="EAF7F7"/>
          </a:solidFill>
          <a:ln xmlns:a="http://schemas.openxmlformats.org/drawingml/2006/main" w="11430">
            <a:solidFill>
              <a:srgbClr val="0E8A9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AB5D6-E7F8-4FFA-9498-BE370D63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4114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SAMPLE — YOUR TRIAL MAY LOOK DIFFERENT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699F7-C9F1-489F-A9B3-C79B1222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4114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0F5A5C"/>
                </a:solidFill>
                <a:latin typeface="Avenir Next"/>
                <a:ea typeface="Avenir Next"/>
                <a:cs typeface="Avenir Next"/>
              </a:rPr>
              <a:t>The target marble was still before the collision. After the collision, it moved.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FCC19-629B-4149-9DA9-40C184BA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57800"/>
            <a:ext cx="967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22313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22313A"/>
                </a:solidFill>
                <a:latin typeface="Georgia"/>
                <a:ea typeface="Georgia"/>
                <a:cs typeface="Georgia"/>
              </a:defRPr>
            </a:pPr>
            <a:r>
              <a:rPr sz="2325" b="1" i="0">
                <a:solidFill>
                  <a:srgbClr val="22313A"/>
                </a:solidFill>
                <a:latin typeface="Georgia"/>
                <a:ea typeface="Georgia"/>
                <a:cs typeface="Georgia"/>
              </a:rPr>
              <a:t>That change is evidence that the moving marble had energy.</a:t>
            </a:r>
          </a:p>
        </p:txBody>
      </p:sp>
    </p:spTree>
    <p:extLst>
      <p:ext uri="{BB962C8B-B14F-4D97-AF65-F5344CB8AC3E}">
        <p14:creationId xmlns:p14="http://schemas.microsoft.com/office/powerpoint/2010/main" val="149628867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92F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EF151-3FEC-4910-AEB4-79D2E7A4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CHAPTER 2  •  OPTIONAL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ADAB9-0B32-47B2-A512-43EB033B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TURN &amp; 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C011E-E45A-4E51-AD32-3C5263B1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11430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487"/>
          </a:bodyPr>
          <a:lstStyle xmlns:a="http://schemas.openxmlformats.org/drawingml/2006/main">
            <a:def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FLEX •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F88DE-7DA7-412B-921B-A51D75CC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Chapter 2 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F6B52-AA14-4452-8053-DD3FB00E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FFFFFF">
                    <a:alpha val="66667"/>
                  </a:srgbClr>
                </a:solidFill>
                <a:latin typeface="Avenir Next"/>
                <a:ea typeface="Avenir Next"/>
                <a:cs typeface="Avenir Next"/>
              </a:rPr>
              <a:t>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DB058-AB23-4F24-99FC-E42006AB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2362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9121"/>
          </a:bodyPr>
          <a:lstStyle xmlns:a="http://schemas.openxmlformats.org/drawingml/2006/main">
            <a:def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OPTIONAL  •  NOT GRADED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0776A-CFD0-43F9-929C-F54E69F1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10058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91"/>
          </a:bodyPr>
          <a:lstStyle xmlns:a="http://schemas.openxmlformats.org/drawingml/2006/main">
            <a:defPPr algn="ctr">
              <a:defRPr sz="34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34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Moving objects have energy because they can cause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3D973-F330-4D79-AA2C-CAF24809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956310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143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33D89-0D6A-4245-A59C-3C57FA23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5285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278"/>
          </a:bodyPr>
          <a:lstStyle xmlns:a="http://schemas.openxmlformats.org/drawingml/2006/main">
            <a:defPPr algn="ctr">
              <a:defRPr sz="2700" b="1" i="0">
                <a:solidFill>
                  <a:srgbClr val="D8F1F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2700" b="1" i="0">
                <a:solidFill>
                  <a:srgbClr val="D8F1F1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 i="0">
                <a:solidFill>
                  <a:srgbClr val="D8F1F1"/>
                </a:solidFill>
                <a:latin typeface="Avenir Next"/>
                <a:ea typeface="Avenir Next"/>
                <a:cs typeface="Avenir Next"/>
              </a:rPr>
              <a:t>If the SAME object moves faster, could it cause a bigger change?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E3661-D697-415D-8C69-71205021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10200"/>
            <a:ext cx="5486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9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3551"/>
          </a:bodyPr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NEXT: CHAPTER 3  •  ENERGY AND SPEED ARE RELATED</a:t>
            </a:r>
          </a:p>
        </p:txBody>
      </p:sp>
    </p:spTree>
    <p:extLst>
      <p:ext uri="{BB962C8B-B14F-4D97-AF65-F5344CB8AC3E}">
        <p14:creationId xmlns:p14="http://schemas.microsoft.com/office/powerpoint/2010/main" val="367572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2026-10-10T04:49:05.9070000Z</dcterms:created>
  <dcterms:modified xsi:type="dcterms:W3CDTF">2026-10-10T04:49:05.9070000Z</dcterms:modified>
</coreProperties>
</file>