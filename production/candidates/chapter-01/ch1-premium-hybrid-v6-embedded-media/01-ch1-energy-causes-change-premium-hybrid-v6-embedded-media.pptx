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Title · orient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Guided Notes (not yet open)</a:t>
            </a:r>
          </a:p>
          <a:p>
            <a:r>
              <a:t>ASK What do you think energy does?</a:t>
            </a:r>
          </a:p>
          <a:p>
            <a:r>
              <a:t>LISTEN FOR words like move, change, power</a:t>
            </a:r>
          </a:p>
          <a:p>
            <a:r>
              <a:t>NEXT Flip the lights as you open the Big Question.</a:t>
            </a:r>
          </a:p>
          <a:p>
            <a:r>
              <a:t>SESSIONS Mon: slides 1-3, 6-16 (optional 4-5) · Tue: slides 2, 17, 19-27 (18 is OPTIONAL) · Fri: slides 2 then 28-31, 33 (optional 32), then the quiz. Slides 34-45 = optional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BQ · introduce</a:t>
            </a:r>
          </a:p>
          <a:p>
            <a:r>
              <a:t>TIME 2 min</a:t>
            </a:r>
          </a:p>
          <a:p>
            <a:r>
              <a:t>PLAN Session 1 (Mon 10/12) · REQUIRED · 2 min · RE-ENTRY: Sessions 2 and 3 also open on this slide (re-read the Big Question; ask 'What evidence have we collected so far?') - 1 / 0.5 min</a:t>
            </a:r>
          </a:p>
          <a:p>
            <a:r>
              <a:t>STUDENT RESOURCE Guided Notes p.1 (BQ box)</a:t>
            </a:r>
          </a:p>
          <a:p>
            <a:r>
              <a:t>ASK What change have you seen happen today?</a:t>
            </a:r>
          </a:p>
          <a:p>
            <a:r>
              <a:t>LISTEN FOR any observable change (light, sound, movement)</a:t>
            </a:r>
          </a:p>
          <a:p>
            <a:r>
              <a:t>REVEAL Do not answer the BQ yet — we collect evidence first.</a:t>
            </a:r>
          </a:p>
          <a:p>
            <a:r>
              <a:t>NEXT Session 1: My first thinking (slide 3) · Session 2: Forms of energy (slide 17) · Session 3: Recognizing evidence (slide 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p.1 top</a:t>
            </a:r>
          </a:p>
          <a:p>
            <a:r>
              <a:t>ASK What change have you seen? Write your first idea.</a:t>
            </a:r>
          </a:p>
          <a:p>
            <a:r>
              <a:t>LISTEN FOR students naming a change (not 'energy')</a:t>
            </a:r>
          </a:p>
          <a:p>
            <a:r>
              <a:t>MISCONCEPTION Accept any change; do not correct yet.</a:t>
            </a:r>
          </a:p>
          <a:p>
            <a:r>
              <a:t>NEXT Observe the light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2 min</a:t>
            </a:r>
          </a:p>
          <a:p>
            <a:r>
              <a:t>PLAN Session 1 (Mon 10/12) · OPTIONAL - skip freely · 2 min</a:t>
            </a:r>
          </a:p>
          <a:p>
            <a:r>
              <a:t>STUDENT RESOURCE Reader p.1</a:t>
            </a:r>
          </a:p>
          <a:p>
            <a:r>
              <a:t>ASK What changed when I flipped the switch?</a:t>
            </a:r>
          </a:p>
          <a:p>
            <a:r>
              <a:t>LISTEN FOR 'the room got bright' / 'light came on'</a:t>
            </a:r>
          </a:p>
          <a:p>
            <a:r>
              <a:t>REVEAL The room changed from dark to light — a change.</a:t>
            </a:r>
          </a:p>
          <a:p>
            <a:r>
              <a:t>NEXT Notice &amp; wonder.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discuss</a:t>
            </a:r>
          </a:p>
          <a:p>
            <a:r>
              <a:t>TIME 2 min</a:t>
            </a:r>
          </a:p>
          <a:p>
            <a:r>
              <a:t>PLAN Session 1 (Mon 10/12) · OPTIONAL - skip freely · 2 min</a:t>
            </a:r>
          </a:p>
          <a:p>
            <a:r>
              <a:t>STUDENT RESOURCE none</a:t>
            </a:r>
          </a:p>
          <a:p>
            <a:r>
              <a:t>ASK What did you notice? What do you wonder?</a:t>
            </a:r>
          </a:p>
          <a:p>
            <a:r>
              <a:t>LISTEN FOR change words and curiosity</a:t>
            </a:r>
          </a:p>
          <a:p>
            <a:r>
              <a:t>NEXT Electric pencil sharpener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none (live demo)</a:t>
            </a:r>
          </a:p>
          <a:p>
            <a:r>
              <a:t>ASK What does the pencil look and sound like right now?</a:t>
            </a:r>
          </a:p>
          <a:p>
            <a:r>
              <a:t>LISTEN FOR dull, flat, quiet, still</a:t>
            </a:r>
          </a:p>
          <a:p>
            <a:r>
              <a:t>NEXT Predict before sharpening.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predict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none</a:t>
            </a:r>
          </a:p>
          <a:p>
            <a:r>
              <a:t>ASK What will change about the pencil? The sharpener?</a:t>
            </a:r>
          </a:p>
          <a:p>
            <a:r>
              <a:t>LISTEN FOR shorter, sharper, noise</a:t>
            </a:r>
          </a:p>
          <a:p>
            <a:r>
              <a:t>REVEAL Do not confirm yet — run the demo.</a:t>
            </a:r>
          </a:p>
          <a:p>
            <a:r>
              <a:t>NEXT Observe the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observe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none</a:t>
            </a:r>
          </a:p>
          <a:p>
            <a:r>
              <a:t>ASK Name every change you saw or heard.</a:t>
            </a:r>
          </a:p>
          <a:p>
            <a:r>
              <a:t>LISTEN FOR shorter, sharper, noise</a:t>
            </a:r>
          </a:p>
          <a:p>
            <a:r>
              <a:t>REVEAL Record all three changes.</a:t>
            </a:r>
          </a:p>
          <a:p>
            <a:r>
              <a:t>NEXT Turn changes into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Demo · evidence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Reader p.2 (Change Is Evidence of Energy)</a:t>
            </a:r>
          </a:p>
          <a:p>
            <a:r>
              <a:t>ASK How do we know energy was here if we can't see it?</a:t>
            </a:r>
          </a:p>
          <a:p>
            <a:r>
              <a:t>LISTEN FOR 'we saw the change' / 'clues'</a:t>
            </a:r>
          </a:p>
          <a:p>
            <a:r>
              <a:t>REVEAL The word EVIDENCE is introduced from the Reader on slide 14 - do not name it here; the '?' box stays open.</a:t>
            </a:r>
          </a:p>
          <a:p>
            <a:r>
              <a:t>MISCONCEPTION We see the change, not the energy itself.</a:t>
            </a:r>
          </a:p>
          <a:p>
            <a:r>
              <a:t>NEXT Vocabulary: energy +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Guided Notes V1</a:t>
            </a:r>
          </a:p>
          <a:p>
            <a:r>
              <a:t>ASK Read each definition together. Use each word in a sentence.</a:t>
            </a:r>
          </a:p>
          <a:p>
            <a:r>
              <a:t>LISTEN FOR 'energy causes change' and 'to become different'</a:t>
            </a:r>
          </a:p>
          <a:p>
            <a:r>
              <a:t>REVEAL Full definitions shown — these are the two V1 terms.</a:t>
            </a:r>
          </a:p>
          <a:p>
            <a:r>
              <a:t>NEXT Record V1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V1 (Reader p.1)</a:t>
            </a:r>
          </a:p>
          <a:p>
            <a:r>
              <a:t>ASK Fill in each blank.</a:t>
            </a:r>
          </a:p>
          <a:p>
            <a:r>
              <a:t>LISTEN FOR 'change' and 'different'</a:t>
            </a:r>
          </a:p>
          <a:p>
            <a:r>
              <a:t>REVEAL Reveal after students write.</a:t>
            </a:r>
          </a:p>
          <a:p>
            <a:r>
              <a:t>NEXT Check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V1 reveal</a:t>
            </a:r>
          </a:p>
          <a:p>
            <a:r>
              <a:t>TIME 0.5 min</a:t>
            </a:r>
          </a:p>
          <a:p>
            <a:r>
              <a:t>PLAN Session 1 (Mon 10/12) · REQUIRED · 0.5 min</a:t>
            </a:r>
          </a:p>
          <a:p>
            <a:r>
              <a:t>STUDENT RESOURCE Guided Notes V1</a:t>
            </a:r>
          </a:p>
          <a:p>
            <a:r>
              <a:t>REVEAL change · different</a:t>
            </a:r>
          </a:p>
          <a:p>
            <a:r>
              <a:t>NEXT Energy Causes Change (N1).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concept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Reader p.1</a:t>
            </a:r>
          </a:p>
          <a:p>
            <a:r>
              <a:t>ASK What is energy?</a:t>
            </a:r>
          </a:p>
          <a:p>
            <a:r>
              <a:t>LISTEN FOR 'the ability to cause change'</a:t>
            </a:r>
          </a:p>
          <a:p>
            <a:r>
              <a:t>REVEAL Energy is the ability to cause change.</a:t>
            </a:r>
          </a:p>
          <a:p>
            <a:r>
              <a:t>NEXT Change is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3 min</a:t>
            </a:r>
          </a:p>
          <a:p>
            <a:r>
              <a:t>PLAN Session 1 (Mon 10/12) · REQUIRED · 3 min</a:t>
            </a:r>
          </a:p>
          <a:p>
            <a:r>
              <a:t>STUDENT RESOURCE Reader p.2</a:t>
            </a:r>
          </a:p>
          <a:p>
            <a:r>
              <a:t>ASK What changes can you find at the seashore? What are those changes a clue about?</a:t>
            </a:r>
          </a:p>
          <a:p>
            <a:r>
              <a:t>LISTEN FOR 'evidence' / 'a clue' / 'energy is there'</a:t>
            </a:r>
          </a:p>
          <a:p>
            <a:r>
              <a:t>LANGUAGE The Reader says 'evidence, or proof.' Teach and use the word EVIDENCE (it is in the Big Question). If a student says 'proof', accept it and restate: 'Yes - we say evidence.'</a:t>
            </a:r>
          </a:p>
          <a:p>
            <a:r>
              <a:t>REVEAL Keep the third box as '?' - students name it on the next slide's notes, then slide 16 completes the model.</a:t>
            </a:r>
          </a:p>
          <a:p>
            <a:r>
              <a:t>NEXT Record N1 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anchor</a:t>
            </a:r>
          </a:p>
          <a:p>
            <a:r>
              <a:t>TIME 2 min</a:t>
            </a:r>
          </a:p>
          <a:p>
            <a:r>
              <a:t>PLAN Session 1 (Mon 10/12) · REQUIRED · 2 min</a:t>
            </a:r>
          </a:p>
          <a:p>
            <a:r>
              <a:t>STUDENT RESOURCE Guided Notes N1 (Reader pp.1–2)</a:t>
            </a:r>
          </a:p>
          <a:p>
            <a:r>
              <a:t>ASK Fill in the one blank in the sentence. The last box of the model on the notes page is empty on purpose - do not fill it yet.</a:t>
            </a:r>
          </a:p>
          <a:p>
            <a:r>
              <a:t>LISTEN FOR evidence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N1 reveal</a:t>
            </a:r>
          </a:p>
          <a:p>
            <a:r>
              <a:t>TIME 1 min</a:t>
            </a:r>
          </a:p>
          <a:p>
            <a:r>
              <a:t>PLAN Session 1 (Mon 10/12) · REQUIRED · 1 min</a:t>
            </a:r>
          </a:p>
          <a:p>
            <a:r>
              <a:t>STUDENT RESOURCE Guided Notes N1</a:t>
            </a:r>
          </a:p>
          <a:p>
            <a:r>
              <a:t>REVEAL evidence (accept 'proof' once, then restate 'evidence'). Students check their sentence, then copy the word into the empty last box of the model on the notes page.</a:t>
            </a:r>
          </a:p>
          <a:p>
            <a:r>
              <a:t>NEXT Close Session 1. Session 2 opens on slide 2 (the Big Question).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forms</a:t>
            </a:r>
          </a:p>
          <a:p>
            <a:r>
              <a:t>TIME 3 min</a:t>
            </a:r>
          </a:p>
          <a:p>
            <a:r>
              <a:t>PLAN Session 2 (Tue 10/13) · REQUIRED · 3 min</a:t>
            </a:r>
          </a:p>
          <a:p>
            <a:r>
              <a:t>STUDENT RESOURCE Reader p.3</a:t>
            </a:r>
          </a:p>
          <a:p>
            <a:r>
              <a:t>ASK What forms of energy do you see or hear on a carousel?</a:t>
            </a:r>
          </a:p>
          <a:p>
            <a:r>
              <a:t>LISTEN FOR motion, sound, light, heat, electrical</a:t>
            </a:r>
          </a:p>
          <a:p>
            <a:r>
              <a:t>REVEAL Model ONLY the motion example. Do not supply examples for the other four forms - students write their own on slide 19.</a:t>
            </a:r>
          </a:p>
          <a:p>
            <a:r>
              <a:t>NEXT Record examples on notes (N2).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forms</a:t>
            </a:r>
          </a:p>
          <a:p>
            <a:r>
              <a:t>TIME 2 min</a:t>
            </a:r>
          </a:p>
          <a:p>
            <a:r>
              <a:t>PLAN Session 2 (Tue 10/13) · OPTIONAL - skip freely · 2 min</a:t>
            </a:r>
          </a:p>
          <a:p>
            <a:r>
              <a:t>STUDENT RESOURCE Reader p.3</a:t>
            </a:r>
          </a:p>
          <a:p>
            <a:r>
              <a:t>ASK What forms of energy can you observe when you clap?</a:t>
            </a:r>
          </a:p>
          <a:p>
            <a:r>
              <a:t>LISTEN FOR motion, sound, and maybe heat (students name them - not shown on the slide)</a:t>
            </a:r>
          </a:p>
          <a:p>
            <a:r>
              <a:t>NEXT Record N2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N2 anchor</a:t>
            </a:r>
          </a:p>
          <a:p>
            <a:r>
              <a:t>TIME 5 min</a:t>
            </a:r>
          </a:p>
          <a:p>
            <a:r>
              <a:t>PLAN Session 2 (Tue 10/13) · REQUIRED · 5 min</a:t>
            </a:r>
          </a:p>
          <a:p>
            <a:r>
              <a:t>STUDENT RESOURCE Guided Notes N2 (Reader p.3)</a:t>
            </a:r>
          </a:p>
          <a:p>
            <a:r>
              <a:t>ASK Write one example per form. Then turn &amp; talk: share two examples with a partner and add one new idea from your partner.</a:t>
            </a:r>
          </a:p>
          <a:p>
            <a:r>
              <a:t>LISTEN FOR carousel examples, clap examples, home/school examples - accept any real example that shows a change</a:t>
            </a:r>
          </a:p>
          <a:p>
            <a:r>
              <a:t>REVEAL There is no answer slide for N2. Circulate; use student examples as the check.</a:t>
            </a:r>
          </a:p>
          <a:p>
            <a:r>
              <a:t>NEXT Stored energy (V2).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Vocabulary · TEACH</a:t>
            </a:r>
          </a:p>
          <a:p>
            <a:r>
              <a:t>TIME 3 min</a:t>
            </a:r>
          </a:p>
          <a:p>
            <a:r>
              <a:t>PLAN Session 2 (Tue 10/13) · REQUIRED · 3 min</a:t>
            </a:r>
          </a:p>
          <a:p>
            <a:r>
              <a:t>STUDENT RESOURCE Guided Notes V2 (Reader p.4)</a:t>
            </a:r>
          </a:p>
          <a:p>
            <a:r>
              <a:t>ASK What does the word 'later' tell us about when the change can happen? (Save examples for slide 23.)</a:t>
            </a:r>
          </a:p>
          <a:p>
            <a:r>
              <a:t>LISTEN FOR 'not right now - after'</a:t>
            </a:r>
          </a:p>
          <a:p>
            <a:r>
              <a:t>REVEAL stored energy = ability to cause change at a later time.</a:t>
            </a:r>
          </a:p>
          <a:p>
            <a:r>
              <a:t>NEXT Record V2.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anchor</a:t>
            </a:r>
          </a:p>
          <a:p>
            <a:r>
              <a:t>TIME 1 min</a:t>
            </a:r>
          </a:p>
          <a:p>
            <a:r>
              <a:t>PLAN Session 2 (Tue 10/13) · REQUIRED · 1 min</a:t>
            </a:r>
          </a:p>
          <a:p>
            <a:r>
              <a:t>STUDENT RESOURCE Guided Notes V2 (Reader p.4)</a:t>
            </a:r>
          </a:p>
          <a:p>
            <a:r>
              <a:t>ASK Fill in the blank.</a:t>
            </a:r>
          </a:p>
          <a:p>
            <a:r>
              <a:t>LISTEN FOR 'later'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V2 reveal</a:t>
            </a:r>
          </a:p>
          <a:p>
            <a:r>
              <a:t>TIME 0.5 min</a:t>
            </a:r>
          </a:p>
          <a:p>
            <a:r>
              <a:t>PLAN Session 2 (Tue 10/13) · REQUIRED · 0.5 min</a:t>
            </a:r>
          </a:p>
          <a:p>
            <a:r>
              <a:t>STUDENT RESOURCE Guided Notes V2</a:t>
            </a:r>
          </a:p>
          <a:p>
            <a:r>
              <a:t>REVEAL later</a:t>
            </a:r>
          </a:p>
          <a:p>
            <a:r>
              <a:t>NEXT Objects can store energy (N3).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predict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p.4</a:t>
            </a:r>
          </a:p>
          <a:p>
            <a:r>
              <a:t>ASK Does a still battery have energy? Take yes/no predictions and reasons - do not confirm yet.</a:t>
            </a:r>
          </a:p>
          <a:p>
            <a:r>
              <a:t>LISTEN FOR 'yes' / 'no' with a reason; accept any prediction</a:t>
            </a:r>
          </a:p>
          <a:p>
            <a:r>
              <a:t>REVEAL After students predict, read the battery paragraph on Reader p. 4 aloud: the chemicals inside a battery store energy. The screen stays a question; slide 25 shows the Reader fact.</a:t>
            </a:r>
          </a:p>
          <a:p>
            <a:r>
              <a:t>MISCONCEPTION Only moving objects have energy → pair moving + stored.</a:t>
            </a:r>
          </a:p>
          <a:p>
            <a:r>
              <a:t>NEXT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position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p.5</a:t>
            </a:r>
          </a:p>
          <a:p>
            <a:r>
              <a:t>ASK Why does a raised apple have stored energy?</a:t>
            </a:r>
          </a:p>
          <a:p>
            <a:r>
              <a:t>LISTEN FOR 'because of its position'</a:t>
            </a:r>
          </a:p>
          <a:p>
            <a:r>
              <a:t>NEXT Build the stored-energy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model</a:t>
            </a:r>
          </a:p>
          <a:p>
            <a:r>
              <a:t>TIME 2 min</a:t>
            </a:r>
          </a:p>
          <a:p>
            <a:r>
              <a:t>PLAN Session 2 (Tue 10/13) · REQUIRED · 2 min</a:t>
            </a:r>
          </a:p>
          <a:p>
            <a:r>
              <a:t>STUDENT RESOURCE Reader p.4</a:t>
            </a:r>
          </a:p>
          <a:p>
            <a:r>
              <a:t>REVEAL (closes the slide 23 prediction) The Reader says chemicals inside a battery store energy - so yes, a still battery has energy. Do not say what the flashlight does yet: students write that in the N3 table.</a:t>
            </a:r>
          </a:p>
          <a:p>
            <a:r>
              <a:t>ASK Trace: stored → release → change.</a:t>
            </a:r>
          </a:p>
          <a:p>
            <a:r>
              <a:t>LISTEN FOR rubber band SNAP example</a:t>
            </a:r>
          </a:p>
          <a:p>
            <a:r>
              <a:t>NEXT Record N3 on notes.</a:t>
            </a:r>
          </a:p>
          <a:p>
            <a:r>
              <a:t>----</a:t>
            </a:r>
          </a:p>
          <a:p>
            <a:r>
              <a:t>MEDIA (Phase 5H supplemental — NOT canonical text):</a:t>
            </a:r>
          </a:p>
          <a:p>
            <a:r>
              <a:t>OPTIONAL VIDEO embedded on this slide: Stored_Energy.mp4 (4:37, click-to-play, no autoplay).</a:t>
            </a:r>
          </a:p>
          <a:p>
            <a:r>
              <a:t>Play after the STORED→RELEASE→CHANGE trace. Pre-view once before class.</a:t>
            </a:r>
          </a:p>
          <a:p>
            <a:r>
              <a:t>FALLBACK: if the video does not play, skip it — the STORED→RELEASE→CHANGE model plus the live battery / rubber-band / raised-apple examples fully cover N3. No required learning depends on 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anchor</a:t>
            </a:r>
          </a:p>
          <a:p>
            <a:r>
              <a:t>TIME 4 min</a:t>
            </a:r>
          </a:p>
          <a:p>
            <a:r>
              <a:t>PLAN Session 2 (Tue 10/13) · REQUIRED · 4 min</a:t>
            </a:r>
          </a:p>
          <a:p>
            <a:r>
              <a:t>STUDENT RESOURCE Guided Notes N3 (Reader pp.4–5)</a:t>
            </a:r>
          </a:p>
          <a:p>
            <a:r>
              <a:t>ASK Fill in the blank; note the three examples.</a:t>
            </a:r>
          </a:p>
          <a:p>
            <a:r>
              <a:t>LISTEN FOR 'position'</a:t>
            </a:r>
          </a:p>
          <a:p>
            <a:r>
              <a:t>REVEAL Reveal after writing.</a:t>
            </a:r>
          </a:p>
          <a:p>
            <a:r>
              <a:t>NEXT Check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N3 reveal</a:t>
            </a:r>
          </a:p>
          <a:p>
            <a:r>
              <a:t>TIME 1 min</a:t>
            </a:r>
          </a:p>
          <a:p>
            <a:r>
              <a:t>PLAN Session 2 (Tue 10/13) · REQUIRED · 1 min</a:t>
            </a:r>
          </a:p>
          <a:p>
            <a:r>
              <a:t>STUDENT RESOURCE Guided Notes N3</a:t>
            </a:r>
          </a:p>
          <a:p>
            <a:r>
              <a:t>REVEAL position. Table cells show SAMPLE answers only - accept any reasonable later change.</a:t>
            </a:r>
          </a:p>
          <a:p>
            <a:r>
              <a:t>NEXT Close Session 2. Session 3 opens on slide 2 (the Big Question), then N4.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Read · evidence</a:t>
            </a:r>
          </a:p>
          <a:p>
            <a:r>
              <a:t>TIME 2 min</a:t>
            </a:r>
          </a:p>
          <a:p>
            <a:r>
              <a:t>PLAN Session 3 (Fri 10/16) · REQUIRED · 2 min</a:t>
            </a:r>
          </a:p>
          <a:p>
            <a:r>
              <a:t>STUDENT RESOURCE Reader pp.1–5</a:t>
            </a:r>
          </a:p>
          <a:p>
            <a:r>
              <a:t>ASK What clues could show that energy is at work? (Do not give the CHECK YOUR THINKING answer yet.)</a:t>
            </a:r>
          </a:p>
          <a:p>
            <a:r>
              <a:t>LISTEN FOR movement, sound, light, heat, something different</a:t>
            </a:r>
          </a:p>
          <a:p>
            <a:r>
              <a:t>LANGUAGE Say evidence (not proof).</a:t>
            </a:r>
          </a:p>
          <a:p>
            <a:r>
              <a:t>FRIDAY CLOCK The quiz is handed out NO LATER THAN MINUTE 12. Priority: N4 draw &gt; BQ NOW I THINK &gt; CHECK YOUR THINKING. Minute 6: N4 should be done.</a:t>
            </a:r>
          </a:p>
          <a:p>
            <a:r>
              <a:t>NEXT Draw before/after (N4).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N4 anchor</a:t>
            </a:r>
          </a:p>
          <a:p>
            <a:r>
              <a:t>TIME 3.5 min</a:t>
            </a:r>
          </a:p>
          <a:p>
            <a:r>
              <a:t>PLAN Session 3 (Fri 10/16) · REQUIRED · 3.5 min</a:t>
            </a:r>
          </a:p>
          <a:p>
            <a:r>
              <a:t>STUDENT RESOURCE Guided Notes N4 (Reader pp.1–5)</a:t>
            </a:r>
          </a:p>
          <a:p>
            <a:r>
              <a:t>ASK Draw one change before and after; write what changed.</a:t>
            </a:r>
          </a:p>
          <a:p>
            <a:r>
              <a:t>LISTEN FOR clear before/after pairs</a:t>
            </a:r>
          </a:p>
          <a:p>
            <a:r>
              <a:t>NEXT Check your thinking.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Check Your Thinking</a:t>
            </a:r>
          </a:p>
          <a:p>
            <a:r>
              <a:t>TIME 2.5 min</a:t>
            </a:r>
          </a:p>
          <a:p>
            <a:r>
              <a:t>PLAN Session 3 (Fri 10/16) · REQUIRED · 2.5 min</a:t>
            </a:r>
          </a:p>
          <a:p>
            <a:r>
              <a:t>STUDENT RESOURCE Guided Notes N4</a:t>
            </a:r>
          </a:p>
          <a:p>
            <a:r>
              <a:t>FRIDAY CLOCK Past minute 6 when you reach this slide? SKIP slides 30-31 (CHECK YOUR THINKING goes home / catch-up) and go straight to slide 33.</a:t>
            </a:r>
          </a:p>
          <a:p>
            <a:r>
              <a:t>ASK Complete the sentence starter.</a:t>
            </a:r>
          </a:p>
          <a:p>
            <a:r>
              <a:t>LISTEN FOR 'a change, like a ball starting to move'</a:t>
            </a:r>
          </a:p>
          <a:p>
            <a:r>
              <a:t>REVEAL Do not show slide 31 until most students have written.</a:t>
            </a:r>
          </a:p>
          <a:p>
            <a:r>
              <a:t>NEXT Reveal a sample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evidence</a:t>
            </a:r>
          </a:p>
          <a:p>
            <a:r>
              <a:t>TIME 1 min</a:t>
            </a:r>
          </a:p>
          <a:p>
            <a:r>
              <a:t>PLAN Session 3 (Fri 10/16) · REQUIRED · 1 min</a:t>
            </a:r>
          </a:p>
          <a:p>
            <a:r>
              <a:t>STUDENT RESOURCE Guided Notes N4</a:t>
            </a:r>
          </a:p>
          <a:p>
            <a:r>
              <a:t>REVEAL Sample response (accept any change-as-evidence).</a:t>
            </a:r>
          </a:p>
          <a:p>
            <a:r>
              <a:t>NEXT Apply: classify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Apply · evidence</a:t>
            </a:r>
          </a:p>
          <a:p>
            <a:r>
              <a:t>TIME 2 min</a:t>
            </a:r>
          </a:p>
          <a:p>
            <a:r>
              <a:t>PLAN Session 3 (Fri 10/16) · OPTIONAL - skip freely · 2 min</a:t>
            </a:r>
          </a:p>
          <a:p>
            <a:r>
              <a:t>STUDENT RESOURCE none</a:t>
            </a:r>
          </a:p>
          <a:p>
            <a:r>
              <a:t>ASK Which one shows a change (energy at work)?</a:t>
            </a:r>
          </a:p>
          <a:p>
            <a:r>
              <a:t>LISTEN FOR 'the toy car'</a:t>
            </a:r>
          </a:p>
          <a:p>
            <a:r>
              <a:t>REVEAL The toy car starts to roll — a change. Then say aloud: 'Look for a change — that is the evidence of energy.' (Spoken after the vote; it is not on the question slide.)</a:t>
            </a:r>
          </a:p>
          <a:p>
            <a:r>
              <a:t>NEXT Return to the Big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Notes · BQ return</a:t>
            </a:r>
          </a:p>
          <a:p>
            <a:r>
              <a:t>TIME 2.5 min</a:t>
            </a:r>
          </a:p>
          <a:p>
            <a:r>
              <a:t>PLAN Session 3 (Fri 10/16) · REQUIRED · 2.5 min</a:t>
            </a:r>
          </a:p>
          <a:p>
            <a:r>
              <a:t>STUDENT RESOURCE Guided Notes p.3</a:t>
            </a:r>
          </a:p>
          <a:p>
            <a:r>
              <a:t>FRIDAY CLOCK Start this slide by minute 9.5; if you are later, do NOT start it before the quiz - students write it after handing in the quiz or at home / in catch-up. The quiz is handed out by minute 12.</a:t>
            </a:r>
          </a:p>
          <a:p>
            <a:r>
              <a:t>ASK Answer the Big Question now.</a:t>
            </a:r>
          </a:p>
          <a:p>
            <a:r>
              <a:t>LISTEN FOR any change named as evidence</a:t>
            </a:r>
          </a:p>
          <a:p>
            <a:r>
              <a:t>NEXT Friday quiz (Session 3). Optional end-of-chapter review slides 34-45 are for a review day or FLEX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Q1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the ability to cause change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Q2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It gets shorter and sharper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Q3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A stretched rubber band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Q4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motion and sound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Q5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We observe a change happen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Q6</a:t>
            </a:r>
          </a:p>
          <a:p>
            <a:r>
              <a:t>TIME 1 min</a:t>
            </a:r>
          </a:p>
          <a:p>
            <a:r>
              <a:t>PLAN OPTIONAL · end-of-chapter review (review day / Friday FLEX only; never inside a required block) · 1 min</a:t>
            </a:r>
          </a:p>
          <a:p>
            <a:r>
              <a:t>STUDENT RESOURCE none</a:t>
            </a:r>
          </a:p>
          <a:p>
            <a:r>
              <a:t>ASK Read aloud; students vote A/B/C/D.</a:t>
            </a:r>
          </a:p>
          <a:p>
            <a:r>
              <a:t>REVEAL Do not reveal yet.</a:t>
            </a:r>
          </a:p>
          <a:p>
            <a:r>
              <a:t>NEXT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 Check · review Q6 answer</a:t>
            </a:r>
          </a:p>
          <a:p>
            <a:r>
              <a:t>TIME 0.5 min</a:t>
            </a:r>
          </a:p>
          <a:p>
            <a:r>
              <a:t>PLAN OPTIONAL · end-of-chapter review (review day / Friday FLEX only; never inside a required block) · 0.5 min</a:t>
            </a:r>
          </a:p>
          <a:p>
            <a:r>
              <a:t>REVEAL Yes — stored energy that can cause change later</a:t>
            </a:r>
          </a:p>
          <a:p>
            <a:r>
              <a:t>NEXT Next question (or close).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5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01-opener-643x7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54496" y="0"/>
            <a:ext cx="54864" cy="6858000"/>
          </a:xfrm>
          <a:prstGeom prst="rect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66928"/>
            <a:ext cx="4023360" cy="50292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 rIns="13716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venir Next"/>
              </a:rPr>
              <a:t>CHAPTER 1 · GRADE 4 · 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5486400" cy="14630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Georgia"/>
              </a:rPr>
              <a:t>Energy Causes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98648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D8DCE4"/>
                </a:solidFill>
                <a:latin typeface="Avenir Next"/>
              </a:rPr>
              <a:t>Discovery /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65576"/>
            <a:ext cx="548640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666488"/>
            <a:ext cx="1584960" cy="65836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15896" y="4849368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45080" y="4666488"/>
            <a:ext cx="1584960" cy="65836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6616" y="4849368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95799" y="4666488"/>
            <a:ext cx="1584960" cy="65836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23560"/>
            <a:ext cx="5486400" cy="731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D8DCE4"/>
                </a:solidFill>
                <a:latin typeface="Avenir Next"/>
              </a:rPr>
              <a:t>Unit 1 · Energy Transfer &amp; Transformation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Big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1183112" cy="1737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515600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4A5268"/>
                </a:solidFill>
                <a:latin typeface="Avenir Next"/>
              </a:rPr>
              <a:t>Keep it in mind all chapter. We will come back to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8056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Think: What is ONE change you have seen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Big Question — My first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F2A5A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My first thinking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71600" y="438912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1–2 quick ideas. No wrong answer yet.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What changed?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 — you walk into a dark room and flip a switch.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3794759" cy="39392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DARK room</a:t>
            </a:r>
          </a:p>
        </p:txBody>
      </p:sp>
      <p:pic>
        <p:nvPicPr>
          <p:cNvPr id="10" name="Picture 9" descr="s04-dark-375x2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832608"/>
            <a:ext cx="3429000" cy="2571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514086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hard to see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1999" y="2148840"/>
            <a:ext cx="3794759" cy="39392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2331720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BRIGHT room</a:t>
            </a:r>
          </a:p>
        </p:txBody>
      </p:sp>
      <p:pic>
        <p:nvPicPr>
          <p:cNvPr id="14" name="Picture 13" descr="s04-bright-375x2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79" y="2832608"/>
            <a:ext cx="3429000" cy="25717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54879" y="5514086"/>
            <a:ext cx="3428999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light fills the room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2148840"/>
            <a:ext cx="73152" cy="3939286"/>
          </a:xfrm>
          <a:prstGeom prst="rect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148840"/>
            <a:ext cx="2770632" cy="393928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Something became different.
That is a change.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329184"/>
            <a:ext cx="2514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TURN &amp; TALK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I notice…  I wonder…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I NOTICE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room is different now.
Light is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12064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I WONDER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926080"/>
            <a:ext cx="4572000" cy="1645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What made the light
change so fast?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0352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Share one notice and one wonder with a partner.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Electric Pencil Sharpener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Observe the pencil BEFORE we sharpen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286000"/>
            <a:ext cx="850392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2560320"/>
            <a:ext cx="795527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200400"/>
            <a:ext cx="7955279" cy="1463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dull pencil — tip is flat, and it is quiet.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Look closely. What do you see? What do you hear?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Predict: what will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Think before we turn it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377440"/>
            <a:ext cx="94183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5176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When the sharpener runs, the pencil will…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get  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1206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Make a prediction. Say it to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What changed?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94560"/>
            <a:ext cx="28575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24917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491740" cy="1920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dull tip · quiet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80460" y="2194560"/>
            <a:ext cx="285750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3340" y="2331720"/>
            <a:ext cx="24917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3340" y="2880360"/>
            <a:ext cx="2491740" cy="1920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shorter · sharper · humming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60" y="2194560"/>
            <a:ext cx="4937760" cy="274320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23774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926080"/>
            <a:ext cx="4480560" cy="182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• the tip is sharper
• the pencil is shorter
• it makes a sound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55480" y="329184"/>
            <a:ext cx="17830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How do we know energy was involved?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Energy can be invisible. We look for the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14215" y="277977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63255" y="277977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83879" y="246888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31920"/>
            <a:ext cx="1069848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The pencil got shorter and sharper and made a sound.
Those changes are clues that energy was involved.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Vocabulary — Energy &amp;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5440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544068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51960" y="2295144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33375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2560320" cy="7909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Georgia"/>
              </a:rP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4468"/>
            <a:ext cx="2560320" cy="853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pic>
        <p:nvPicPr>
          <p:cNvPr id="13" name="Picture 12" descr="s10-energy-220x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898648"/>
            <a:ext cx="2011680" cy="1984248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822960" y="5065776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0120" y="5193792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12948" y="5349240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51860" y="5193792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017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1965960"/>
            <a:ext cx="544068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5352" y="1965960"/>
            <a:ext cx="5440680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94392" y="2295144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331720"/>
            <a:ext cx="33375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2898648"/>
            <a:ext cx="4800600" cy="7909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Georgia"/>
              </a:rPr>
              <a:t>change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744468"/>
            <a:ext cx="4800600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to become different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4318508"/>
            <a:ext cx="4800600" cy="82296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02552" y="4446524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BEFORE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55380" y="4601972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94292" y="4446524"/>
            <a:ext cx="2034540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AFTER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598017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— the ability to cause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change — to become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each blank.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Energy &amp;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energy — the ability to cause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change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change — to become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different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change  ·  different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38360" y="329184"/>
            <a:ext cx="16002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RECITE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What is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789920" cy="2011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9966960" cy="12801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800" b="1" i="0">
                <a:solidFill>
                  <a:srgbClr val="FFFFFF"/>
                </a:solidFill>
                <a:latin typeface="Avenir Next"/>
              </a:rPr>
              <a:t>Energy is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57200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Say it together: “Energy is the ability to cause change.”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Look at the seashore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2 — the seashore changes all around us.</a:t>
            </a:r>
          </a:p>
        </p:txBody>
      </p:sp>
      <p:pic>
        <p:nvPicPr>
          <p:cNvPr id="8" name="Picture 7" descr="s14-seashore-660x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6035040" cy="324612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02920" y="5559552"/>
            <a:ext cx="3422904" cy="77724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62400" y="5801868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3024" y="5559552"/>
            <a:ext cx="3422904" cy="77724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42504" y="5801868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63128" y="5559552"/>
            <a:ext cx="3422904" cy="77724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3000" b="1" i="0">
                <a:solidFill>
                  <a:srgbClr val="FFFFFF"/>
                </a:solidFill>
                <a:latin typeface="Avenir Next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03120"/>
            <a:ext cx="4873752" cy="3246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Read Reader p. 2.
Waves move. Sand shifts. Water makes sound.
What are these changes a clue about?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Causes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has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When you see a change, you are seeing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of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14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sentence. Leave the last box of your model empty for now.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Causes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has the ability to cause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When you see a change, you are seeing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evidence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of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ENERGY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81856" y="4379976"/>
            <a:ext cx="33832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5676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367015" y="4379976"/>
            <a:ext cx="33832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41920" y="4114800"/>
            <a:ext cx="2773680" cy="8229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257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Now write the same word in the last box of your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Energy has different 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3 — think of a spinning carousel.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1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17-f_motion-213x1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3" y="2176272"/>
            <a:ext cx="1956815" cy="180136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4068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motion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5204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17-f_sound-213x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56" y="2176272"/>
            <a:ext cx="1956815" cy="180136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811780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2916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17-f_light-213x1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068" y="2176272"/>
            <a:ext cx="1956815" cy="180136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79492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light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0627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17-f_heat-213x1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79" y="2176272"/>
            <a:ext cx="1956815" cy="180136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347203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heat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8340" y="2103120"/>
            <a:ext cx="2103120" cy="2697479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17-f_elec-213x19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1492" y="2176272"/>
            <a:ext cx="1956815" cy="1801367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614915" y="3995927"/>
            <a:ext cx="2029967" cy="768096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electrical 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83480"/>
            <a:ext cx="11183112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 the carousel, the horses spin and move up and down.
That is motion.
Find the other forms in the Reader.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9184"/>
            <a:ext cx="19659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OBSERVE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Clap three times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What forms of energy do you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286000"/>
            <a:ext cx="9418320" cy="2926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606040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When you clap…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886968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What do you SEE?
What do you HEAR?
What do you FEEL in your hands?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Energy Occurs in Different Forms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Write one example that shows a change for each 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06040"/>
            <a:ext cx="3108960" cy="54864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9748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FFFFFF"/>
                </a:solidFill>
                <a:latin typeface="Avenir Next"/>
              </a:rPr>
              <a:t>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4488" y="2606040"/>
            <a:ext cx="7781544" cy="54864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41648" y="2715768"/>
            <a:ext cx="7507223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ONE EXAMPLE THAT SHOWS A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5468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04488" y="315468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79476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8" y="379476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443484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79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light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04488" y="443484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07492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66359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heat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04488" y="507492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5715000"/>
            <a:ext cx="3108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electrical energy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04488" y="5715000"/>
            <a:ext cx="7781544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Vocabulary — Stored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65960"/>
            <a:ext cx="11183112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11183112" cy="146304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994392" y="2295144"/>
            <a:ext cx="1463040" cy="457200"/>
          </a:xfrm>
          <a:prstGeom prst="roundRect">
            <a:avLst>
              <a:gd name="adj" fmla="val 8000"/>
            </a:avLst>
          </a:prstGeom>
          <a:solidFill>
            <a:srgbClr val="E3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1F2A5A"/>
                </a:solidFill>
                <a:latin typeface="Avenir Next"/>
              </a:rPr>
              <a:t>TEACH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9079992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98648"/>
            <a:ext cx="10543032" cy="7909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5400" b="1" i="0">
                <a:solidFill>
                  <a:srgbClr val="1F2A5A"/>
                </a:solidFill>
                <a:latin typeface="Georgia"/>
              </a:rPr>
              <a:t>stored 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4468"/>
            <a:ext cx="10543032" cy="391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that has the ability to cause change at a later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318508"/>
            <a:ext cx="10543032" cy="82296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" y="4446524"/>
            <a:ext cx="3118104" cy="56692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STILL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96511" y="4601972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35424" y="4446524"/>
            <a:ext cx="3118104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LATER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71816" y="4601972"/>
            <a:ext cx="420624" cy="256032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10728" y="4446524"/>
            <a:ext cx="3118104" cy="566928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980176"/>
            <a:ext cx="105430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4A5268"/>
                </a:solidFill>
                <a:latin typeface="Avenir Next"/>
              </a:rPr>
              <a:t>Reader p.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stored energy — energy that has the ability to cause change at a </a:t>
            </a:r>
            <a:r>
              <a:rPr sz="3000" b="0" i="0" u="sng">
                <a:solidFill>
                  <a:srgbClr val="1A1D26"/>
                </a:solidFill>
                <a:latin typeface="Avenir Next"/>
              </a:rPr>
              <a:t>______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Write the missing word in the blank.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Vocabulary — Stored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10058400" cy="1051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stored energy — energy that has the ability to cause change at a </a:t>
            </a:r>
            <a:r>
              <a:rPr sz="3000" b="1" i="0">
                <a:solidFill>
                  <a:srgbClr val="A67C16"/>
                </a:solidFill>
                <a:latin typeface="Avenir Next"/>
              </a:rPr>
              <a:t>later</a:t>
            </a:r>
            <a:r>
              <a:rPr sz="3000" b="0" i="0">
                <a:solidFill>
                  <a:srgbClr val="1A1D26"/>
                </a:solidFill>
                <a:latin typeface="Avenir Next"/>
              </a:rPr>
              <a:t>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509760" y="329184"/>
            <a:ext cx="18288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PREDICT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Does a still battery have energy?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 — think about a battery inside a flashlight.</a:t>
            </a:r>
          </a:p>
        </p:txBody>
      </p:sp>
      <p:pic>
        <p:nvPicPr>
          <p:cNvPr id="8" name="Picture 7" descr="s23-battery-630x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5760720" cy="42062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537960" y="2103120"/>
            <a:ext cx="5148072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2377440"/>
            <a:ext cx="4599432" cy="18745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 that is switched off.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4434840"/>
            <a:ext cx="4599432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Yes or no? Make a prediction.
Tell your partner why.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The stored energy of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5 — an object held up can cause a change later.</a:t>
            </a:r>
          </a:p>
        </p:txBody>
      </p:sp>
      <p:pic>
        <p:nvPicPr>
          <p:cNvPr id="7" name="Picture 6" descr="s24-apple-400x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3657600" cy="42062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4434840" y="2103120"/>
            <a:ext cx="7251192" cy="420624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377440"/>
            <a:ext cx="6702552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Raised apple → let go →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154680"/>
            <a:ext cx="6702552" cy="2926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 apple held above the ground has stored energy
because of its position. Imagine you let go. What will happen?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29800" y="329184"/>
            <a:ext cx="150876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Stored energy can cause a change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p. 4 — back to our battery: the chemicals inside it store energy.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3422904" cy="868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62400" y="239115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3024" y="2103120"/>
            <a:ext cx="3422904" cy="86868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2504" y="2391156"/>
            <a:ext cx="38404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63128" y="2103120"/>
            <a:ext cx="3422904" cy="86868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pic>
        <p:nvPicPr>
          <p:cNvPr id="13" name="Picture 12" descr="s25-rubber-520x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46120"/>
            <a:ext cx="4754880" cy="306324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577840" y="3246120"/>
            <a:ext cx="6108192" cy="30632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Stretch a rubber band — it now stores energy.
Let it go. What change will you see and hear?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25</a:t>
            </a:r>
          </a:p>
        </p:txBody>
      </p:sp>
      <p:pic>
        <p:nvPicPr>
          <p:cNvPr id="16" name="Stored_Energy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85800" y="5120640"/>
            <a:ext cx="2926080" cy="1645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Objects Can Store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0753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672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985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9039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97480"/>
            <a:ext cx="43891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16966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697480"/>
            <a:ext cx="59893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761488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WHAT CHANGE COULD HAPPEN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209544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battery (in a flashlight)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154680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685032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3739896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stretched rubber band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685032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215384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270248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raised object (apple)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40680" y="4215384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Objects also have stored energy because of their </a:t>
            </a:r>
            <a:r>
              <a:rPr sz="2800" b="0" i="0" u="sng">
                <a:solidFill>
                  <a:srgbClr val="1A1D26"/>
                </a:solidFill>
                <a:latin typeface="Avenir Next"/>
              </a:rPr>
              <a:t>________</a:t>
            </a:r>
            <a:r>
              <a:rPr sz="28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Objects Can Store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4–5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STORED ENERGY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0753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6720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7A5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RELEASE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9855" y="2071116"/>
            <a:ext cx="292608" cy="292608"/>
          </a:xfrm>
          <a:prstGeom prst="rightArrow">
            <a:avLst/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59039" y="1920240"/>
            <a:ext cx="2956559" cy="59436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697480"/>
            <a:ext cx="43891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61488"/>
            <a:ext cx="4169663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FFFFFF"/>
                </a:solidFill>
                <a:latin typeface="Avenir Next"/>
              </a:rPr>
              <a:t>EXAMPLE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40680" y="2697480"/>
            <a:ext cx="5989320" cy="457200"/>
          </a:xfrm>
          <a:prstGeom prst="rect">
            <a:avLst/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761488"/>
            <a:ext cx="5769864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FFFFFF"/>
                </a:solidFill>
                <a:latin typeface="Avenir Next"/>
              </a:rPr>
              <a:t>WHAT CHANGE COULD HAPPEN LATER?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3154680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209544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battery (in a flashlight)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3154680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50408" y="3209544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the flashlight lights 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85032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739896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stretched rubber band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0680" y="3685032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50408" y="3739896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it snaps and makes a sound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4215384"/>
            <a:ext cx="43891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270248"/>
            <a:ext cx="4169663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1F2A5A"/>
                </a:solidFill>
                <a:latin typeface="Avenir Next"/>
              </a:rPr>
              <a:t>raised object (apple)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4215384"/>
            <a:ext cx="5989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50408" y="4270248"/>
            <a:ext cx="5769864" cy="4114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it falls down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377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2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Objects also have stored energy because of their </a:t>
            </a:r>
            <a:r>
              <a:rPr sz="2800" b="1" i="0">
                <a:solidFill>
                  <a:srgbClr val="A67C16"/>
                </a:solidFill>
                <a:latin typeface="Avenir Next"/>
              </a:rPr>
              <a:t>position</a:t>
            </a:r>
            <a:r>
              <a:rPr sz="2800" b="0" i="0">
                <a:solidFill>
                  <a:srgbClr val="1A1D26"/>
                </a:solidFill>
                <a:latin typeface="Avenir Next"/>
              </a:rPr>
              <a:t> 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position  ·  Sample answers shown - yours may differ.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Recognizing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Reader pp. 1–5 — think about the clues we can see, hear, or feel.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03120"/>
            <a:ext cx="6035040" cy="324612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5394960" cy="28803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Energy can be invisible.
What clues could show that energy is at work?</a:t>
            </a:r>
          </a:p>
        </p:txBody>
      </p:sp>
      <p:pic>
        <p:nvPicPr>
          <p:cNvPr id="10" name="Picture 9" descr="s28-ev_light-260x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2103120"/>
            <a:ext cx="2377440" cy="324612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pic>
        <p:nvPicPr>
          <p:cNvPr id="11" name="Picture 10" descr="s28-ev_pencil-260x3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2" y="2103120"/>
            <a:ext cx="2377440" cy="3246120"/>
          </a:xfrm>
          <a:prstGeom prst="rect">
            <a:avLst/>
          </a:prstGeom>
          <a:ln w="15875">
            <a:solidFill>
              <a:srgbClr val="D8DCE4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502920" y="5577840"/>
            <a:ext cx="11183112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Think of a change you have seen. What did you see, hear, or feel?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66960" y="329184"/>
            <a:ext cx="13716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DRAW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Recognizing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574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Draw a change you observed. Show what it looked like BEFORE and AFTER.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48691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54679"/>
            <a:ext cx="4503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703320"/>
            <a:ext cx="450342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60820" y="3017520"/>
            <a:ext cx="48691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43700" y="3154679"/>
            <a:ext cx="45034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3700" y="3703320"/>
            <a:ext cx="450342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draw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83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What changed?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6235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60807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Check Your Thinking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· Reader pp. 1–5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94560"/>
            <a:ext cx="10058400" cy="155448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33172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CHECK YOUR THINKING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88920"/>
            <a:ext cx="950976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energy itself?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776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1">
                <a:solidFill>
                  <a:srgbClr val="1A1D26"/>
                </a:solidFill>
                <a:latin typeface="Avenir Next"/>
              </a:rPr>
              <a:t>Start with: “We know because we see …”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70916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5349240"/>
            <a:ext cx="960120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We know because we see a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10058400" cy="2103120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9525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950976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7A5620"/>
                </a:solidFill>
                <a:latin typeface="Avenir Next"/>
              </a:rP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950976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1">
                <a:solidFill>
                  <a:srgbClr val="1A1D26"/>
                </a:solidFill>
                <a:latin typeface="Avenir Next"/>
              </a:rPr>
              <a:t>“We know because we see a change — like a ball starting to move or a light turning 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Any change you observe is evidence of energy.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81160" y="329184"/>
            <a:ext cx="205740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4000" b="1" i="0">
                <a:solidFill>
                  <a:srgbClr val="1F2A5A"/>
                </a:solidFill>
                <a:latin typeface="Georgia"/>
              </a:rPr>
              <a:t>Which change shows energy at work?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87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toy car starts to roll.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429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3630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rock keeps sitting still.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F2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4773168"/>
            <a:ext cx="886968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0" i="0">
                <a:solidFill>
                  <a:srgbClr val="1A1D26"/>
                </a:solidFill>
                <a:latin typeface="Avenir Next"/>
              </a:rPr>
              <a:t>A room stays dark.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521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1000"/>
              </a:spcAft>
            </a:pPr>
            <a:r>
              <a:rPr sz="2800" b="0" i="1">
                <a:solidFill>
                  <a:srgbClr val="4A5268"/>
                </a:solidFill>
                <a:latin typeface="Avenir Next"/>
              </a:rPr>
              <a:t>Pick one. Tell your partner why.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329184"/>
            <a:ext cx="146304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32688"/>
            <a:ext cx="713232" cy="457200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BQ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32688"/>
            <a:ext cx="1005840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Avenir Next"/>
              </a:rPr>
              <a:t>BQ · Now I 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0" i="1">
                <a:solidFill>
                  <a:srgbClr val="4A5268"/>
                </a:solidFill>
                <a:latin typeface="Avenir Next"/>
              </a:rPr>
              <a:t>Guided Notes p. 3</a:t>
            </a:r>
          </a:p>
        </p:txBody>
      </p:sp>
      <p:pic>
        <p:nvPicPr>
          <p:cNvPr id="9" name="Picture 8" descr="s33-bright-185x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2" y="2103120"/>
            <a:ext cx="1691640" cy="2057400"/>
          </a:xfrm>
          <a:prstGeom prst="rect">
            <a:avLst/>
          </a:prstGeom>
        </p:spPr>
      </p:pic>
      <p:pic>
        <p:nvPicPr>
          <p:cNvPr id="10" name="Picture 9" descr="s33-pen_after-185x2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2103120"/>
            <a:ext cx="1691640" cy="2057400"/>
          </a:xfrm>
          <a:prstGeom prst="rect">
            <a:avLst/>
          </a:prstGeom>
        </p:spPr>
      </p:pic>
      <p:pic>
        <p:nvPicPr>
          <p:cNvPr id="11" name="Picture 10" descr="s33-seashore-185x2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2" y="4251960"/>
            <a:ext cx="1691640" cy="2057400"/>
          </a:xfrm>
          <a:prstGeom prst="rect">
            <a:avLst/>
          </a:prstGeom>
        </p:spPr>
      </p:pic>
      <p:pic>
        <p:nvPicPr>
          <p:cNvPr id="12" name="Picture 11" descr="s33-rubber-185x2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4392" y="4251960"/>
            <a:ext cx="1691640" cy="2057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371600" y="2103120"/>
            <a:ext cx="6583680" cy="2103120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24028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A67C16"/>
                </a:solidFill>
                <a:latin typeface="Avenir Next"/>
              </a:rPr>
              <a:t>BIG QUESTION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697480"/>
            <a:ext cx="6035040" cy="1417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Avenir Next"/>
              </a:rPr>
              <a:t>Where can we observe evidence of energy causing change?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Now I think…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5074920"/>
            <a:ext cx="658368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71600" y="5577840"/>
            <a:ext cx="658368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71600" y="6080760"/>
            <a:ext cx="6583680" cy="32004"/>
          </a:xfrm>
          <a:prstGeom prst="rect">
            <a:avLst/>
          </a:prstGeom>
          <a:solidFill>
            <a:srgbClr val="4A52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1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is best described as 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visible glow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something only batteries have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kind of fuel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1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Energy is best described as 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visible glow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something only batteries have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the ability to cause change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kind of fuel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is the ability to cause change (Reader p. 1).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2 —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pencil is dull, then you sharpen it. What change do you observe?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883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797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shorter and sharper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4119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532632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longer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94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8548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changes color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disappears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2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pencil is dull, then you sharpen it. What change do you observe?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883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97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It gets shorter and sharper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4119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32632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gets longer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94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8548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changes color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It disappears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pencil becomes shorter and sharper — a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3 —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Which object has stored energy that can cause a change LATER?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883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797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ball already rolling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4119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532632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toy already 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94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8548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flashlight already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stretched rubber band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3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Which object has stored energy that can cause a change LATER?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883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97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ball already rolling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4119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32632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toy already moving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94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8548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flashlight already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A stretched rubber band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rubber band stores energy; it changes when released.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4 —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carousel spins and plays music. Which two forms of energy come from the spinning and the music?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883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7797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4119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532632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94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8548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silence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sound and stillness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4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carousel spins and plays music. Which two forms of energy come from the spinning and the music?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883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980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97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light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41192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5509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532632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motion and sound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9404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30377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8548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motion and silence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sound and stillness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The spinning is motion; the music is sound (Reader p. 3).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5 —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observe a change happen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can always be seen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can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5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How do we know energy is involved if we cannot see it?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We observe a change happen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Energy can always be seen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guess without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Nothing can change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We see a change — like movement — as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6 —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flashlight. Does it have energy?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 — still objects have no energy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it is moving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Yes — stored energy that can cause change later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the flashlight is 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65760"/>
            <a:ext cx="3246120" cy="402336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 i="0">
                <a:solidFill>
                  <a:srgbClr val="FFFFFF"/>
                </a:solidFill>
                <a:latin typeface="Avenir Next"/>
              </a:rPr>
              <a:t>CHAPTER 1 · ENERGY CAUSES CHANGE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0" y="329184"/>
            <a:ext cx="548640" cy="475488"/>
          </a:xfrm>
          <a:prstGeom prst="roundRect">
            <a:avLst>
              <a:gd name="adj" fmla="val 8000"/>
            </a:avLst>
          </a:prstGeom>
          <a:solidFill>
            <a:srgbClr val="1F2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84080" y="329184"/>
            <a:ext cx="1554480" cy="475488"/>
          </a:xfrm>
          <a:prstGeom prst="roundRect">
            <a:avLst>
              <a:gd name="adj" fmla="val 8000"/>
            </a:avLst>
          </a:prstGeom>
          <a:solidFill>
            <a:srgbClr val="A67C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73152" rIns="73152"/>
          <a:lstStyle/>
          <a:p>
            <a:pPr algn="ctr"/>
            <a:r>
              <a:rPr sz="2400" b="1" i="0">
                <a:solidFill>
                  <a:srgbClr val="FFFFFF"/>
                </a:solidFill>
                <a:latin typeface="Avenir Next"/>
              </a:rPr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3268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1F2A5A"/>
                </a:solidFill>
                <a:latin typeface="Georgia"/>
              </a:rPr>
              <a:t>Review 6 —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72768"/>
            <a:ext cx="11183112" cy="4191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3000" b="1" i="0">
                <a:solidFill>
                  <a:srgbClr val="1A1D26"/>
                </a:solidFill>
                <a:latin typeface="Avenir Next"/>
              </a:rPr>
              <a:t>A battery sits still in a flashlight. Does it have energy?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514600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24328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606040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No — still objects have no energy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25368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35096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416808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it is moving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36136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3E8CF"/>
          </a:solidFill>
          <a:ln w="19050">
            <a:solidFill>
              <a:srgbClr val="A67C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45864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227576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1A1D26"/>
                </a:solidFill>
                <a:latin typeface="Avenir Next"/>
              </a:rPr>
              <a:t>Yes — stored energy that can cause change later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46904"/>
            <a:ext cx="10332720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056632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1" i="0">
                <a:solidFill>
                  <a:srgbClr val="A67C16"/>
                </a:solidFill>
                <a:latin typeface="Avenir Next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038344"/>
            <a:ext cx="9372600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Only when the flashlight is 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76072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2700">
            <a:solidFill>
              <a:srgbClr val="D8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70448"/>
            <a:ext cx="10698480" cy="4663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1000"/>
              </a:spcAft>
            </a:pPr>
            <a:r>
              <a:rPr sz="2800" b="0" i="0">
                <a:solidFill>
                  <a:srgbClr val="1A1D26"/>
                </a:solidFill>
                <a:latin typeface="Avenir Next"/>
              </a:rPr>
              <a:t>A battery stores energy. It can cause a change later.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19088"/>
            <a:ext cx="822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1000"/>
              </a:spcAft>
            </a:pPr>
            <a:r>
              <a:rPr sz="1600" b="0" i="0">
                <a:solidFill>
                  <a:srgbClr val="4A5268"/>
                </a:solidFill>
                <a:latin typeface="Avenir Next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