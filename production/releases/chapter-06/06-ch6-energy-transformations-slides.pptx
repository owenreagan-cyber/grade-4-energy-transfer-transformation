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Arial"/>
              </a:rPr>
              <a:t>Energy Transformations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92608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i="0">
                <a:solidFill>
                  <a:srgbClr val="D5DEEA"/>
                </a:solidFill>
                <a:latin typeface="Arial"/>
              </a:rPr>
              <a:t>Chapter 6 · Grade 4 · Week 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572000"/>
            <a:ext cx="3383279" cy="640080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INPUT</a:t>
            </a:r>
          </a:p>
        </p:txBody>
      </p:sp>
      <p:sp>
        <p:nvSpPr>
          <p:cNvPr id="6" name="Right Arrow 5"/>
          <p:cNvSpPr/>
          <p:nvPr/>
        </p:nvSpPr>
        <p:spPr>
          <a:xfrm>
            <a:off x="4133087" y="4782312"/>
            <a:ext cx="237744" cy="219456"/>
          </a:xfrm>
          <a:prstGeom prst="rightArrow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389120" y="4572000"/>
            <a:ext cx="3383279" cy="640080"/>
          </a:xfrm>
          <a:prstGeom prst="round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CHANGE IN FORM</a:t>
            </a:r>
          </a:p>
        </p:txBody>
      </p:sp>
      <p:sp>
        <p:nvSpPr>
          <p:cNvPr id="8" name="Right Arrow 7"/>
          <p:cNvSpPr/>
          <p:nvPr/>
        </p:nvSpPr>
        <p:spPr>
          <a:xfrm>
            <a:off x="7790688" y="4782312"/>
            <a:ext cx="237744" cy="219456"/>
          </a:xfrm>
          <a:prstGeom prst="rightArrow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046719" y="4572000"/>
            <a:ext cx="3383279" cy="640080"/>
          </a:xfrm>
          <a:prstGeom prst="round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OUTPUT / CHANGE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77440"/>
            <a:ext cx="12191695" cy="201168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14600"/>
            <a:ext cx="10698480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Arial"/>
              </a:rPr>
              <a:t>How do energy transformations help people?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 i="0">
                <a:solidFill>
                  <a:srgbClr val="555555"/>
                </a:solidFill>
                <a:latin typeface="Arial"/>
              </a:rPr>
              <a:t>Big Question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292608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0" i="0">
                <a:solidFill>
                  <a:srgbClr val="555555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607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"/>
              </a:rPr>
              <a:t>Wind it up…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86384"/>
            <a:ext cx="10607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D5DEEA"/>
                </a:solidFill>
                <a:latin typeface="Arial"/>
              </a:rPr>
              <a:t>Opening phenomenon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292608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0" i="0">
                <a:solidFill>
                  <a:srgbClr val="D5DEEA"/>
                </a:solidFill>
                <a:latin typeface="Arial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10698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Wind the toy. Let it go. It zips across the table.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The energy did not appear. It was STORED — then it CHANGED FORM.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607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"/>
              </a:rPr>
              <a:t>Energy can CHANGE 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86384"/>
            <a:ext cx="10607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D5DEEA"/>
                </a:solidFill>
                <a:latin typeface="Arial"/>
              </a:rPr>
              <a:t>Define transformation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292608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0" i="0">
                <a:solidFill>
                  <a:srgbClr val="D5DEEA"/>
                </a:solidFill>
                <a:latin typeface="Arial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10698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TRANSFORMATION = energy changes from one form to another.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stored energy → energy of motion (wind-up toy)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electrical energy → light (flashlight)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20640"/>
            <a:ext cx="3383279" cy="640080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ONE FORM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133087" y="5330951"/>
            <a:ext cx="237744" cy="219456"/>
          </a:xfrm>
          <a:prstGeom prst="rightArrow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89120" y="5120640"/>
            <a:ext cx="3383279" cy="640080"/>
          </a:xfrm>
          <a:prstGeom prst="round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→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7790688" y="5330951"/>
            <a:ext cx="237744" cy="219456"/>
          </a:xfrm>
          <a:prstGeom prst="rightArrow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046719" y="5120640"/>
            <a:ext cx="3383279" cy="640080"/>
          </a:xfrm>
          <a:prstGeom prst="round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ANOTHER FORM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607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"/>
              </a:rPr>
              <a:t>Review: energy can MOVE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86384"/>
            <a:ext cx="10607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D5DEEA"/>
                </a:solidFill>
                <a:latin typeface="Arial"/>
              </a:rPr>
              <a:t>Define transfer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292608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0" i="0">
                <a:solidFill>
                  <a:srgbClr val="D5DEEA"/>
                </a:solidFill>
                <a:latin typeface="Arial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10698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TRANSFER = energy moves from one object or place to another.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Warm water warms a cool spoon: heat moves.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20640"/>
            <a:ext cx="3383279" cy="640080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HEAT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133087" y="5330951"/>
            <a:ext cx="237744" cy="219456"/>
          </a:xfrm>
          <a:prstGeom prst="rightArrow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89120" y="5120640"/>
            <a:ext cx="3383279" cy="640080"/>
          </a:xfrm>
          <a:prstGeom prst="round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MOVES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7790688" y="5330951"/>
            <a:ext cx="237744" cy="219456"/>
          </a:xfrm>
          <a:prstGeom prst="rightArrow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046719" y="5120640"/>
            <a:ext cx="3383279" cy="640080"/>
          </a:xfrm>
          <a:prstGeom prst="round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TO THE SPOON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607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"/>
              </a:rPr>
              <a:t>Two ways energy changes things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86384"/>
            <a:ext cx="10607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D5DEEA"/>
                </a:solidFill>
                <a:latin typeface="Arial"/>
              </a:rPr>
              <a:t>Transfer vs transformation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292608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0" i="0">
                <a:solidFill>
                  <a:srgbClr val="D5DEEA"/>
                </a:solidFill>
                <a:latin typeface="Arial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10698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TRANSFER = energy MOVES.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TRANSFORMATION = energy CHANGES FORM.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Many systems do BOTH.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20640"/>
            <a:ext cx="3383279" cy="640080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TRANSFER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133087" y="5330951"/>
            <a:ext cx="237744" cy="219456"/>
          </a:xfrm>
          <a:prstGeom prst="rightArrow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89120" y="5120640"/>
            <a:ext cx="3383279" cy="640080"/>
          </a:xfrm>
          <a:prstGeom prst="round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TRANSFORMATION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7790688" y="5330951"/>
            <a:ext cx="237744" cy="219456"/>
          </a:xfrm>
          <a:prstGeom prst="rightArrow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046719" y="5120640"/>
            <a:ext cx="3383279" cy="640080"/>
          </a:xfrm>
          <a:prstGeom prst="round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BOTH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607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"/>
              </a:rPr>
              <a:t>A flashlight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86384"/>
            <a:ext cx="10607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D5DEEA"/>
                </a:solidFill>
                <a:latin typeface="Arial"/>
              </a:rPr>
              <a:t>INPUT → TRANSFORMATION → OUTPUT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292608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0" i="0">
                <a:solidFill>
                  <a:srgbClr val="D5DEEA"/>
                </a:solidFill>
                <a:latin typeface="Arial"/>
              </a:rPr>
              <a:t>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201400" y="228600"/>
            <a:ext cx="822960" cy="457200"/>
          </a:xfrm>
          <a:prstGeom prst="round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LABEL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10698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INPUT: stored energy (battery)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TRANSFORMATION: stored → electrical → light (+ a little heat)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OUTPUT: light we see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120640"/>
            <a:ext cx="3383279" cy="640080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INPUT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133087" y="5330951"/>
            <a:ext cx="237744" cy="219456"/>
          </a:xfrm>
          <a:prstGeom prst="rightArrow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89120" y="5120640"/>
            <a:ext cx="3383279" cy="640080"/>
          </a:xfrm>
          <a:prstGeom prst="round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CHANGE IN FORM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790688" y="5330951"/>
            <a:ext cx="237744" cy="219456"/>
          </a:xfrm>
          <a:prstGeom prst="rightArrow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046719" y="5120640"/>
            <a:ext cx="3383279" cy="640080"/>
          </a:xfrm>
          <a:prstGeom prst="round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OUTPUT / CHANGE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607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"/>
              </a:rPr>
              <a:t>Notes — Insert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86384"/>
            <a:ext cx="10607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D5DEEA"/>
                </a:solidFill>
                <a:latin typeface="Arial"/>
              </a:rPr>
              <a:t>Transfer vs Transformation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292608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0" i="0">
                <a:solidFill>
                  <a:srgbClr val="D5DEEA"/>
                </a:solidFill>
                <a:latin typeface="Arial"/>
              </a:rPr>
              <a:t>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201400" y="228600"/>
            <a:ext cx="822960" cy="457200"/>
          </a:xfrm>
          <a:prstGeom prst="roundRect">
            <a:avLst/>
          </a:prstGeom>
          <a:solidFill>
            <a:srgbClr val="6B4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NOTES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10698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Write the two definitions and one example each.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Circle whether your example is TRANSFER, TRANSFORMATION, or BOTH.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607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"/>
              </a:rPr>
              <a:t>Energy System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86384"/>
            <a:ext cx="10607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D5DEEA"/>
                </a:solidFill>
                <a:latin typeface="Arial"/>
              </a:rPr>
              <a:t>Everyday systems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292608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0" i="0">
                <a:solidFill>
                  <a:srgbClr val="D5DEEA"/>
                </a:solidFill>
                <a:latin typeface="Arial"/>
              </a:rP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10698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For each device ask: 1) What energy is at the beginning?  2) What changes?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3) What observable output occurs?  4) Transfer?  5) Transformation?  6) BOTH?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607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"/>
              </a:rPr>
              <a:t>Buzzer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86384"/>
            <a:ext cx="10607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D5DEEA"/>
                </a:solidFill>
                <a:latin typeface="Arial"/>
              </a:rPr>
              <a:t>System chain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292608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0" i="0">
                <a:solidFill>
                  <a:srgbClr val="D5DEEA"/>
                </a:solidFill>
                <a:latin typeface="Arial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10698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INPUT: electrical energy → TRANSFORMATION: electrical → sound → OUTPUT: we hear a buzz.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Transfer? yes (energy moves to the buzzer). Transformation? yes (→ sound). BOTH.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20640"/>
            <a:ext cx="3383279" cy="640080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ELECTRICAL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133087" y="5330951"/>
            <a:ext cx="237744" cy="219456"/>
          </a:xfrm>
          <a:prstGeom prst="rightArrow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89120" y="5120640"/>
            <a:ext cx="3383279" cy="640080"/>
          </a:xfrm>
          <a:prstGeom prst="round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→ SOUND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7790688" y="5330951"/>
            <a:ext cx="237744" cy="219456"/>
          </a:xfrm>
          <a:prstGeom prst="rightArrow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046719" y="5120640"/>
            <a:ext cx="3383279" cy="640080"/>
          </a:xfrm>
          <a:prstGeom prst="round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BUZZ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607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"/>
              </a:rPr>
              <a:t>Motor / fan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86384"/>
            <a:ext cx="10607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D5DEEA"/>
                </a:solidFill>
                <a:latin typeface="Arial"/>
              </a:rPr>
              <a:t>System chain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292608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0" i="0">
                <a:solidFill>
                  <a:srgbClr val="D5DEEA"/>
                </a:solidFill>
                <a:latin typeface="Arial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10698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INPUT: electrical energy → TRANSFORMATION: electrical → energy of motion → OUTPUT: the fan spins.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Transfer AND transformation — BOTH.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20640"/>
            <a:ext cx="3383279" cy="640080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ELECTRICAL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133087" y="5330951"/>
            <a:ext cx="237744" cy="219456"/>
          </a:xfrm>
          <a:prstGeom prst="rightArrow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89120" y="5120640"/>
            <a:ext cx="3383279" cy="640080"/>
          </a:xfrm>
          <a:prstGeom prst="round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→ MOTION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7790688" y="5330951"/>
            <a:ext cx="237744" cy="219456"/>
          </a:xfrm>
          <a:prstGeom prst="rightArrow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046719" y="5120640"/>
            <a:ext cx="3383279" cy="640080"/>
          </a:xfrm>
          <a:prstGeom prst="round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FAN SPINS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607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"/>
              </a:rPr>
              <a:t>Wind-up toy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86384"/>
            <a:ext cx="10607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D5DEEA"/>
                </a:solidFill>
                <a:latin typeface="Arial"/>
              </a:rPr>
              <a:t>System chain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292608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0" i="0">
                <a:solidFill>
                  <a:srgbClr val="D5DEEA"/>
                </a:solidFill>
                <a:latin typeface="Arial"/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10698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INPUT: stored energy → TRANSFORMATION: stored → energy of motion → OUTPUT: the toy moves.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BOTH (energy moves through the toy AND changes form).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20640"/>
            <a:ext cx="3383279" cy="640080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STORED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133087" y="5330951"/>
            <a:ext cx="237744" cy="219456"/>
          </a:xfrm>
          <a:prstGeom prst="rightArrow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89120" y="5120640"/>
            <a:ext cx="3383279" cy="640080"/>
          </a:xfrm>
          <a:prstGeom prst="round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→ MOTION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7790688" y="5330951"/>
            <a:ext cx="237744" cy="219456"/>
          </a:xfrm>
          <a:prstGeom prst="rightArrow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046719" y="5120640"/>
            <a:ext cx="3383279" cy="640080"/>
          </a:xfrm>
          <a:prstGeom prst="round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TOY MOVES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607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"/>
              </a:rPr>
              <a:t>Notes — Insert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86384"/>
            <a:ext cx="10607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D5DEEA"/>
                </a:solidFill>
                <a:latin typeface="Arial"/>
              </a:rPr>
              <a:t>Energy System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292608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0" i="0">
                <a:solidFill>
                  <a:srgbClr val="D5DEEA"/>
                </a:solidFill>
                <a:latin typeface="Arial"/>
              </a:rPr>
              <a:t>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201400" y="228600"/>
            <a:ext cx="822960" cy="457200"/>
          </a:xfrm>
          <a:prstGeom prst="roundRect">
            <a:avLst/>
          </a:prstGeom>
          <a:solidFill>
            <a:srgbClr val="3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DRAW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10698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Draw ONE device. Label INPUT → TRANSFORMATION → OUTPUT / CHANGE.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Write your own chain.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120640"/>
            <a:ext cx="3383279" cy="640080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INPUT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133087" y="5330951"/>
            <a:ext cx="237744" cy="219456"/>
          </a:xfrm>
          <a:prstGeom prst="rightArrow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89120" y="5120640"/>
            <a:ext cx="3383279" cy="640080"/>
          </a:xfrm>
          <a:prstGeom prst="round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CHANGE IN FORM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790688" y="5330951"/>
            <a:ext cx="237744" cy="219456"/>
          </a:xfrm>
          <a:prstGeom prst="rightArrow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046719" y="5120640"/>
            <a:ext cx="3383279" cy="640080"/>
          </a:xfrm>
          <a:prstGeom prst="round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OUTPUT / CHANGE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607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"/>
              </a:rPr>
              <a:t>Transfer only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86384"/>
            <a:ext cx="10607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D5DEEA"/>
                </a:solidFill>
                <a:latin typeface="Arial"/>
              </a:rPr>
              <a:t>Warm water → cooler spoon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292608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0" i="0">
                <a:solidFill>
                  <a:srgbClr val="D5DEEA"/>
                </a:solidFill>
                <a:latin typeface="Arial"/>
              </a:rP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10698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Heat MOVES from the warm water to the cooler spoon.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The form (heat) stays the same. TRANSFER.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20640"/>
            <a:ext cx="3383279" cy="640080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HEAT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133087" y="5330951"/>
            <a:ext cx="237744" cy="219456"/>
          </a:xfrm>
          <a:prstGeom prst="rightArrow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89120" y="5120640"/>
            <a:ext cx="3383279" cy="640080"/>
          </a:xfrm>
          <a:prstGeom prst="round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MOVES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7790688" y="5330951"/>
            <a:ext cx="237744" cy="219456"/>
          </a:xfrm>
          <a:prstGeom prst="rightArrow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046719" y="5120640"/>
            <a:ext cx="3383279" cy="640080"/>
          </a:xfrm>
          <a:prstGeom prst="round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SAME FORM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607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"/>
              </a:rPr>
              <a:t>Transformation only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86384"/>
            <a:ext cx="10607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D5DEEA"/>
                </a:solidFill>
                <a:latin typeface="Arial"/>
              </a:rPr>
              <a:t>Battery → light (simple view)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292608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0" i="0">
                <a:solidFill>
                  <a:srgbClr val="D5DEEA"/>
                </a:solidFill>
                <a:latin typeface="Arial"/>
              </a:rP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10698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Stored energy CHANGES FORM to light.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If we look only at the form change: TRANSFORMATION.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20640"/>
            <a:ext cx="3383279" cy="640080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STORED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133087" y="5330951"/>
            <a:ext cx="237744" cy="219456"/>
          </a:xfrm>
          <a:prstGeom prst="rightArrow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89120" y="5120640"/>
            <a:ext cx="3383279" cy="640080"/>
          </a:xfrm>
          <a:prstGeom prst="round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→ LIGHT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7790688" y="5330951"/>
            <a:ext cx="237744" cy="219456"/>
          </a:xfrm>
          <a:prstGeom prst="rightArrow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046719" y="5120640"/>
            <a:ext cx="3383279" cy="640080"/>
          </a:xfrm>
          <a:prstGeom prst="round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FORM CHANGED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607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"/>
              </a:rPr>
              <a:t>BOTH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86384"/>
            <a:ext cx="10607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D5DEEA"/>
                </a:solidFill>
                <a:latin typeface="Arial"/>
              </a:rPr>
              <a:t>Falling dominoes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292608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0" i="0">
                <a:solidFill>
                  <a:srgbClr val="D5DEEA"/>
                </a:solidFill>
                <a:latin typeface="Arial"/>
              </a:rPr>
              <a:t>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10698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Motion TRANSFERS down the line (domino to domino).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AND some motion TRANSFORMS to sound (the click).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20640"/>
            <a:ext cx="3383279" cy="640080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TRANSFER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133087" y="5330951"/>
            <a:ext cx="237744" cy="219456"/>
          </a:xfrm>
          <a:prstGeom prst="rightArrow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89120" y="5120640"/>
            <a:ext cx="3383279" cy="640080"/>
          </a:xfrm>
          <a:prstGeom prst="round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TRANSFORMATION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7790688" y="5330951"/>
            <a:ext cx="237744" cy="219456"/>
          </a:xfrm>
          <a:prstGeom prst="rightArrow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046719" y="5120640"/>
            <a:ext cx="3383279" cy="640080"/>
          </a:xfrm>
          <a:prstGeom prst="round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BOTH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607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"/>
              </a:rPr>
              <a:t>BOTH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86384"/>
            <a:ext cx="10607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D5DEEA"/>
                </a:solidFill>
                <a:latin typeface="Arial"/>
              </a:rPr>
              <a:t>Toy-car collision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292608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0" i="0">
                <a:solidFill>
                  <a:srgbClr val="D5DEEA"/>
                </a:solidFill>
                <a:latin typeface="Arial"/>
              </a:rPr>
              <a:t>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10698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Motion TRANSFERS to the cup (the cup moves).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AND some motion TRANSFORMS to sound (we hear it).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20640"/>
            <a:ext cx="3383279" cy="640080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TRANSFER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133087" y="5330951"/>
            <a:ext cx="237744" cy="219456"/>
          </a:xfrm>
          <a:prstGeom prst="rightArrow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89120" y="5120640"/>
            <a:ext cx="3383279" cy="640080"/>
          </a:xfrm>
          <a:prstGeom prst="round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TRANSFORMATION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7790688" y="5330951"/>
            <a:ext cx="237744" cy="219456"/>
          </a:xfrm>
          <a:prstGeom prst="rightArrow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046719" y="5120640"/>
            <a:ext cx="3383279" cy="640080"/>
          </a:xfrm>
          <a:prstGeom prst="round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BOTH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607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"/>
              </a:rPr>
              <a:t>Sort it out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86384"/>
            <a:ext cx="10607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D5DEEA"/>
                </a:solidFill>
                <a:latin typeface="Arial"/>
              </a:rPr>
              <a:t>Transfer / Transformation / BOTH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292608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0" i="0">
                <a:solidFill>
                  <a:srgbClr val="D5DEEA"/>
                </a:solidFill>
                <a:latin typeface="Arial"/>
              </a:rPr>
              <a:t>18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201400" y="228600"/>
            <a:ext cx="822960" cy="457200"/>
          </a:xfrm>
          <a:prstGeom prst="round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WRITE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10698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Classify each card: warm spoon · flashlight · dominoes · buzzer · motor · toy-car collision.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State the system boundary first. Don't force either/or.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607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"/>
              </a:rPr>
              <a:t>Notes — Insert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86384"/>
            <a:ext cx="10607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D5DEEA"/>
                </a:solidFill>
                <a:latin typeface="Arial"/>
              </a:rPr>
              <a:t>Device Detective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292608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0" i="0">
                <a:solidFill>
                  <a:srgbClr val="D5DEEA"/>
                </a:solidFill>
                <a:latin typeface="Arial"/>
              </a:rPr>
              <a:t>19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201400" y="228600"/>
            <a:ext cx="822960" cy="457200"/>
          </a:xfrm>
          <a:prstGeom prst="roundRect">
            <a:avLst/>
          </a:prstGeom>
          <a:solidFill>
            <a:srgbClr val="6B4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NOTES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10698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Analyze ONE device: what goes in? what changes? what comes out?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Circle TRANSFER / TRANSFORMATION / BOTH and give your evidence.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607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"/>
              </a:rPr>
              <a:t>Reader p. 31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86384"/>
            <a:ext cx="10607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D5DEEA"/>
                </a:solidFill>
                <a:latin typeface="Arial"/>
              </a:rPr>
              <a:t>The toaster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292608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0" i="0">
                <a:solidFill>
                  <a:srgbClr val="D5DEEA"/>
                </a:solidFill>
                <a:latin typeface="Arial"/>
              </a:rPr>
              <a:t>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10698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Problem: heat bread to just the right temperature.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Solution: electrical energy → heat + motion + sound. DING!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20640"/>
            <a:ext cx="3383279" cy="640080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ELECTRICAL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133087" y="5330951"/>
            <a:ext cx="237744" cy="219456"/>
          </a:xfrm>
          <a:prstGeom prst="rightArrow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89120" y="5120640"/>
            <a:ext cx="3383279" cy="640080"/>
          </a:xfrm>
          <a:prstGeom prst="round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→ HEAT + MOTION + SOUND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7790688" y="5330951"/>
            <a:ext cx="237744" cy="219456"/>
          </a:xfrm>
          <a:prstGeom prst="rightArrow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046719" y="5120640"/>
            <a:ext cx="3383279" cy="640080"/>
          </a:xfrm>
          <a:prstGeom prst="round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TOAST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607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"/>
              </a:rPr>
              <a:t>Reader p. 33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86384"/>
            <a:ext cx="10607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D5DEEA"/>
                </a:solidFill>
                <a:latin typeface="Arial"/>
              </a:rPr>
              <a:t>Generators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292608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0" i="0">
                <a:solidFill>
                  <a:srgbClr val="D5DEEA"/>
                </a:solidFill>
                <a:latin typeface="Arial"/>
              </a:rPr>
              <a:t>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10698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Faraday (1831): moving magnets past copper wire → electrical energy.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Generators convert motion → electricity (dams, wind turbines).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20640"/>
            <a:ext cx="3383279" cy="640080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MOTION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133087" y="5330951"/>
            <a:ext cx="237744" cy="219456"/>
          </a:xfrm>
          <a:prstGeom prst="rightArrow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89120" y="5120640"/>
            <a:ext cx="3383279" cy="640080"/>
          </a:xfrm>
          <a:prstGeom prst="round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→ ELECTRICAL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7790688" y="5330951"/>
            <a:ext cx="237744" cy="219456"/>
          </a:xfrm>
          <a:prstGeom prst="rightArrow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046719" y="5120640"/>
            <a:ext cx="3383279" cy="640080"/>
          </a:xfrm>
          <a:prstGeom prst="round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POWER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607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"/>
              </a:rPr>
              <a:t>Reader p. 34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86384"/>
            <a:ext cx="10607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D5DEEA"/>
                </a:solidFill>
                <a:latin typeface="Arial"/>
              </a:rPr>
              <a:t>Batteries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292608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0" i="0">
                <a:solidFill>
                  <a:srgbClr val="D5DEEA"/>
                </a:solidFill>
                <a:latin typeface="Arial"/>
              </a:rPr>
              <a:t>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10698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Batteries store energy (chemicals with stored energy).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Stored energy → electrical energy → sound, light, motion (cell phone).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20640"/>
            <a:ext cx="3383279" cy="640080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STORED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133087" y="5330951"/>
            <a:ext cx="237744" cy="219456"/>
          </a:xfrm>
          <a:prstGeom prst="rightArrow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89120" y="5120640"/>
            <a:ext cx="3383279" cy="640080"/>
          </a:xfrm>
          <a:prstGeom prst="round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→ ELECTRICAL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7790688" y="5330951"/>
            <a:ext cx="237744" cy="219456"/>
          </a:xfrm>
          <a:prstGeom prst="rightArrow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046719" y="5120640"/>
            <a:ext cx="3383279" cy="640080"/>
          </a:xfrm>
          <a:prstGeom prst="round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SOUND / LIGHT / MOTION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607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"/>
              </a:rPr>
              <a:t>Reader p. 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86384"/>
            <a:ext cx="10607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D5DEEA"/>
                </a:solidFill>
                <a:latin typeface="Arial"/>
              </a:rPr>
              <a:t>Solar cells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292608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0" i="0">
                <a:solidFill>
                  <a:srgbClr val="D5DEEA"/>
                </a:solidFill>
                <a:latin typeface="Arial"/>
              </a:rPr>
              <a:t>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10698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Solar cells transform sunlight → electrical energy.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Stored in batteries to power devices at night.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20640"/>
            <a:ext cx="3383279" cy="640080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LIGHT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133087" y="5330951"/>
            <a:ext cx="237744" cy="219456"/>
          </a:xfrm>
          <a:prstGeom prst="rightArrow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89120" y="5120640"/>
            <a:ext cx="3383279" cy="640080"/>
          </a:xfrm>
          <a:prstGeom prst="round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→ ELECTRICAL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7790688" y="5330951"/>
            <a:ext cx="237744" cy="219456"/>
          </a:xfrm>
          <a:prstGeom prst="rightArrow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046719" y="5120640"/>
            <a:ext cx="3383279" cy="640080"/>
          </a:xfrm>
          <a:prstGeom prst="round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POWER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607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"/>
              </a:rPr>
              <a:t>Reader p. 36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86384"/>
            <a:ext cx="10607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D5DEEA"/>
                </a:solidFill>
                <a:latin typeface="Arial"/>
              </a:rPr>
              <a:t>Engineering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292608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0" i="0">
                <a:solidFill>
                  <a:srgbClr val="D5DEEA"/>
                </a:solidFill>
                <a:latin typeface="Arial"/>
              </a:rPr>
              <a:t>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10698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A process to develop a solution to a problem.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Identify the problem, then judge solutions by practicality (cost, weight).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20640"/>
            <a:ext cx="3383279" cy="640080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PROBLEM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133087" y="5330951"/>
            <a:ext cx="237744" cy="219456"/>
          </a:xfrm>
          <a:prstGeom prst="rightArrow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89120" y="5120640"/>
            <a:ext cx="3383279" cy="640080"/>
          </a:xfrm>
          <a:prstGeom prst="round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DESIGN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7790688" y="5330951"/>
            <a:ext cx="237744" cy="219456"/>
          </a:xfrm>
          <a:prstGeom prst="rightArrow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046719" y="5120640"/>
            <a:ext cx="3383279" cy="640080"/>
          </a:xfrm>
          <a:prstGeom prst="round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SOLUTION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607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"/>
              </a:rPr>
              <a:t>Vocabulary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86384"/>
            <a:ext cx="10607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D5DEEA"/>
                </a:solidFill>
                <a:latin typeface="Arial"/>
              </a:rPr>
              <a:t>Core vocabulary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292608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0" i="0">
                <a:solidFill>
                  <a:srgbClr val="D5DEEA"/>
                </a:solidFill>
                <a:latin typeface="Arial"/>
              </a:rPr>
              <a:t>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201400" y="228600"/>
            <a:ext cx="822960" cy="457200"/>
          </a:xfrm>
          <a:prstGeom prst="round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WRITE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10698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convert = to change form · conversion = the process of changing form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energy transformation = one form of energy changes to another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engineering design = a process to develop a solution to a problem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607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"/>
              </a:rPr>
              <a:t>Design-thinking bridge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86384"/>
            <a:ext cx="10607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D5DEEA"/>
                </a:solidFill>
                <a:latin typeface="Arial"/>
              </a:rPr>
              <a:t>A signal without wall electricity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292608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0" i="0">
                <a:solidFill>
                  <a:srgbClr val="D5DEEA"/>
                </a:solidFill>
                <a:latin typeface="Arial"/>
              </a:rPr>
              <a:t>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201400" y="228600"/>
            <a:ext cx="822960" cy="457200"/>
          </a:xfrm>
          <a:prstGeom prst="round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WRITE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10698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A classroom needs a signal without using wall electricity.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What energy change could help? (brainstorm only — no building yet)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607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"/>
              </a:rPr>
              <a:t>Check — Lesson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86384"/>
            <a:ext cx="10607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D5DEEA"/>
                </a:solidFill>
                <a:latin typeface="Arial"/>
              </a:rPr>
              <a:t>AP 12.1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292608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0" i="0">
                <a:solidFill>
                  <a:srgbClr val="D5DEEA"/>
                </a:solidFill>
                <a:latin typeface="Arial"/>
              </a:rPr>
              <a:t>27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201400" y="228600"/>
            <a:ext cx="822960" cy="457200"/>
          </a:xfrm>
          <a:prstGeom prst="round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WRITE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10698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Answer the 6 questions: Big Question, stove, blender, wind-up timer, two transformations, electrical → light.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Use your Core Vocabulary cards.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607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"/>
              </a:rPr>
              <a:t>Week 4 exit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86384"/>
            <a:ext cx="10607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D5DEEA"/>
                </a:solidFill>
                <a:latin typeface="Arial"/>
              </a:rPr>
              <a:t>Synthesis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292608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0" i="0">
                <a:solidFill>
                  <a:srgbClr val="D5DEEA"/>
                </a:solidFill>
                <a:latin typeface="Arial"/>
              </a:rPr>
              <a:t>28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201400" y="228600"/>
            <a:ext cx="822960" cy="457200"/>
          </a:xfrm>
          <a:prstGeom prst="round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WRITE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10698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One sentence: How can changing energy from one form to another solve a problem?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Arial"/>
              </a:rPr>
              <a:t>Engineering Performance Task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92608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i="0">
                <a:solidFill>
                  <a:srgbClr val="D5DEEA"/>
                </a:solidFill>
                <a:latin typeface="Arial"/>
              </a:rPr>
              <a:t>Chapter 6 · Grade 4 · Week 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572000"/>
            <a:ext cx="2468879" cy="640080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DESIGN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218688" y="4782312"/>
            <a:ext cx="237744" cy="219456"/>
          </a:xfrm>
          <a:prstGeom prst="rightArrow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474720" y="4572000"/>
            <a:ext cx="2468879" cy="640080"/>
          </a:xfrm>
          <a:prstGeom prst="round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BUILD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961888" y="4782312"/>
            <a:ext cx="237744" cy="219456"/>
          </a:xfrm>
          <a:prstGeom prst="rightArrow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17919" y="4572000"/>
            <a:ext cx="2468879" cy="640080"/>
          </a:xfrm>
          <a:prstGeom prst="round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TEST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8705087" y="4782312"/>
            <a:ext cx="237744" cy="219456"/>
          </a:xfrm>
          <a:prstGeom prst="rightArrow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961119" y="4572000"/>
            <a:ext cx="2468879" cy="640080"/>
          </a:xfrm>
          <a:prstGeom prst="round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REFINE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77440"/>
            <a:ext cx="12191695" cy="201168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14600"/>
            <a:ext cx="10698480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Arial"/>
              </a:rPr>
              <a:t>How can I design a device that transforms energy to solve a problem?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 i="0">
                <a:solidFill>
                  <a:srgbClr val="555555"/>
                </a:solidFill>
                <a:latin typeface="Arial"/>
              </a:rPr>
              <a:t>Big Question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292608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0" i="0">
                <a:solidFill>
                  <a:srgbClr val="555555"/>
                </a:solidFill>
                <a:latin typeface="Arial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607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"/>
              </a:rPr>
              <a:t>Your challenge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86384"/>
            <a:ext cx="10607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D5DEEA"/>
                </a:solidFill>
                <a:latin typeface="Arial"/>
              </a:rPr>
              <a:t>The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292608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0" i="0">
                <a:solidFill>
                  <a:srgbClr val="D5DEEA"/>
                </a:solidFill>
                <a:latin typeface="Arial"/>
              </a:rPr>
              <a:t>31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10698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Design a NON-ELECTRICAL tabletop device that makes a clear signal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when a model door/gate/trigger moves.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Your device must show at least one energy transformation.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20640"/>
            <a:ext cx="3383279" cy="640080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PROBLEM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133087" y="5330951"/>
            <a:ext cx="237744" cy="219456"/>
          </a:xfrm>
          <a:prstGeom prst="rightArrow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89120" y="5120640"/>
            <a:ext cx="3383279" cy="640080"/>
          </a:xfrm>
          <a:prstGeom prst="round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→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7790688" y="5330951"/>
            <a:ext cx="237744" cy="219456"/>
          </a:xfrm>
          <a:prstGeom prst="rightArrow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046719" y="5120640"/>
            <a:ext cx="3383279" cy="640080"/>
          </a:xfrm>
          <a:prstGeom prst="round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DEVICE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607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"/>
              </a:rPr>
              <a:t>Criteria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86384"/>
            <a:ext cx="10607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D5DEEA"/>
                </a:solidFill>
                <a:latin typeface="Arial"/>
              </a:rPr>
              <a:t>What a good device must 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292608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0" i="0">
                <a:solidFill>
                  <a:srgbClr val="D5DEEA"/>
                </a:solidFill>
                <a:latin typeface="Arial"/>
              </a:rPr>
              <a:t>32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201400" y="228600"/>
            <a:ext cx="822960" cy="457200"/>
          </a:xfrm>
          <a:prstGeom prst="round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WRITE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10698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respond to the trigger · make an observable signal (sound / motion / visible)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show one energy transformation · work repeatedly · let you explain the pathway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use supplied materials · stay in the tabletop test area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607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"/>
              </a:rPr>
              <a:t>Constraints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86384"/>
            <a:ext cx="10607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D5DEEA"/>
                </a:solidFill>
                <a:latin typeface="Arial"/>
              </a:rPr>
              <a:t>The limits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292608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0" i="0">
                <a:solidFill>
                  <a:srgbClr val="D5DEEA"/>
                </a:solidFill>
                <a:latin typeface="Arial"/>
              </a:rPr>
              <a:t>33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201400" y="228600"/>
            <a:ext cx="822960" cy="457200"/>
          </a:xfrm>
          <a:prstGeom prst="round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WRITE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10698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only provided materials · no wall electricity · no flame · no hot plate · no launching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limited build time · limited material quantity · tabletop footprint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607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"/>
              </a:rPr>
              <a:t>Materials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86384"/>
            <a:ext cx="10607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D5DEEA"/>
                </a:solidFill>
                <a:latin typeface="Arial"/>
              </a:rPr>
              <a:t>Low-cost, reusable-heavy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292608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0" i="0">
                <a:solidFill>
                  <a:srgbClr val="D5DEEA"/>
                </a:solidFill>
                <a:latin typeface="Arial"/>
              </a:rPr>
              <a:t>34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10698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cardboard tubes · paper cups · craft sticks · rubber bands · string · paper clips · washers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bells / metal cup · index cards / paper · tape · glue · blocks · foil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607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"/>
              </a:rPr>
              <a:t>Notes — Insert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86384"/>
            <a:ext cx="10607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D5DEEA"/>
                </a:solidFill>
                <a:latin typeface="Arial"/>
              </a:rPr>
              <a:t>Engineering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292608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0" i="0">
                <a:solidFill>
                  <a:srgbClr val="D5DEEA"/>
                </a:solidFill>
                <a:latin typeface="Arial"/>
              </a:rPr>
              <a:t>35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201400" y="228600"/>
            <a:ext cx="822960" cy="457200"/>
          </a:xfrm>
          <a:prstGeom prst="roundRect">
            <a:avLst/>
          </a:prstGeom>
          <a:solidFill>
            <a:srgbClr val="6B4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NOTES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10698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Record: the problem, the criteria, the constraints, and a labeled blueprint.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The cycle: DESIGN → BUILD → TEST → REFINE.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120640"/>
            <a:ext cx="2468879" cy="640080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DESIGN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218688" y="5330951"/>
            <a:ext cx="237744" cy="219456"/>
          </a:xfrm>
          <a:prstGeom prst="rightArrow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474720" y="5120640"/>
            <a:ext cx="2468879" cy="640080"/>
          </a:xfrm>
          <a:prstGeom prst="round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BUILD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961888" y="5330951"/>
            <a:ext cx="237744" cy="219456"/>
          </a:xfrm>
          <a:prstGeom prst="rightArrow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17919" y="5120640"/>
            <a:ext cx="2468879" cy="640080"/>
          </a:xfrm>
          <a:prstGeom prst="round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TEST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8705087" y="5330951"/>
            <a:ext cx="237744" cy="219456"/>
          </a:xfrm>
          <a:prstGeom prst="rightArrow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961119" y="5120640"/>
            <a:ext cx="2468879" cy="640080"/>
          </a:xfrm>
          <a:prstGeom prst="round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REFINE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607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"/>
              </a:rPr>
              <a:t>Blueprint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86384"/>
            <a:ext cx="10607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D5DEEA"/>
                </a:solidFill>
                <a:latin typeface="Arial"/>
              </a:rPr>
              <a:t>Day 1 — design (AP 13.1)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292608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0" i="0">
                <a:solidFill>
                  <a:srgbClr val="D5DEEA"/>
                </a:solidFill>
                <a:latin typeface="Arial"/>
              </a:rPr>
              <a:t>36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201400" y="228600"/>
            <a:ext cx="822960" cy="457200"/>
          </a:xfrm>
          <a:prstGeom prst="roundRect">
            <a:avLst/>
          </a:prstGeom>
          <a:solidFill>
            <a:srgbClr val="3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DRAW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10698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Include: materials · labels · trigger · output · energy-transformation explanation.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NO building until the blueprint check is complete.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607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"/>
              </a:rPr>
              <a:t>Build 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86384"/>
            <a:ext cx="10607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D5DEEA"/>
                </a:solidFill>
                <a:latin typeface="Arial"/>
              </a:rPr>
              <a:t>Day 2 — build + Test 1 (AP 13.2)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292608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0" i="0">
                <a:solidFill>
                  <a:srgbClr val="D5DEEA"/>
                </a:solidFill>
                <a:latin typeface="Arial"/>
              </a:rPr>
              <a:t>37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201400" y="228600"/>
            <a:ext cx="822960" cy="457200"/>
          </a:xfrm>
          <a:prstGeom prst="roundRect">
            <a:avLst/>
          </a:prstGeom>
          <a:solidFill>
            <a:srgbClr val="C0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TEST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10698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Build your device. Test it 3 times.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Record: did it trigger? what output? clear/reliable? what failed? what evidence?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607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"/>
              </a:rPr>
              <a:t>Notes — Insert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86384"/>
            <a:ext cx="10607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D5DEEA"/>
                </a:solidFill>
                <a:latin typeface="Arial"/>
              </a:rPr>
              <a:t>Test → Change → Retest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292608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0" i="0">
                <a:solidFill>
                  <a:srgbClr val="D5DEEA"/>
                </a:solidFill>
                <a:latin typeface="Arial"/>
              </a:rPr>
              <a:t>38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201400" y="228600"/>
            <a:ext cx="822960" cy="457200"/>
          </a:xfrm>
          <a:prstGeom prst="roundRect">
            <a:avLst/>
          </a:prstGeom>
          <a:solidFill>
            <a:srgbClr val="6B4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NOTES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10698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Test 1 result → what we changed → Test 2 result.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Lift the flap to check your reasoning.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607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"/>
              </a:rPr>
              <a:t>Failure is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86384"/>
            <a:ext cx="10607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D5DEEA"/>
                </a:solidFill>
                <a:latin typeface="Arial"/>
              </a:rPr>
              <a:t>Engineering mindset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292608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0" i="0">
                <a:solidFill>
                  <a:srgbClr val="D5DEEA"/>
                </a:solidFill>
                <a:latin typeface="Arial"/>
              </a:rPr>
              <a:t>39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201400" y="228600"/>
            <a:ext cx="822960" cy="457200"/>
          </a:xfrm>
          <a:prstGeom prst="roundRect">
            <a:avLst/>
          </a:prstGeom>
          <a:solidFill>
            <a:srgbClr val="C0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REVEAL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10698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A failed test is NOT a bad engineer. It is a CLUE.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Initial failure is not graded negatively.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607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"/>
              </a:rPr>
              <a:t>Redesign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86384"/>
            <a:ext cx="10607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D5DEEA"/>
                </a:solidFill>
                <a:latin typeface="Arial"/>
              </a:rPr>
              <a:t>Day 3 — change ONE thing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292608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0" i="0">
                <a:solidFill>
                  <a:srgbClr val="D5DEEA"/>
                </a:solidFill>
                <a:latin typeface="Arial"/>
              </a:rPr>
              <a:t>40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201400" y="228600"/>
            <a:ext cx="822960" cy="457200"/>
          </a:xfrm>
          <a:prstGeom prst="round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WRITE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10698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Choose ONE change based on your Test 1 evidence.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Record: WHAT WE CHANGED · WHY · PREDICTION.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120640"/>
            <a:ext cx="3383279" cy="640080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133087" y="5330951"/>
            <a:ext cx="237744" cy="219456"/>
          </a:xfrm>
          <a:prstGeom prst="rightArrow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89120" y="5120640"/>
            <a:ext cx="3383279" cy="640080"/>
          </a:xfrm>
          <a:prstGeom prst="round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→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790688" y="5330951"/>
            <a:ext cx="237744" cy="219456"/>
          </a:xfrm>
          <a:prstGeom prst="rightArrow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046719" y="5120640"/>
            <a:ext cx="3383279" cy="640080"/>
          </a:xfrm>
          <a:prstGeom prst="round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ONE CHANGE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607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"/>
              </a:rPr>
              <a:t>Test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86384"/>
            <a:ext cx="10607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D5DEEA"/>
                </a:solidFill>
                <a:latin typeface="Arial"/>
              </a:rPr>
              <a:t>Day 3 — retest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292608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0" i="0">
                <a:solidFill>
                  <a:srgbClr val="D5DEEA"/>
                </a:solidFill>
                <a:latin typeface="Arial"/>
              </a:rPr>
              <a:t>41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201400" y="228600"/>
            <a:ext cx="822960" cy="457200"/>
          </a:xfrm>
          <a:prstGeom prst="roundRect">
            <a:avLst/>
          </a:prstGeom>
          <a:solidFill>
            <a:srgbClr val="C0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TEST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10698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Test again under the SAME conditions.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Compare Test 1 vs Test 2. Did the change help? What is the evidence?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607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"/>
              </a:rPr>
              <a:t>Final explanation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86384"/>
            <a:ext cx="10607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D5DEEA"/>
                </a:solidFill>
                <a:latin typeface="Arial"/>
              </a:rPr>
              <a:t>Day 4 — claim · evidence · reasoning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292608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0" i="0">
                <a:solidFill>
                  <a:srgbClr val="D5DEEA"/>
                </a:solidFill>
                <a:latin typeface="Arial"/>
              </a:rPr>
              <a:t>42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201400" y="228600"/>
            <a:ext cx="822960" cy="457200"/>
          </a:xfrm>
          <a:prstGeom prst="round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WRITE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10698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CLAIM: what my device does.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EVIDENCE: what I observed.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REASONING: why the evidence supports my claim.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Use “supports” — NOT “proves.”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607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"/>
              </a:rPr>
              <a:t>Present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86384"/>
            <a:ext cx="10607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D5DEEA"/>
                </a:solidFill>
                <a:latin typeface="Arial"/>
              </a:rPr>
              <a:t>Day 4 — AP 13.3 + AP 13.4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292608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0" i="0">
                <a:solidFill>
                  <a:srgbClr val="D5DEEA"/>
                </a:solidFill>
                <a:latin typeface="Arial"/>
              </a:rPr>
              <a:t>43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10698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Share: problem · criteria · constraints · blueprint · Test 1 · redesign · Test 2 · energy pathway.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Peers score with the Presentation Scoring Guide.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20640"/>
            <a:ext cx="2468879" cy="640080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PROBLEM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218688" y="5330951"/>
            <a:ext cx="237744" cy="219456"/>
          </a:xfrm>
          <a:prstGeom prst="rightArrow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474720" y="5120640"/>
            <a:ext cx="2468879" cy="640080"/>
          </a:xfrm>
          <a:prstGeom prst="round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DESIGN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5961888" y="5330951"/>
            <a:ext cx="237744" cy="219456"/>
          </a:xfrm>
          <a:prstGeom prst="rightArrow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17919" y="5120640"/>
            <a:ext cx="2468879" cy="640080"/>
          </a:xfrm>
          <a:prstGeom prst="round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TEST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8705087" y="5330951"/>
            <a:ext cx="237744" cy="219456"/>
          </a:xfrm>
          <a:prstGeom prst="rightArrow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961119" y="5120640"/>
            <a:ext cx="2468879" cy="640080"/>
          </a:xfrm>
          <a:prstGeom prst="round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EXPLAIN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607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"/>
              </a:rPr>
              <a:t>Reflect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86384"/>
            <a:ext cx="10607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D5DEEA"/>
                </a:solidFill>
                <a:latin typeface="Arial"/>
              </a:rPr>
              <a:t>Week 4 exit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292608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0" i="0">
                <a:solidFill>
                  <a:srgbClr val="D5DEEA"/>
                </a:solidFill>
                <a:latin typeface="Arial"/>
              </a:rPr>
              <a:t>44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201400" y="228600"/>
            <a:ext cx="822960" cy="457200"/>
          </a:xfrm>
          <a:prstGeom prst="round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WRITE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10698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What is ONE thing you would change next time, and why?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What did you learn about energy transformation and engineering design?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