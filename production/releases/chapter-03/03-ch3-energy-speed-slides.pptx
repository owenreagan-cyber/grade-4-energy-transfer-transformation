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Arial"/>
              </a:rPr>
              <a:t>Energy and Speed Are Related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Chapter 3  ·  Grade 4  ·  Week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840480"/>
            <a:ext cx="2834640" cy="9144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SAME OBJECT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23360" y="402336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0" y="3840480"/>
            <a:ext cx="283464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3A5F"/>
                </a:solidFill>
                <a:latin typeface="Arial"/>
              </a:rPr>
              <a:t>FASTER MOTION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63840" y="402336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0" y="3840480"/>
            <a:ext cx="2377440" cy="9144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GREATER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changed?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4754880" cy="219456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SLOW roll
cup moves a little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806440" y="2926080"/>
            <a:ext cx="82296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66560" y="2103120"/>
            <a:ext cx="4754880" cy="219456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FASTER roll
cup moves a 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The SAME ball, moving faster, caused a greater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I notice…  I wonder…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32918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>
                <a:solidFill>
                  <a:srgbClr val="1F3A5F"/>
                </a:solidFill>
                <a:latin typeface="Arial"/>
              </a:rPr>
              <a:t>I notice…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4937760" cy="32918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>
                <a:solidFill>
                  <a:srgbClr val="1F3A5F"/>
                </a:solidFill>
                <a:latin typeface="Arial"/>
              </a:rPr>
              <a:t>I wonder…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Same object reminder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94560" cy="5486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4572000" cy="18288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SAME ball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834640"/>
            <a:ext cx="1371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555555"/>
                </a:solidFill>
                <a:latin typeface="Arial"/>
              </a:rP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377440"/>
            <a:ext cx="429768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SAME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We only change the speed. The object stays the same.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77440"/>
            <a:ext cx="996696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Which roll will cause the greater change — the slow one or the faster 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Big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98480" cy="18288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How are energy and speed related?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Remember from Chapter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468880"/>
            <a:ext cx="9418320" cy="164592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A moving object has energy of motion.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is speed?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94560" cy="5486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10332720" cy="173736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Speed: a measurement of the distance an object travels over an amount of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Arial"/>
              </a:rPr>
              <a:t>— Student Reader, p.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Same ball, different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94560" cy="5486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SLOWER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C05014"/>
                </a:solidFill>
                <a:latin typeface="Arial"/>
              </a:rPr>
              <a:t>FASTER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834640"/>
            <a:ext cx="2011680" cy="10972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3383280" y="3108960"/>
            <a:ext cx="2011680" cy="50292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2834640"/>
            <a:ext cx="2011680" cy="10972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9052560" y="3108960"/>
            <a:ext cx="3017520" cy="50292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55555"/>
                </a:solidFill>
                <a:latin typeface="Arial"/>
              </a:rPr>
              <a:t>Arrows are a model — longer arrow = faster (not a measured speed).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Notebook —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94560" cy="5486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9966960" cy="164592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Speed describes how ______ an object moves.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97680"/>
            <a:ext cx="9966960" cy="9144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Our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Ramp It Up! 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1051560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How does ramp height affect the change caused by the same ball?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Fair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10332720" cy="18288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Change ONE thing. Keep the important conditions the SAME.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3383280" cy="219456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WE CHANGE
ramp height
(1 · 2 · 3 books)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103120"/>
            <a:ext cx="3383280" cy="219456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3A5F"/>
                </a:solidFill>
                <a:latin typeface="Arial"/>
              </a:rPr>
              <a:t>WE KEEP SAME
ball · cup · surface · release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103120"/>
            <a:ext cx="3383280" cy="219456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WE MEASURE
cup displacement (cm)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C05014"/>
                </a:solidFill>
                <a:latin typeface="Arial"/>
              </a:rPr>
              <a:t>We do NOT measure speed or energy.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Ramp It Up! 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•  Cardboard ramp + books (1, 2, 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91839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•  Lightweight cup at the marked start 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48056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•  Ruler (cm) · tape markers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Ramp It Up! 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996696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At which ramp height will the cup move the farthest?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Ramp It Up! 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1.  Release the ball from the top of the ramp (no push).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91839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2.  Measure how far the cup moved (cm).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48056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3.  Repeat 3 trials; then try the next ramp height.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Data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94560" cy="5486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94560"/>
            <a:ext cx="9966960" cy="10058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Ramp Height | Trial 1 | Trial 2 | Trial 3 | Average (cm)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566160"/>
            <a:ext cx="9966960" cy="10058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1 book  ·  2 books  ·  3 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Graph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94560" cy="5486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94560"/>
            <a:ext cx="9966960" cy="10972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Ramp Height vs. Average Cup Displacement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Arial"/>
              </a:rPr>
              <a:t>X-axis: Ramp Height (books)    Y-axis: Average Cup Displacement (cm)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05014"/>
                </a:solidFill>
                <a:latin typeface="Arial"/>
              </a:rPr>
              <a:t>NOT “Speed vs. Energy” — we did not measure speed or energy.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Graph interpretation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10332720" cy="18288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Higher ramp → the cup moved farther.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Measured vs inferred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94560" cy="5486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029200" cy="256032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3A5F"/>
                </a:solidFill>
                <a:latin typeface="Arial"/>
              </a:rPr>
              <a:t>MEASURED
ramp height (books)
cup displacement (cm)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029200" cy="256032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INFERRED
relative speed
speed ↔ energy relationship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C05014"/>
                </a:solidFill>
                <a:latin typeface="Arial"/>
              </a:rPr>
              <a:t>We did NOT measure speed or energy.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Reader connection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033272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Greater speed → greater change → greater energy of motion.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Arial"/>
              </a:rPr>
              <a:t>— Student Reader, pp. 13–16 (catch a ball · ramp/bucket · bounce)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Evidence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2743200" cy="13716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SAME OBJECT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83464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2286000"/>
            <a:ext cx="2743200" cy="13716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3A5F"/>
                </a:solidFill>
                <a:latin typeface="Arial"/>
              </a:rPr>
              <a:t>FASTER MOTION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406640" y="283464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0" y="2286000"/>
            <a:ext cx="3017520" cy="13716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GREATER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→ greater energy of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Misconception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94560" cy="5486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12801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Did we directly measure speed or energy?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10332720" cy="128016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NO — we measured the change and inferred the relationship.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Drop It —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996696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At which height will the ball make the biggest crater?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Drop It —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•  Same ball · same sand tray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91839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•  Fixed heights: 30 cm · 60 cm (optional 90 cm)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48056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•  Measure crater width (cm) · depth = shallow/medium/deep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Drop It —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10332720" cy="18288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Higher drop → faster → bigger crater → greater energy of motion.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Bring it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2743200" cy="13716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SAME OBJECT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83464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2286000"/>
            <a:ext cx="2743200" cy="13716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3A5F"/>
                </a:solidFill>
                <a:latin typeface="Arial"/>
              </a:rPr>
              <a:t>FASTER MOTION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406640" y="283464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0" y="2286000"/>
            <a:ext cx="3017520" cy="13716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GREATER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…shown by a greater observed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Exit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0332720" cy="10972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Name one thing we MEASURED and one thing we INFERRED.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555555"/>
                </a:solidFill>
                <a:latin typeface="Arial"/>
              </a:rPr>
              <a:t>MEASURED: ___________    INFERRED: 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