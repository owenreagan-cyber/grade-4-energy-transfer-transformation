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Arial"/>
              </a:rPr>
              <a:t>Collisions Transfer Energy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D5DEEA"/>
                </a:solidFill>
                <a:latin typeface="Arial"/>
              </a:rPr>
              <a:t>Chapter 5 · Grade 4 · Week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572000"/>
            <a:ext cx="2468879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COLLISION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18688" y="4782312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74720" y="4572000"/>
            <a:ext cx="246887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MOTION CAN CHANGE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961888" y="4782312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19" y="4572000"/>
            <a:ext cx="246887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ENERGY CAN TRANSFER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705087" y="4782312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61119" y="4572000"/>
            <a:ext cx="2468879" cy="64008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ENERGY DOES NOT DISAPPEAR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2011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14600"/>
            <a:ext cx="1069848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rial"/>
              </a:rPr>
              <a:t>How is energy involved in collisions?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0">
                <a:solidFill>
                  <a:srgbClr val="555555"/>
                </a:solidFill>
                <a:latin typeface="Arial"/>
              </a:rPr>
              <a:t>Big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555555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Clap. Stomp. Tap.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Opening phenomenon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Clap your hands. Stomp your foot. Tap a pencil.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Every time, something changed.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I notice… I wonder…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Opening phenomenon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I notice: a sound, a feeling, maybe a shape changed.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I wonder: how is energy involved?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What is a collision?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Definition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1400" y="228600"/>
            <a:ext cx="822960" cy="45720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WRITE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A collision happens when two objects come together with impact.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collide = to come together with impact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collision = an instance of colliding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120640"/>
            <a:ext cx="3383279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TWO OBJECTS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33087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9120" y="5120640"/>
            <a:ext cx="338327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COME TOGETHER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790688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46719" y="5120640"/>
            <a:ext cx="3383279" cy="64008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WITH IMPACT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Notes — collision vocab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Insert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1400" y="228600"/>
            <a:ext cx="822960" cy="457200"/>
          </a:xfrm>
          <a:prstGeom prst="roundRect">
            <a:avLst/>
          </a:prstGeom>
          <a:solidFill>
            <a:srgbClr val="6B4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NOTES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Fill in the blanks: collide, collision, sound.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Draw one collision and label what changed.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Changes in motion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Reader pp. 25–26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A bowling ball hits the pins.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Some energy of motion transfers to the pins.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The pins move — the ball keeps less.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3383279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BALL MOVES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133087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0" y="5120640"/>
            <a:ext cx="338327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TRANSFERS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790688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19" y="5120640"/>
            <a:ext cx="3383279" cy="64008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PINS MOVE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Changes in shape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Reader p. 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Clay flattens on a wall. An egg cracks.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A collision can change an object's shape.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Changes we hear — sound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Reader p. 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Collisions often make a sound.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Some energy of motion becomes sound energy.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sound = a form of energy from a vibrating object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3383279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MOTION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133087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0" y="5120640"/>
            <a:ext cx="338327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→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790688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19" y="5120640"/>
            <a:ext cx="3383279" cy="64008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SOUND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Speed affects collisions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Reader p. 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The SAME object moving faster has greater energy of motion.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Faster → transfers more energy → greater change.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3383279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SAME OBJECT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133087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0" y="5120640"/>
            <a:ext cx="338327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FASTER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790688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19" y="5120640"/>
            <a:ext cx="3383279" cy="64008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GREATER CHANGE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Weight affects collisions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Reader p.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At about the SAME speed, the heavier object has more energy of motion.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Heavier → greater change.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3383279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SAME SPEED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133087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0" y="5120640"/>
            <a:ext cx="338327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HEAVIER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790688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19" y="5120640"/>
            <a:ext cx="3383279" cy="64008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GREATER CHANGE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Check — Lesson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AP 10.1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1400" y="228600"/>
            <a:ext cx="822960" cy="45720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WRITE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Look at the picture (foot + ball).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What objects collide?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What energy is there before? After?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Fair test — change ONE thing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Investigating collisions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Part A: change ONLY ramp height (same car, same target, same surface).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Part B: change ONLY mass/weight (same ramp, same target, same surface).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We measure how far the TARGET moves.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3383279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CHANGE ONE THING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133087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0" y="5120640"/>
            <a:ext cx="338327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KEEP THE REST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790688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19" y="5120640"/>
            <a:ext cx="3383279" cy="64008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MEASURE THE CHANGE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Notes — model + fair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Insert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1400" y="228600"/>
            <a:ext cx="822960" cy="457200"/>
          </a:xfrm>
          <a:prstGeom prst="roundRect">
            <a:avLst/>
          </a:prstGeom>
          <a:solidFill>
            <a:srgbClr val="6B4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NOTES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Copy the model: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COLLISION → MOTION CAN CHANGE → ENERGY CAN TRANSFER → ENERGY DOES NOT DISAPPEAR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120640"/>
            <a:ext cx="2468879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COLLISION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218688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74720" y="5120640"/>
            <a:ext cx="246887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MOTION CAN CHANGE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961888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19" y="5120640"/>
            <a:ext cx="246887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ENERGY CAN TRANSFER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705087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961119" y="5120640"/>
            <a:ext cx="2468879" cy="64008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ENERGY DOES NOT DISAPPEAR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Crash Lab Part A — SPEED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Predict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Same car, three ramp heights.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Which height will move the target farthest?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Why?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Part A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Fair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1400" y="228600"/>
            <a:ext cx="822960" cy="45720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LABEL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SAME car, SAME target, SAME surface.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Change ONLY ramp height: 1 / 2 / 3 books.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Higher ramp → faster car (inferred).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120640"/>
            <a:ext cx="3383279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SAME CAR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33087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9120" y="5120640"/>
            <a:ext cx="338327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VARY RAMP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790688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46719" y="5120640"/>
            <a:ext cx="3383279" cy="64008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MEASURE TARGET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Part A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Test + record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1400" y="228600"/>
            <a:ext cx="822960" cy="45720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WRITE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Roll the car from each ramp height.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Measure target displacement (cm).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3 trials each. Listen for the sound (loud/quiet).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Part A compare + explain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Compare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1400" y="228600"/>
            <a:ext cx="822960" cy="457200"/>
          </a:xfrm>
          <a:prstGeom prst="roundRect">
            <a:avLst/>
          </a:prstGeom>
          <a:solidFill>
            <a:srgbClr val="C0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REVEAL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Highest ramp → target moved farthest.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Faster car → more energy of motion → greater change.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120640"/>
            <a:ext cx="3383279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HIGHER RAMP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33087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9120" y="5120640"/>
            <a:ext cx="338327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FASTER CAR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790688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46719" y="5120640"/>
            <a:ext cx="3383279" cy="64008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MORE CHANGE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Crash Lab Part B — MASS / WEIGHT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Predict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Same ramp, three masses.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Which mass will move the target farthest?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Why?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Part B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Fair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1400" y="228600"/>
            <a:ext cx="822960" cy="45720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LABEL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SAME ramp height, SAME target, SAME surface.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Change ONLY mass: 1 / 2 / 3 cars taped.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Cars roll at about the same speed.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120640"/>
            <a:ext cx="3383279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SAME RAMP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33087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9120" y="5120640"/>
            <a:ext cx="338327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VARY MASS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790688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46719" y="5120640"/>
            <a:ext cx="3383279" cy="64008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MEASURE TARGET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Part B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Test + record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1400" y="228600"/>
            <a:ext cx="822960" cy="45720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WRITE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Roll each mass down the SAME ramp height.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Measure target displacement (cm).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3 trials each. Listen for the sound (loud/quiet).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Part B compare + explain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Compare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1400" y="228600"/>
            <a:ext cx="822960" cy="457200"/>
          </a:xfrm>
          <a:prstGeom prst="roundRect">
            <a:avLst/>
          </a:prstGeom>
          <a:solidFill>
            <a:srgbClr val="C0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REVEAL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Heaviest car → target moved farthest.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Same speed, heavier car → more energy of motion.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120640"/>
            <a:ext cx="3383279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SAME SPEED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33087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9120" y="5120640"/>
            <a:ext cx="338327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HEAVIER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790688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46719" y="5120640"/>
            <a:ext cx="3383279" cy="64008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MORE CHANGE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Notes — Part A + B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Insert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1400" y="228600"/>
            <a:ext cx="822960" cy="457200"/>
          </a:xfrm>
          <a:prstGeom prst="roundRect">
            <a:avLst/>
          </a:prstGeom>
          <a:solidFill>
            <a:srgbClr val="6B4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NOTES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Write your evidence: the target moved farthest when ____.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Circle the ONE thing you changed in each part.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Energy does NOT disappear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Synthesis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1400" y="228600"/>
            <a:ext cx="822960" cy="457200"/>
          </a:xfrm>
          <a:prstGeom prst="roundRect">
            <a:avLst/>
          </a:prstGeom>
          <a:solidFill>
            <a:srgbClr val="C0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REVEAL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A car hits a cup. The cup moves. We hear a sound.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Energy moved to the cup + became sound (+ a tiny bit of heat).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Energy did NOT disappear.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120640"/>
            <a:ext cx="2468879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COLLISION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218688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74720" y="5120640"/>
            <a:ext cx="246887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MOTION CAN CHANGE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961888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19" y="5120640"/>
            <a:ext cx="2468879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ENERGY CAN TRANSFER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705087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961119" y="5120640"/>
            <a:ext cx="2468879" cy="64008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ENERGY DOES NOT DISAPPEAR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Notes — lift the flap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Insert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1400" y="228600"/>
            <a:ext cx="822960" cy="457200"/>
          </a:xfrm>
          <a:prstGeom prst="roundRect">
            <a:avLst/>
          </a:prstGeom>
          <a:solidFill>
            <a:srgbClr val="6B4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NOTES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Q: Did the energy disappear?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Lift the flap → A: No — it transferred.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Misconception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Synthesis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201400" y="228600"/>
            <a:ext cx="822960" cy="457200"/>
          </a:xfrm>
          <a:prstGeom prst="roundRect">
            <a:avLst/>
          </a:prstGeom>
          <a:solidFill>
            <a:srgbClr val="C0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REVEAL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“Did the energy vanish when the car stopped?”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NO — it transferred to the target and became sound.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Predictable collisions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Synthesis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PREDICT → TEST → OBSERVE → COMPARE → EXPLAIN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Same setup → same kind of outcome.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920240" cy="6400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PREDICT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670048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26080" y="5120640"/>
            <a:ext cx="1920240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TEST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864608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20640" y="5120640"/>
            <a:ext cx="1920240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OBSERVE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059167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0" y="5120640"/>
            <a:ext cx="1920240" cy="640080"/>
          </a:xfrm>
          <a:prstGeom prst="roundRect">
            <a:avLst/>
          </a:prstGeom>
          <a:solidFill>
            <a:srgbClr val="2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COMPARE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253728" y="5330951"/>
            <a:ext cx="237744" cy="219456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509760" y="5120640"/>
            <a:ext cx="1920240" cy="64008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EXPLAIN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607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Review / exit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D5DEEA"/>
                </a:solidFill>
                <a:latin typeface="Arial"/>
              </a:rPr>
              <a:t>Chapter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9260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i="0">
                <a:solidFill>
                  <a:srgbClr val="D5DEEA"/>
                </a:solidFill>
                <a:latin typeface="Arial"/>
              </a:rPr>
              <a:t>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A1A1A"/>
                </a:solidFill>
                <a:latin typeface="Arial"/>
              </a:rPr>
              <a:t>Name ONE change a collision causes and where the energy went.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