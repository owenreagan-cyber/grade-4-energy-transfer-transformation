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Title · orient</a:t>
            </a:r>
          </a:p>
          <a:p>
            <a:r>
              <a:t>TIME 1 min</a:t>
            </a:r>
          </a:p>
          <a:p>
            <a:r>
              <a:t>PLAN Session 1 (Wed 10/14) · REQUIRED · 1 min</a:t>
            </a:r>
          </a:p>
          <a:p>
            <a:r>
              <a:t>STUDENT RESOURCE Guided Notes (not yet open)</a:t>
            </a:r>
          </a:p>
          <a:p>
            <a:r>
              <a:t>ASK What can a moving object do to other things?</a:t>
            </a:r>
          </a:p>
          <a:p>
            <a:r>
              <a:t>LISTEN FOR words like move, hit, change</a:t>
            </a:r>
          </a:p>
          <a:p>
            <a:r>
              <a:t>NEXT Open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BQ · introduce</a:t>
            </a:r>
          </a:p>
          <a:p>
            <a:r>
              <a:t>TIME 2 min</a:t>
            </a:r>
          </a:p>
          <a:p>
            <a:r>
              <a:t>PLAN Session 1 (Wed 10/14) · REQUIRED · 2 min · RE-ENTRY: Session 2 also opens on this slide (1 min)</a:t>
            </a:r>
          </a:p>
          <a:p>
            <a:r>
              <a:t>STUDENT RESOURCE Guided Notes p.1 (BQ box)</a:t>
            </a:r>
          </a:p>
          <a:p>
            <a:r>
              <a:t>ASK What change have you seen a moving object cause?</a:t>
            </a:r>
          </a:p>
          <a:p>
            <a:r>
              <a:t>LISTEN FOR hit, knock over, push, move</a:t>
            </a:r>
          </a:p>
          <a:p>
            <a:r>
              <a:t>REVEAL Do not answer the BQ yet — we collect evidence first.</a:t>
            </a:r>
          </a:p>
          <a:p>
            <a:r>
              <a:t>NEXT My first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anchor</a:t>
            </a:r>
          </a:p>
          <a:p>
            <a:r>
              <a:t>TIME 2 min</a:t>
            </a:r>
          </a:p>
          <a:p>
            <a:r>
              <a:t>PLAN Session 1 (Wed 10/14) · REQUIRED · 2 min</a:t>
            </a:r>
          </a:p>
          <a:p>
            <a:r>
              <a:t>STUDENT RESOURCE Guided Notes p.1 top</a:t>
            </a:r>
          </a:p>
          <a:p>
            <a:r>
              <a:t>ASK What change can a moving object cause? Write your first idea.</a:t>
            </a:r>
          </a:p>
          <a:p>
            <a:r>
              <a:t>LISTEN FOR students naming a change (not 'energy')</a:t>
            </a:r>
          </a:p>
          <a:p>
            <a:r>
              <a:t>MISCONCEPTION Accept any change; do not correct yet.</a:t>
            </a:r>
          </a:p>
          <a:p>
            <a:r>
              <a:t>NEXT Observe the marble collision.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1 min</a:t>
            </a:r>
          </a:p>
          <a:p>
            <a:r>
              <a:t>PLAN Session 1 (Wed 10/14) · REQUIRED · 1 min</a:t>
            </a:r>
          </a:p>
          <a:p>
            <a:r>
              <a:t>STUDENT RESOURCE none (live demo)</a:t>
            </a:r>
          </a:p>
          <a:p>
            <a:r>
              <a:t>ASK What does each marble look like right now?</a:t>
            </a:r>
          </a:p>
          <a:p>
            <a:r>
              <a:t>LISTEN FOR still, rolling, moving</a:t>
            </a:r>
          </a:p>
          <a:p>
            <a:r>
              <a:t>NEXT Predict what will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predict</a:t>
            </a:r>
          </a:p>
          <a:p>
            <a:r>
              <a:t>TIME 1 min</a:t>
            </a:r>
          </a:p>
          <a:p>
            <a:r>
              <a:t>PLAN Session 1 (Wed 10/14) · REQUIRED · 1 min</a:t>
            </a:r>
          </a:p>
          <a:p>
            <a:r>
              <a:t>STUDENT RESOURCE none</a:t>
            </a:r>
          </a:p>
          <a:p>
            <a:r>
              <a:t>ASK What will happen to the still marble?</a:t>
            </a:r>
          </a:p>
          <a:p>
            <a:r>
              <a:t>LISTEN FOR 'it will start moving'</a:t>
            </a:r>
          </a:p>
          <a:p>
            <a:r>
              <a:t>REVEAL Do not confirm yet — run the demo.</a:t>
            </a:r>
          </a:p>
          <a:p>
            <a:r>
              <a:t>NEXT Observe the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2.5 min</a:t>
            </a:r>
          </a:p>
          <a:p>
            <a:r>
              <a:t>PLAN Session 1 (Wed 10/14) · REQUIRED · 2.5 min</a:t>
            </a:r>
          </a:p>
          <a:p>
            <a:r>
              <a:t>STUDENT RESOURCE none</a:t>
            </a:r>
          </a:p>
          <a:p>
            <a:r>
              <a:t>ASK Name every change you saw.</a:t>
            </a:r>
          </a:p>
          <a:p>
            <a:r>
              <a:t>LISTEN FOR 'the still marble moved'</a:t>
            </a:r>
          </a:p>
          <a:p>
            <a:r>
              <a:t>REVEAL The target marble changed from still to moving.</a:t>
            </a:r>
          </a:p>
          <a:p>
            <a:r>
              <a:t>NEXT Turn the change into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evidence</a:t>
            </a:r>
          </a:p>
          <a:p>
            <a:r>
              <a:t>TIME 1.5 min</a:t>
            </a:r>
          </a:p>
          <a:p>
            <a:r>
              <a:t>PLAN Session 1 (Wed 10/14) · REQUIRED · 1.5 min</a:t>
            </a:r>
          </a:p>
          <a:p>
            <a:r>
              <a:t>STUDENT RESOURCE Reader p.9</a:t>
            </a:r>
          </a:p>
          <a:p>
            <a:r>
              <a:t>ASK How do we know the moving marble had energy if we can't see energy?</a:t>
            </a:r>
          </a:p>
          <a:p>
            <a:r>
              <a:t>LISTEN FOR 'we saw the change'</a:t>
            </a:r>
          </a:p>
          <a:p>
            <a:r>
              <a:t>MISCONCEPTION We see the change, not the energy itself.</a:t>
            </a:r>
          </a:p>
          <a:p>
            <a:r>
              <a:t>NEXT Vocabulary: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2.5 min</a:t>
            </a:r>
          </a:p>
          <a:p>
            <a:r>
              <a:t>PLAN Session 1 (Wed 10/14) · REQUIRED · 2.5 min</a:t>
            </a:r>
          </a:p>
          <a:p>
            <a:r>
              <a:t>STUDENT RESOURCE Guided Notes V1 (Reader p.7)</a:t>
            </a:r>
          </a:p>
          <a:p>
            <a:r>
              <a:t>ASK When is an object in motion?</a:t>
            </a:r>
          </a:p>
          <a:p>
            <a:r>
              <a:t>LISTEN FOR 'when it changes position / moves'</a:t>
            </a:r>
          </a:p>
          <a:p>
            <a:r>
              <a:t>REVEAL motion = the process of an object changing position.</a:t>
            </a:r>
          </a:p>
          <a:p>
            <a:r>
              <a:t>NEXT Record V1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anchor</a:t>
            </a:r>
          </a:p>
          <a:p>
            <a:r>
              <a:t>TIME 1.5 min</a:t>
            </a:r>
          </a:p>
          <a:p>
            <a:r>
              <a:t>PLAN Session 1 (Wed 10/14) · REQUIRED · 1.5 min</a:t>
            </a:r>
          </a:p>
          <a:p>
            <a:r>
              <a:t>STUDENT RESOURCE Guided Notes V1 (Reader p.7)</a:t>
            </a:r>
          </a:p>
          <a:p>
            <a:r>
              <a:t>ASK Fill in the blank.</a:t>
            </a:r>
          </a:p>
          <a:p>
            <a:r>
              <a:t>LISTEN FOR 'position'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reveal</a:t>
            </a:r>
          </a:p>
          <a:p>
            <a:r>
              <a:t>TIME 0.5 min</a:t>
            </a:r>
          </a:p>
          <a:p>
            <a:r>
              <a:t>PLAN Session 1 (Wed 10/14) · REQUIRED · 0.5 min</a:t>
            </a:r>
          </a:p>
          <a:p>
            <a:r>
              <a:t>STUDENT RESOURCE Guided Notes V1</a:t>
            </a:r>
          </a:p>
          <a:p>
            <a:r>
              <a:t>REVEAL position</a:t>
            </a:r>
          </a:p>
          <a:p>
            <a:r>
              <a:t>NEXT Moving Objects Can Cause Changes (N1).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concept</a:t>
            </a:r>
          </a:p>
          <a:p>
            <a:r>
              <a:t>TIME 2 min</a:t>
            </a:r>
          </a:p>
          <a:p>
            <a:r>
              <a:t>PLAN Session 1 (Wed 10/14) · REQUIRED · 2 min</a:t>
            </a:r>
          </a:p>
          <a:p>
            <a:r>
              <a:t>STUDENT RESOURCE Reader p.8</a:t>
            </a:r>
          </a:p>
          <a:p>
            <a:r>
              <a:t>ASK How does a ball get put into motion?</a:t>
            </a:r>
          </a:p>
          <a:p>
            <a:r>
              <a:t>LISTEN FOR a kick, a throw, or another push</a:t>
            </a:r>
          </a:p>
          <a:p>
            <a:r>
              <a:t>REVEAL Do not say the notes words yet. Students write first.</a:t>
            </a:r>
          </a:p>
          <a:p>
            <a:r>
              <a:t>NEXT Record N1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anchor</a:t>
            </a:r>
          </a:p>
          <a:p>
            <a:r>
              <a:t>TIME 2.5 min</a:t>
            </a:r>
          </a:p>
          <a:p>
            <a:r>
              <a:t>PLAN Session 1 (Wed 10/14) · REQUIRED · 2.5 min</a:t>
            </a:r>
          </a:p>
          <a:p>
            <a:r>
              <a:t>STUDENT RESOURCE Guided Notes N1 (Reader p.8)</a:t>
            </a:r>
          </a:p>
          <a:p>
            <a:r>
              <a:t>ASK Fill in the two blanks.</a:t>
            </a:r>
          </a:p>
          <a:p>
            <a:r>
              <a:t>LISTEN FOR the two missing words</a:t>
            </a:r>
          </a:p>
          <a:p>
            <a:r>
              <a:t>REVEAL Reveal after writing.</a:t>
            </a:r>
          </a:p>
          <a:p>
            <a:r>
              <a:t>NEXT Check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reveal</a:t>
            </a:r>
          </a:p>
          <a:p>
            <a:r>
              <a:t>TIME 0.5 min</a:t>
            </a:r>
          </a:p>
          <a:p>
            <a:r>
              <a:t>PLAN Session 1 (Wed 10/14) · REQUIRED · 0.5 min</a:t>
            </a:r>
          </a:p>
          <a:p>
            <a:r>
              <a:t>STUDENT RESOURCE Guided Notes N1</a:t>
            </a:r>
          </a:p>
          <a:p>
            <a:r>
              <a:t>REVEAL change · outside</a:t>
            </a:r>
          </a:p>
          <a:p>
            <a:r>
              <a:t>NEXT Vocabulary: energy of motion (V2).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2 min</a:t>
            </a:r>
          </a:p>
          <a:p>
            <a:r>
              <a:t>PLAN Session 1 (Wed 10/14) · REQUIRED · 2 min</a:t>
            </a:r>
          </a:p>
          <a:p>
            <a:r>
              <a:t>STUDENT RESOURCE Guided Notes V2 (Reader p.9)</a:t>
            </a:r>
          </a:p>
          <a:p>
            <a:r>
              <a:t>ASK Does a rolling marble have energy? How do you know?</a:t>
            </a:r>
          </a:p>
          <a:p>
            <a:r>
              <a:t>LISTEN FOR 'yes — it can cause a change'</a:t>
            </a:r>
          </a:p>
          <a:p>
            <a:r>
              <a:t>REVEAL energy of motion = energy an object has while moving.</a:t>
            </a:r>
          </a:p>
          <a:p>
            <a:r>
              <a:t>NEXT Record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anchor</a:t>
            </a:r>
          </a:p>
          <a:p>
            <a:r>
              <a:t>TIME 1 min</a:t>
            </a:r>
          </a:p>
          <a:p>
            <a:r>
              <a:t>PLAN Session 1 (Wed 10/14) · REQUIRED · 1 min</a:t>
            </a:r>
          </a:p>
          <a:p>
            <a:r>
              <a:t>STUDENT RESOURCE Guided Notes V2 (Reader p.9)</a:t>
            </a:r>
          </a:p>
          <a:p>
            <a:r>
              <a:t>ASK Fill in the blank.</a:t>
            </a:r>
          </a:p>
          <a:p>
            <a:r>
              <a:t>LISTEN FOR 'moving'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reveal</a:t>
            </a:r>
          </a:p>
          <a:p>
            <a:r>
              <a:t>TIME 0.5 min</a:t>
            </a:r>
          </a:p>
          <a:p>
            <a:r>
              <a:t>PLAN Session 1 (Wed 10/14) · REQUIRED · 0.5 min</a:t>
            </a:r>
          </a:p>
          <a:p>
            <a:r>
              <a:t>STUDENT RESOURCE Guided Notes V2</a:t>
            </a:r>
          </a:p>
          <a:p>
            <a:r>
              <a:t>REVEAL moving</a:t>
            </a:r>
          </a:p>
          <a:p>
            <a:r>
              <a:t>NEXT Moving Objects Have Energy (N2).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1 min</a:t>
            </a:r>
          </a:p>
          <a:p>
            <a:r>
              <a:t>PLAN Session 2 (Thu 10/15) · REQUIRED · 1 min</a:t>
            </a:r>
          </a:p>
          <a:p>
            <a:r>
              <a:t>STUDENT RESOURCE Reader p.9</a:t>
            </a:r>
          </a:p>
          <a:p>
            <a:r>
              <a:t>ASK Trace: moving object → change → evidence.</a:t>
            </a:r>
          </a:p>
          <a:p>
            <a:r>
              <a:t>LISTEN FOR students using 'evidence' not 'proof'</a:t>
            </a:r>
          </a:p>
          <a:p>
            <a:r>
              <a:t>NEXT Record N2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N2 anchor</a:t>
            </a:r>
          </a:p>
          <a:p>
            <a:r>
              <a:t>TIME 1 min</a:t>
            </a:r>
          </a:p>
          <a:p>
            <a:r>
              <a:t>PLAN Session 2 (Thu 10/15) · REQUIRED · 1 min</a:t>
            </a:r>
          </a:p>
          <a:p>
            <a:r>
              <a:t>STUDENT RESOURCE Guided Notes N2 (Reader p.9)</a:t>
            </a:r>
          </a:p>
          <a:p>
            <a:r>
              <a:t>ASK Fill in the blank.</a:t>
            </a:r>
          </a:p>
          <a:p>
            <a:r>
              <a:t>LISTEN FOR 'motion'</a:t>
            </a:r>
          </a:p>
          <a:p>
            <a:r>
              <a:t>REVEAL Reveal after writing.</a:t>
            </a:r>
          </a:p>
          <a:p>
            <a:r>
              <a:t>NEXT Observe: marble collision (OBSERVE 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N2 OBSERVE</a:t>
            </a:r>
          </a:p>
          <a:p>
            <a:r>
              <a:t>TIME 2 min</a:t>
            </a:r>
          </a:p>
          <a:p>
            <a:r>
              <a:t>PLAN Session 2 (Thu 10/15) · REQUIRED · 2 min</a:t>
            </a:r>
          </a:p>
          <a:p>
            <a:r>
              <a:t>STUDENT RESOURCE Guided Notes N2 (OBSERVE box)</a:t>
            </a:r>
          </a:p>
          <a:p>
            <a:r>
              <a:t>RECALL 30 seconds: What did the target marble do yesterday? If students do not remember, roll the marble once. A reminder, not a new investigation.</a:t>
            </a:r>
          </a:p>
          <a:p>
            <a:r>
              <a:t>ASK Draw the two marbles before and after.</a:t>
            </a:r>
          </a:p>
          <a:p>
            <a:r>
              <a:t>LISTEN FOR 'the target marble moved'</a:t>
            </a:r>
          </a:p>
          <a:p>
            <a:r>
              <a:t>REVEAL Sample: the target marble changed from sitting still to moving.</a:t>
            </a:r>
          </a:p>
          <a:p>
            <a:r>
              <a:t>NEXT Check N2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N2 reveal</a:t>
            </a:r>
          </a:p>
          <a:p>
            <a:r>
              <a:t>TIME 0.5 min</a:t>
            </a:r>
          </a:p>
          <a:p>
            <a:r>
              <a:t>PLAN Session 2 (Thu 10/15) · REQUIRED · 0.5 min</a:t>
            </a:r>
          </a:p>
          <a:p>
            <a:r>
              <a:t>STUDENT RESOURCE Guided Notes N2</a:t>
            </a:r>
          </a:p>
          <a:p>
            <a:r>
              <a:t>REVEAL motion + sample change response</a:t>
            </a:r>
          </a:p>
          <a:p>
            <a:r>
              <a:t>NEXT People Use the Energy of Motion (N3).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concept</a:t>
            </a:r>
          </a:p>
          <a:p>
            <a:r>
              <a:t>TIME 1 min</a:t>
            </a:r>
          </a:p>
          <a:p>
            <a:r>
              <a:t>PLAN Session 2 (Thu 10/15) · REQUIRED · 1 min</a:t>
            </a:r>
          </a:p>
          <a:p>
            <a:r>
              <a:t>STUDENT RESOURCE Reader pp.10–12</a:t>
            </a:r>
          </a:p>
          <a:p>
            <a:r>
              <a:t>ASK What change does each moving object cause?</a:t>
            </a:r>
          </a:p>
          <a:p>
            <a:r>
              <a:t>LISTEN FOR the change each one causes</a:t>
            </a:r>
          </a:p>
          <a:p>
            <a:r>
              <a:t>NEXT Record N3 table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anchor</a:t>
            </a:r>
          </a:p>
          <a:p>
            <a:r>
              <a:t>TIME 1.5 min</a:t>
            </a:r>
          </a:p>
          <a:p>
            <a:r>
              <a:t>PLAN Session 2 (Thu 10/15) · REQUIRED · 1.5 min</a:t>
            </a:r>
          </a:p>
          <a:p>
            <a:r>
              <a:t>STUDENT RESOURCE Guided Notes N3 (Reader pp.10–12)</a:t>
            </a:r>
          </a:p>
          <a:p>
            <a:r>
              <a:t>ASK Write or draw the change each moving object causes.</a:t>
            </a:r>
          </a:p>
          <a:p>
            <a:r>
              <a:t>LISTEN FOR the change each object causes</a:t>
            </a:r>
          </a:p>
          <a:p>
            <a:r>
              <a:t>NEXT Check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reveal</a:t>
            </a:r>
          </a:p>
          <a:p>
            <a:r>
              <a:t>TIME 0.5 min</a:t>
            </a:r>
          </a:p>
          <a:p>
            <a:r>
              <a:t>PLAN Session 2 (Thu 10/15) · REQUIRED · 0.5 min</a:t>
            </a:r>
          </a:p>
          <a:p>
            <a:r>
              <a:t>STUDENT RESOURCE Guided Notes N3</a:t>
            </a:r>
          </a:p>
          <a:p>
            <a:r>
              <a:t>REVEAL hammer → nail · pendulum → clock gears · wind → turbine blades</a:t>
            </a:r>
          </a:p>
          <a:p>
            <a:r>
              <a:t>NEXT Check Your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Check Your Thinking</a:t>
            </a:r>
          </a:p>
          <a:p>
            <a:r>
              <a:t>TIME 1.5 min</a:t>
            </a:r>
          </a:p>
          <a:p>
            <a:r>
              <a:t>PLAN Session 2 (Thu 10/15) · REQUIRED · 1.5 min</a:t>
            </a:r>
          </a:p>
          <a:p>
            <a:r>
              <a:t>STUDENT RESOURCE Guided Notes (CHECK)</a:t>
            </a:r>
          </a:p>
          <a:p>
            <a:r>
              <a:t>ASK Complete the sentence starter.</a:t>
            </a:r>
          </a:p>
          <a:p>
            <a:r>
              <a:t>LISTEN FOR 'a change, like a marble starting to move'</a:t>
            </a:r>
          </a:p>
          <a:p>
            <a:r>
              <a:t>NEXT Reveal a sample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evidence</a:t>
            </a:r>
          </a:p>
          <a:p>
            <a:r>
              <a:t>TIME 0.5 min</a:t>
            </a:r>
          </a:p>
          <a:p>
            <a:r>
              <a:t>PLAN Session 2 (Thu 10/15) · REQUIRED · 0.5 min</a:t>
            </a:r>
          </a:p>
          <a:p>
            <a:r>
              <a:t>STUDENT RESOURCE Guided Notes (CHECK)</a:t>
            </a:r>
          </a:p>
          <a:p>
            <a:r>
              <a:t>REVEAL Sample response (accept any change-as-evidence).</a:t>
            </a:r>
          </a:p>
          <a:p>
            <a:r>
              <a:t>NEXT Apply: which object shows the energy of motion?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Apply · evidence</a:t>
            </a:r>
          </a:p>
          <a:p>
            <a:r>
              <a:t>TIME 2 min</a:t>
            </a:r>
          </a:p>
          <a:p>
            <a:r>
              <a:t>PLAN Session 2 (Thu 10/15) · OPTIONAL · 2 min</a:t>
            </a:r>
          </a:p>
          <a:p>
            <a:r>
              <a:t>STUDENT RESOURCE none</a:t>
            </a:r>
          </a:p>
          <a:p>
            <a:r>
              <a:t>ASK Which one shows a moving object causing a change?</a:t>
            </a:r>
          </a:p>
          <a:p>
            <a:r>
              <a:t>LISTEN FOR 'the moving marble'</a:t>
            </a:r>
          </a:p>
          <a:p>
            <a:r>
              <a:t>REVEAL The moving marble makes the still marble move — a change.</a:t>
            </a:r>
          </a:p>
          <a:p>
            <a:r>
              <a:t>NEXT Return to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return</a:t>
            </a:r>
          </a:p>
          <a:p>
            <a:r>
              <a:t>TIME 1.5 min</a:t>
            </a:r>
          </a:p>
          <a:p>
            <a:r>
              <a:t>PLAN Session 2 (Thu 10/15) · REQUIRED · 1.5 min</a:t>
            </a:r>
          </a:p>
          <a:p>
            <a:r>
              <a:t>STUDENT RESOURCE Guided Notes p.3</a:t>
            </a:r>
          </a:p>
          <a:p>
            <a:r>
              <a:t>ASK Answer the Big Question now.</a:t>
            </a:r>
          </a:p>
          <a:p>
            <a:r>
              <a:t>LISTEN FOR a moving object + a change it causes</a:t>
            </a:r>
          </a:p>
          <a:p>
            <a:r>
              <a:t>NEXT End-of-chapter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</a:t>
            </a:r>
          </a:p>
          <a:p>
            <a:r>
              <a:t>TIME 1 min</a:t>
            </a:r>
          </a:p>
          <a:p>
            <a:r>
              <a:t>PLAN OPTIONAL · review only, never inside a required block · not Week 1 Friday (that day is Chapter 1)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 answer</a:t>
            </a:r>
          </a:p>
          <a:p>
            <a:r>
              <a:t>TIME 0.5 min</a:t>
            </a:r>
          </a:p>
          <a:p>
            <a:r>
              <a:t>PLAN OPTIONAL · review only, never inside a required block · not Week 1 Friday (that day is Chapter 1) · 0.5 min</a:t>
            </a:r>
          </a:p>
          <a:p>
            <a:r>
              <a:t>REVEAL energy of motion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</a:t>
            </a:r>
          </a:p>
          <a:p>
            <a:r>
              <a:t>TIME 1 min</a:t>
            </a:r>
          </a:p>
          <a:p>
            <a:r>
              <a:t>PLAN OPTIONAL · review only, never inside a required block · not Week 1 Friday (that day is Chapter 1)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 answer</a:t>
            </a:r>
          </a:p>
          <a:p>
            <a:r>
              <a:t>TIME 0.5 min</a:t>
            </a:r>
          </a:p>
          <a:p>
            <a:r>
              <a:t>PLAN OPTIONAL · review only, never inside a required block · not Week 1 Friday (that day is Chapter 1) · 0.5 min</a:t>
            </a:r>
          </a:p>
          <a:p>
            <a:r>
              <a:t>REVEAL The still marble starts to move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</a:t>
            </a:r>
          </a:p>
          <a:p>
            <a:r>
              <a:t>TIME 1 min</a:t>
            </a:r>
          </a:p>
          <a:p>
            <a:r>
              <a:t>PLAN OPTIONAL · review only, never inside a required block · not Week 1 Friday (that day is Chapter 1)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 answer</a:t>
            </a:r>
          </a:p>
          <a:p>
            <a:r>
              <a:t>TIME 0.5 min</a:t>
            </a:r>
          </a:p>
          <a:p>
            <a:r>
              <a:t>PLAN OPTIONAL · review only, never inside a required block · not Week 1 Friday (that day is Chapter 1) · 0.5 min</a:t>
            </a:r>
          </a:p>
          <a:p>
            <a:r>
              <a:t>REVEAL The nail is driven into the wood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</a:t>
            </a:r>
          </a:p>
          <a:p>
            <a:r>
              <a:t>TIME 1 min</a:t>
            </a:r>
          </a:p>
          <a:p>
            <a:r>
              <a:t>PLAN OPTIONAL · review only, never inside a required block · not Week 1 Friday (that day is Chapter 1)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 answer</a:t>
            </a:r>
          </a:p>
          <a:p>
            <a:r>
              <a:t>TIME 0.5 min</a:t>
            </a:r>
          </a:p>
          <a:p>
            <a:r>
              <a:t>PLAN OPTIONAL · review only, never inside a required block · not Week 1 Friday (that day is Chapter 1) · 0.5 min</a:t>
            </a:r>
          </a:p>
          <a:p>
            <a:r>
              <a:t>REVEAL We observe the change it causes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</a:t>
            </a:r>
          </a:p>
          <a:p>
            <a:r>
              <a:t>TIME 1 min</a:t>
            </a:r>
          </a:p>
          <a:p>
            <a:r>
              <a:t>PLAN OPTIONAL · review only, never inside a required block · not Week 1 Friday (that day is Chapter 1)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 answer</a:t>
            </a:r>
          </a:p>
          <a:p>
            <a:r>
              <a:t>TIME 0.5 min</a:t>
            </a:r>
          </a:p>
          <a:p>
            <a:r>
              <a:t>PLAN OPTIONAL · review only, never inside a required block · not Week 1 Friday (that day is Chapter 1) · 0.5 min</a:t>
            </a:r>
          </a:p>
          <a:p>
            <a:r>
              <a:t>REVEAL Moving air has energy of motion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85800"/>
            <a:ext cx="4480560" cy="50292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venir Next"/>
              </a:rPr>
              <a:t>CHAPTER 2 · GRADE 4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Avenir Next"/>
              </a:rPr>
              <a:t>Moving Objects Have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D8DCE4"/>
                </a:solidFill>
                <a:latin typeface="Avenir Next"/>
              </a:rPr>
              <a:t>Motion  ·  How do we know a moving object has energy?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2529839" cy="86868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71087" y="4128515"/>
            <a:ext cx="374904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64279" y="3840480"/>
            <a:ext cx="2529839" cy="868680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12407" y="4128515"/>
            <a:ext cx="374904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05599" y="3840480"/>
            <a:ext cx="2529839" cy="86868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D8DCE4"/>
                </a:solidFill>
                <a:latin typeface="Avenir Next"/>
              </a:rPr>
              <a:t>Unit 1 · Energy Transfer &amp;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5B6770"/>
                </a:solidFill>
                <a:latin typeface="Avenir Next"/>
              </a:rPr>
              <a:t>Big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83112" cy="173736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How are energy, change, and movement of objects related?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4A5268"/>
                </a:solidFill>
                <a:latin typeface="Avenir Next"/>
              </a:rPr>
              <a:t>Keep it in mind all chapter. We will come back to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Think: What is ONE change a moving object can cause?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Big Question — My first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0F5A5C"/>
                </a:solidFill>
                <a:latin typeface="Avenir Next"/>
              </a:rPr>
              <a:t>How are energy, change, and movement of objects related?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My first thinking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38912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1–2 quick ideas. No wrong answer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Marble Collision — 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One marble sits still. Another marble rolls toward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286000"/>
            <a:ext cx="85039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E8A97"/>
                </a:solidFill>
                <a:latin typeface="Avenir Next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200400"/>
            <a:ext cx="795527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target marble is still.
A moving marble rolls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Observe closely. What do you see BEFORE the marbles touch?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Predict: what will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Think before the moving marble reaches the still marble.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40280"/>
            <a:ext cx="94183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8869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When the moving marble hits the still marble, the still marble will…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57600"/>
            <a:ext cx="8869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get 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321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Make a prediction. Say it to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What changed?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2232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857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>
                <a:solidFill>
                  <a:srgbClr val="0E8A97"/>
                </a:solidFill>
                <a:latin typeface="Avenir Next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28575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target marble still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9100" y="2194560"/>
            <a:ext cx="32232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1980" y="2331720"/>
            <a:ext cx="28575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>
                <a:solidFill>
                  <a:srgbClr val="0E8A97"/>
                </a:solidFill>
                <a:latin typeface="Avenir Next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980" y="2761488"/>
            <a:ext cx="28575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target marble now 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9456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3774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5B6770"/>
                </a:solidFill>
                <a:latin typeface="Avenir Next"/>
              </a:rPr>
              <a:t>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9260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• the still marble starts to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How do we know the marble had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Energy can be invisible. We look for the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2779776"/>
            <a:ext cx="420624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7" y="2779776"/>
            <a:ext cx="420624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The still marble started to move.
That change is evidence that the moving marble had energy.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Vocabulary —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57400"/>
            <a:ext cx="66751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057400"/>
            <a:ext cx="6675120" cy="146304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251460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E7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0F5A5C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414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5B677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70632"/>
            <a:ext cx="6035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0F5A5C"/>
                </a:solidFill>
                <a:latin typeface="Avenir Next"/>
              </a:rPr>
              <a:t>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84048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 i="0">
                <a:solidFill>
                  <a:srgbClr val="1A1D26"/>
                </a:solidFill>
                <a:latin typeface="Avenir Next"/>
              </a:rPr>
              <a:t>the process of an object changing 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800600"/>
            <a:ext cx="6035040" cy="731519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4910328"/>
            <a:ext cx="2651760" cy="512064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venir Next"/>
              </a:rPr>
              <a:t>STILL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70448" y="5038344"/>
            <a:ext cx="420624" cy="256032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4910328"/>
            <a:ext cx="2651760" cy="512064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venir Next"/>
              </a:rPr>
              <a:t>MOVING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6692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Vocabulary —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motion — the process of an object changing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blank.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Vocabulary —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motion — the process of an object changing </a:t>
            </a:r>
            <a:r>
              <a:rPr sz="3000" b="1" i="0">
                <a:solidFill>
                  <a:srgbClr val="0E8A97"/>
                </a:solidFill>
                <a:latin typeface="Avenir Next"/>
              </a:rPr>
              <a:t>position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29184"/>
            <a:ext cx="160020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What can a moving object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8 — think before you write.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789920" cy="201168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 i="0">
                <a:solidFill>
                  <a:srgbClr val="FFFFFF"/>
                </a:solidFill>
                <a:latin typeface="Avenir Next"/>
              </a:rPr>
              <a:t>Some objects start their own motion.
A ball does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Players cause their own motion. A ball does not. Something else puts the ball into motion.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Write the Missing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moving object can cause a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Players cause their own motion. A ball does not. Something else puts the ball into motion.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Some objects cause their own motion. Other objects are put into motion by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motion.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Moving Objects Can Cause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moving object can cause a </a:t>
            </a:r>
            <a:r>
              <a:rPr sz="3000" b="1" i="0">
                <a:solidFill>
                  <a:srgbClr val="0E8A97"/>
                </a:solidFill>
                <a:latin typeface="Avenir Next"/>
              </a:rPr>
              <a:t>change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Players cause their own motion. A ball does not. Something else puts the ball into motion.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Some objects cause their own motion. Other objects are put into motion by </a:t>
            </a:r>
            <a:r>
              <a:rPr sz="3000" b="1" i="0">
                <a:solidFill>
                  <a:srgbClr val="0E8A97"/>
                </a:solidFill>
                <a:latin typeface="Avenir Next"/>
              </a:rPr>
              <a:t>outside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motion.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change · outside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Vocabulary — Energy of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57400"/>
            <a:ext cx="66751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2057400"/>
            <a:ext cx="6675120" cy="146304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251460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E7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0F5A5C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414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5B677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70632"/>
            <a:ext cx="6035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0F5A5C"/>
                </a:solidFill>
                <a:latin typeface="Avenir Next"/>
              </a:rPr>
              <a:t>energy of 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84048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 i="0">
                <a:solidFill>
                  <a:srgbClr val="1A1D26"/>
                </a:solidFill>
                <a:latin typeface="Avenir Next"/>
              </a:rPr>
              <a:t>the energy an object possesses while it is 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800600"/>
            <a:ext cx="6035040" cy="731519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4910328"/>
            <a:ext cx="2651760" cy="512064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venir Next"/>
              </a:rPr>
              <a:t>MOVING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70448" y="5038344"/>
            <a:ext cx="420624" cy="256032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4910328"/>
            <a:ext cx="2651760" cy="512064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6692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Vocabulary — Energy of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of motion — the energy an object possesses while it is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blank.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Vocabulary — Energy of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of motion — the energy an object possesses while it is </a:t>
            </a:r>
            <a:r>
              <a:rPr sz="3000" b="1" i="0">
                <a:solidFill>
                  <a:srgbClr val="0E8A97"/>
                </a:solidFill>
                <a:latin typeface="Avenir Next"/>
              </a:rPr>
              <a:t>moving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moving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Moving objects have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9 — energy is the ability to cause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2825496"/>
            <a:ext cx="420624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7" y="2825496"/>
            <a:ext cx="420624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46888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is the ability to cause change.
A moving object causes change, so it has energy.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Moving Objects Have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All moving objects have energy of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Energy is the ability to cause change. A moving object causes change, so it has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2913888" cy="82296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03776" y="3922776"/>
            <a:ext cx="347472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9536" y="3657600"/>
            <a:ext cx="2913888" cy="822960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01712" y="3922776"/>
            <a:ext cx="347472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67472" y="3657600"/>
            <a:ext cx="2913888" cy="82296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29184"/>
            <a:ext cx="137160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Marble Collision —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965960"/>
            <a:ext cx="10058400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057400"/>
            <a:ext cx="9692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5B6770"/>
                </a:solidFill>
                <a:latin typeface="Avenir Next"/>
              </a:rPr>
              <a:t>OBSERVE — one moving marble rolls into a target marble.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88920"/>
            <a:ext cx="48691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79"/>
            <a:ext cx="45034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>
                <a:solidFill>
                  <a:srgbClr val="0E8A97"/>
                </a:solidFill>
                <a:latin typeface="Avenir Next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55848"/>
            <a:ext cx="4503420" cy="12344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0820" y="2788920"/>
            <a:ext cx="48691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3700" y="2926079"/>
            <a:ext cx="45034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 i="0">
                <a:solidFill>
                  <a:srgbClr val="0E8A97"/>
                </a:solidFill>
                <a:latin typeface="Avenir Next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3355848"/>
            <a:ext cx="4503420" cy="12344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A1D26"/>
                </a:solidFill>
                <a:latin typeface="Avenir Next"/>
              </a:rPr>
              <a:t>What changed?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34924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580644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Moving Objects Have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All moving objects have energy of </a:t>
            </a:r>
            <a:r>
              <a:rPr sz="3000" b="1" i="0">
                <a:solidFill>
                  <a:srgbClr val="0E8A97"/>
                </a:solidFill>
                <a:latin typeface="Avenir Next"/>
              </a:rPr>
              <a:t>motion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Energy is the ability to cause change. A moving object causes change, so it has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2913888" cy="82296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303776" y="3922776"/>
            <a:ext cx="347472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9536" y="3657600"/>
            <a:ext cx="2913888" cy="822960"/>
          </a:xfrm>
          <a:prstGeom prst="roundRect">
            <a:avLst>
              <a:gd name="adj" fmla="val 8000"/>
            </a:avLst>
          </a:prstGeom>
          <a:solidFill>
            <a:srgbClr val="5B6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01712" y="3922776"/>
            <a:ext cx="347472" cy="292608"/>
          </a:xfrm>
          <a:prstGeom prst="rightArrow">
            <a:avLst/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67472" y="3657600"/>
            <a:ext cx="2913888" cy="82296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motion
“The target marble changed from sitting still to moving.”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People use the energy of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pp. 10–12 — moving objects do useful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" y="24688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hammer (swinging)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8556" y="24688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pendulum (swinging)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0436" y="24688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wind (moving air)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swinging hammer, a swinging pendulum, and moving air (wind)
all use the energy of motion to cause a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People Use the Energy of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10–12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Write or draw the change each moving object causes.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651760"/>
            <a:ext cx="4389120" cy="566928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7614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2651760"/>
            <a:ext cx="5532120" cy="566928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761488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WHAT CHANGE DOES IT CAUSE?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218688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38328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F5A5C"/>
                </a:solidFill>
                <a:latin typeface="Avenir Next"/>
              </a:rPr>
              <a:t>hammer (swinging)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3218688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087368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251959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F5A5C"/>
                </a:solidFill>
                <a:latin typeface="Avenir Next"/>
              </a:rPr>
              <a:t>pendulum (swinging)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4087368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956048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512064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F5A5C"/>
                </a:solidFill>
                <a:latin typeface="Avenir Next"/>
              </a:rPr>
              <a:t>wind (moving air)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4956048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People Use the Energy of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10–12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48840"/>
            <a:ext cx="4389120" cy="566928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2585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MOVING OBJECT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2148840"/>
            <a:ext cx="5532120" cy="566928"/>
          </a:xfrm>
          <a:prstGeom prst="rect">
            <a:avLst/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258568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WHAT CHANGE DOES IT CAUSE?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715768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6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F5A5C"/>
                </a:solidFill>
                <a:latin typeface="Avenir Next"/>
              </a:rPr>
              <a:t>hammer (swinging)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2715768"/>
            <a:ext cx="5532120" cy="868680"/>
          </a:xfrm>
          <a:prstGeom prst="rect">
            <a:avLst/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880360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A1D26"/>
                </a:solidFill>
                <a:latin typeface="Avenir Next"/>
              </a:rPr>
              <a:t>drives a nail into the wood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584448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749039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F5A5C"/>
                </a:solidFill>
                <a:latin typeface="Avenir Next"/>
              </a:rPr>
              <a:t>pendulum (swinging)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3584448"/>
            <a:ext cx="5532120" cy="868680"/>
          </a:xfrm>
          <a:prstGeom prst="rect">
            <a:avLst/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749039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A1D26"/>
                </a:solidFill>
                <a:latin typeface="Avenir Next"/>
              </a:rPr>
              <a:t>turns the clock gears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453128"/>
            <a:ext cx="4389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61772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F5A5C"/>
                </a:solidFill>
                <a:latin typeface="Avenir Next"/>
              </a:rPr>
              <a:t>wind (moving air)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4453128"/>
            <a:ext cx="5532120" cy="868680"/>
          </a:xfrm>
          <a:prstGeom prst="rect">
            <a:avLst/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617720"/>
            <a:ext cx="5257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A1D26"/>
                </a:solidFill>
                <a:latin typeface="Avenir Next"/>
              </a:rPr>
              <a:t>spins the turbine blades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932688"/>
            <a:ext cx="9098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Check Your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7–12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a moving object has energy?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1A1D26"/>
                </a:solidFill>
                <a:latin typeface="Avenir Next"/>
              </a:rPr>
              <a:t>Start with: “We know because the moving object causes …”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947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We know because it causes a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9418320" cy="2011680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9525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5B6770"/>
                </a:solidFill>
                <a:latin typeface="Avenir Next"/>
              </a:rP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80360"/>
            <a:ext cx="8869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“We know because the moving object causes a change — like a moving marble making another marble move.”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Any change a moving object causes is evidence that it has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0F5A5C"/>
                </a:solidFill>
                <a:latin typeface="Avenir Next"/>
              </a:rPr>
              <a:t>Which change shows the energy of motion?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87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moving marble makes a still marble move.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29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30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rock keeps sitting still on the 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5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73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pencil rests on a desk.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Look for a change — that is the evidence of the energy of motion.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BQ · Now I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03120"/>
            <a:ext cx="10058400" cy="1600200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E8A97"/>
                </a:solidFill>
                <a:latin typeface="Avenir Next"/>
              </a:rPr>
              <a:t>BIG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9509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How are energy, change, and movement of objects related?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Now I think…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521208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8521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1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moving object has energy. What is this energy called?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of 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of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of sound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1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moving object has energy. What is this energy called?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stored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19050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energy of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of 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of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835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1A1D26"/>
                </a:solidFill>
                <a:latin typeface="Avenir Next"/>
              </a:rPr>
              <a:t>Energy of motion (Reader p. 9).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2 —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marble rolls and hits a still marble. What change do you observe?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Both marbles stop moving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still marble starts to 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marbles change color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happens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2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marble rolls and hits a still marble. What change do you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Both marbles stop moving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19050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The still marble starts to move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marbles change color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happens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835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1A1D26"/>
                </a:solidFill>
                <a:latin typeface="Avenir Next"/>
              </a:rPr>
              <a:t>The still marble starts to move (Reader p. 8).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3 —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swinging hammer hits a nail. What change does the hammer cause?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hammer turns to liquid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hammer floats 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nail is driven into the wood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nail melts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3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swinging hammer hits a nail. What change does the hammer cause?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hammer turns to liquid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hammer floats away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19050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The nail is driven into the wood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nail melts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835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1A1D26"/>
                </a:solidFill>
                <a:latin typeface="Avenir Next"/>
              </a:rPr>
              <a:t>The hammer drives the nail in (Reader p. 10).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4 —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a moving object has energy if we cannot see the energy itself?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can always see energy directly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any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Moving objects never have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observe the change it causes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4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a moving object has energy if we cannot see the energy itself?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can always see energy directly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any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Moving objects never have energy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19050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We observe the change it causes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835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1A1D26"/>
                </a:solidFill>
                <a:latin typeface="Avenir Next"/>
              </a:rPr>
              <a:t>We know because it causes a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5 —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Wind (moving air) spins windmill blades. What does this show?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Moving air has energy of 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Still air is stronger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Windmills work without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Blades move on their 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520440" cy="402336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2 · MOVING OBJECTS HAVE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0F5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0E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0F5A5C"/>
                </a:solidFill>
                <a:latin typeface="Avenir Next"/>
              </a:rPr>
              <a:t>Review 5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Wind (moving air) spins windmill blades. What does this show?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4203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E7F3F5"/>
          </a:solidFill>
          <a:ln w="19050">
            <a:solidFill>
              <a:srgbClr val="0E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3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42615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Moving air has energy of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46703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65575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7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Still air is stronger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5137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Windmills work without energy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0E8A97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2"/>
            <a:ext cx="9235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Blades move on their 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925312"/>
            <a:ext cx="10835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1A1D26"/>
                </a:solidFill>
                <a:latin typeface="Avenir Next"/>
              </a:rPr>
              <a:t>Moving air has energy of motion (Reader p. 12).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