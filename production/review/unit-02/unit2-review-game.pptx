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.xml"/><Relationship Id="rId4" Type="http://schemas.openxmlformats.org/officeDocument/2006/relationships/slide" Target="slide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14.xml"/><Relationship Id="rId4" Type="http://schemas.openxmlformats.org/officeDocument/2006/relationships/slide" Target="slide14.xml"/><Relationship Id="rId5" Type="http://schemas.openxmlformats.org/officeDocument/2006/relationships/slide" Target="slide24.xml"/><Relationship Id="rId6" Type="http://schemas.openxmlformats.org/officeDocument/2006/relationships/slide" Target="slide24.xml"/><Relationship Id="rId7" Type="http://schemas.openxmlformats.org/officeDocument/2006/relationships/slide" Target="slide34.xml"/><Relationship Id="rId8" Type="http://schemas.openxmlformats.org/officeDocument/2006/relationships/slide" Target="slide34.xml"/><Relationship Id="rId9" Type="http://schemas.openxmlformats.org/officeDocument/2006/relationships/slide" Target="slide44.xml"/><Relationship Id="rId10" Type="http://schemas.openxmlformats.org/officeDocument/2006/relationships/slide" Target="slide44.xml"/><Relationship Id="rId11" Type="http://schemas.openxmlformats.org/officeDocument/2006/relationships/slide" Target="slide6.xml"/><Relationship Id="rId12" Type="http://schemas.openxmlformats.org/officeDocument/2006/relationships/slide" Target="slide6.xml"/><Relationship Id="rId13" Type="http://schemas.openxmlformats.org/officeDocument/2006/relationships/slide" Target="slide16.xml"/><Relationship Id="rId14" Type="http://schemas.openxmlformats.org/officeDocument/2006/relationships/slide" Target="slide16.xml"/><Relationship Id="rId15" Type="http://schemas.openxmlformats.org/officeDocument/2006/relationships/slide" Target="slide26.xml"/><Relationship Id="rId16" Type="http://schemas.openxmlformats.org/officeDocument/2006/relationships/slide" Target="slide26.xml"/><Relationship Id="rId17" Type="http://schemas.openxmlformats.org/officeDocument/2006/relationships/slide" Target="slide36.xml"/><Relationship Id="rId18" Type="http://schemas.openxmlformats.org/officeDocument/2006/relationships/slide" Target="slide36.xml"/><Relationship Id="rId19" Type="http://schemas.openxmlformats.org/officeDocument/2006/relationships/slide" Target="slide46.xml"/><Relationship Id="rId20" Type="http://schemas.openxmlformats.org/officeDocument/2006/relationships/slide" Target="slide46.xml"/><Relationship Id="rId21" Type="http://schemas.openxmlformats.org/officeDocument/2006/relationships/slide" Target="slide8.xml"/><Relationship Id="rId22" Type="http://schemas.openxmlformats.org/officeDocument/2006/relationships/slide" Target="slide8.xml"/><Relationship Id="rId23" Type="http://schemas.openxmlformats.org/officeDocument/2006/relationships/slide" Target="slide18.xml"/><Relationship Id="rId24" Type="http://schemas.openxmlformats.org/officeDocument/2006/relationships/slide" Target="slide18.xml"/><Relationship Id="rId25" Type="http://schemas.openxmlformats.org/officeDocument/2006/relationships/slide" Target="slide28.xml"/><Relationship Id="rId26" Type="http://schemas.openxmlformats.org/officeDocument/2006/relationships/slide" Target="slide28.xml"/><Relationship Id="rId27" Type="http://schemas.openxmlformats.org/officeDocument/2006/relationships/slide" Target="slide38.xml"/><Relationship Id="rId28" Type="http://schemas.openxmlformats.org/officeDocument/2006/relationships/slide" Target="slide38.xml"/><Relationship Id="rId29" Type="http://schemas.openxmlformats.org/officeDocument/2006/relationships/slide" Target="slide48.xml"/><Relationship Id="rId30" Type="http://schemas.openxmlformats.org/officeDocument/2006/relationships/slide" Target="slide48.xml"/><Relationship Id="rId31" Type="http://schemas.openxmlformats.org/officeDocument/2006/relationships/slide" Target="slide10.xml"/><Relationship Id="rId32" Type="http://schemas.openxmlformats.org/officeDocument/2006/relationships/slide" Target="slide10.xml"/><Relationship Id="rId33" Type="http://schemas.openxmlformats.org/officeDocument/2006/relationships/slide" Target="slide20.xml"/><Relationship Id="rId34" Type="http://schemas.openxmlformats.org/officeDocument/2006/relationships/slide" Target="slide20.xml"/><Relationship Id="rId35" Type="http://schemas.openxmlformats.org/officeDocument/2006/relationships/slide" Target="slide30.xml"/><Relationship Id="rId36" Type="http://schemas.openxmlformats.org/officeDocument/2006/relationships/slide" Target="slide30.xml"/><Relationship Id="rId37" Type="http://schemas.openxmlformats.org/officeDocument/2006/relationships/slide" Target="slide40.xml"/><Relationship Id="rId38" Type="http://schemas.openxmlformats.org/officeDocument/2006/relationships/slide" Target="slide40.xml"/><Relationship Id="rId39" Type="http://schemas.openxmlformats.org/officeDocument/2006/relationships/slide" Target="slide50.xml"/><Relationship Id="rId40" Type="http://schemas.openxmlformats.org/officeDocument/2006/relationships/slide" Target="slide50.xml"/><Relationship Id="rId41" Type="http://schemas.openxmlformats.org/officeDocument/2006/relationships/slide" Target="slide12.xml"/><Relationship Id="rId42" Type="http://schemas.openxmlformats.org/officeDocument/2006/relationships/slide" Target="slide12.xml"/><Relationship Id="rId43" Type="http://schemas.openxmlformats.org/officeDocument/2006/relationships/slide" Target="slide22.xml"/><Relationship Id="rId44" Type="http://schemas.openxmlformats.org/officeDocument/2006/relationships/slide" Target="slide22.xml"/><Relationship Id="rId45" Type="http://schemas.openxmlformats.org/officeDocument/2006/relationships/slide" Target="slide32.xml"/><Relationship Id="rId46" Type="http://schemas.openxmlformats.org/officeDocument/2006/relationships/slide" Target="slide32.xml"/><Relationship Id="rId47" Type="http://schemas.openxmlformats.org/officeDocument/2006/relationships/slide" Target="slide42.xml"/><Relationship Id="rId48" Type="http://schemas.openxmlformats.org/officeDocument/2006/relationships/slide" Target="slide42.xml"/><Relationship Id="rId49" Type="http://schemas.openxmlformats.org/officeDocument/2006/relationships/slide" Target="slide52.xml"/><Relationship Id="rId50" Type="http://schemas.openxmlformats.org/officeDocument/2006/relationships/slide" Target="slide52.xml"/><Relationship Id="rId51" Type="http://schemas.openxmlformats.org/officeDocument/2006/relationships/slide" Target="slide54.xml"/><Relationship Id="rId52" Type="http://schemas.openxmlformats.org/officeDocument/2006/relationships/slide" Target="slide54.xml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7.xml"/><Relationship Id="rId4" Type="http://schemas.openxmlformats.org/officeDocument/2006/relationships/slide" Target="slide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8.xml"/><Relationship Id="rId6" Type="http://schemas.openxmlformats.org/officeDocument/2006/relationships/slide" Target="slide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1.xml"/><Relationship Id="rId4" Type="http://schemas.openxmlformats.org/officeDocument/2006/relationships/slide" Target="slide1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3.xml"/><Relationship Id="rId4" Type="http://schemas.openxmlformats.org/officeDocument/2006/relationships/slide" Target="slide1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2.xml"/><Relationship Id="rId6" Type="http://schemas.openxmlformats.org/officeDocument/2006/relationships/slide" Target="slide1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5.xml"/><Relationship Id="rId4" Type="http://schemas.openxmlformats.org/officeDocument/2006/relationships/slide" Target="slide1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4.xml"/><Relationship Id="rId6" Type="http://schemas.openxmlformats.org/officeDocument/2006/relationships/slide" Target="slide1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7.xml"/><Relationship Id="rId4" Type="http://schemas.openxmlformats.org/officeDocument/2006/relationships/slide" Target="slide1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6.xml"/><Relationship Id="rId6" Type="http://schemas.openxmlformats.org/officeDocument/2006/relationships/slide" Target="slide1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19.xml"/><Relationship Id="rId4" Type="http://schemas.openxmlformats.org/officeDocument/2006/relationships/slide" Target="slide1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18.xml"/><Relationship Id="rId6" Type="http://schemas.openxmlformats.org/officeDocument/2006/relationships/slide" Target="slide1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1.xml"/><Relationship Id="rId4" Type="http://schemas.openxmlformats.org/officeDocument/2006/relationships/slide" Target="slide2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0.xml"/><Relationship Id="rId6" Type="http://schemas.openxmlformats.org/officeDocument/2006/relationships/slide" Target="slide2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3.xml"/><Relationship Id="rId4" Type="http://schemas.openxmlformats.org/officeDocument/2006/relationships/slide" Target="slide2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2.xml"/><Relationship Id="rId6" Type="http://schemas.openxmlformats.org/officeDocument/2006/relationships/slide" Target="slide2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5.xml"/><Relationship Id="rId4" Type="http://schemas.openxmlformats.org/officeDocument/2006/relationships/slide" Target="slide2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4.xml"/><Relationship Id="rId6" Type="http://schemas.openxmlformats.org/officeDocument/2006/relationships/slide" Target="slide2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7.xml"/><Relationship Id="rId4" Type="http://schemas.openxmlformats.org/officeDocument/2006/relationships/slide" Target="slide2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6.xml"/><Relationship Id="rId6" Type="http://schemas.openxmlformats.org/officeDocument/2006/relationships/slide" Target="slide2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29.xml"/><Relationship Id="rId4" Type="http://schemas.openxmlformats.org/officeDocument/2006/relationships/slide" Target="slide2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28.xml"/><Relationship Id="rId6" Type="http://schemas.openxmlformats.org/officeDocument/2006/relationships/slide" Target="slide2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1.xml"/><Relationship Id="rId4" Type="http://schemas.openxmlformats.org/officeDocument/2006/relationships/slide" Target="slide3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0.xml"/><Relationship Id="rId6" Type="http://schemas.openxmlformats.org/officeDocument/2006/relationships/slide" Target="slide3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3.xml"/><Relationship Id="rId4" Type="http://schemas.openxmlformats.org/officeDocument/2006/relationships/slide" Target="slide3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2.xml"/><Relationship Id="rId6" Type="http://schemas.openxmlformats.org/officeDocument/2006/relationships/slide" Target="slide3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5.xml"/><Relationship Id="rId4" Type="http://schemas.openxmlformats.org/officeDocument/2006/relationships/slide" Target="slide3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4.xml"/><Relationship Id="rId6" Type="http://schemas.openxmlformats.org/officeDocument/2006/relationships/slide" Target="slide3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7.xml"/><Relationship Id="rId4" Type="http://schemas.openxmlformats.org/officeDocument/2006/relationships/slide" Target="slide3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6.xml"/><Relationship Id="rId6" Type="http://schemas.openxmlformats.org/officeDocument/2006/relationships/slide" Target="slide3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9.xml"/><Relationship Id="rId4" Type="http://schemas.openxmlformats.org/officeDocument/2006/relationships/slide" Target="slide3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8.xml"/><Relationship Id="rId6" Type="http://schemas.openxmlformats.org/officeDocument/2006/relationships/slide" Target="slide3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1.xml"/><Relationship Id="rId4" Type="http://schemas.openxmlformats.org/officeDocument/2006/relationships/slide" Target="slide4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0.xml"/><Relationship Id="rId6" Type="http://schemas.openxmlformats.org/officeDocument/2006/relationships/slide" Target="slide4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3.xml"/><Relationship Id="rId4" Type="http://schemas.openxmlformats.org/officeDocument/2006/relationships/slide" Target="slide4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2.xml"/><Relationship Id="rId6" Type="http://schemas.openxmlformats.org/officeDocument/2006/relationships/slide" Target="slide4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5.xml"/><Relationship Id="rId4" Type="http://schemas.openxmlformats.org/officeDocument/2006/relationships/slide" Target="slide4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4.xml"/><Relationship Id="rId6" Type="http://schemas.openxmlformats.org/officeDocument/2006/relationships/slide" Target="slide4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7.xml"/><Relationship Id="rId4" Type="http://schemas.openxmlformats.org/officeDocument/2006/relationships/slide" Target="slide4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6.xml"/><Relationship Id="rId6" Type="http://schemas.openxmlformats.org/officeDocument/2006/relationships/slide" Target="slide4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9.xml"/><Relationship Id="rId4" Type="http://schemas.openxmlformats.org/officeDocument/2006/relationships/slide" Target="slide4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8.xml"/><Relationship Id="rId6" Type="http://schemas.openxmlformats.org/officeDocument/2006/relationships/slide" Target="slide4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1.xml"/><Relationship Id="rId4" Type="http://schemas.openxmlformats.org/officeDocument/2006/relationships/slide" Target="slide5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50.xml"/><Relationship Id="rId6" Type="http://schemas.openxmlformats.org/officeDocument/2006/relationships/slide" Target="slide5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3.xml"/><Relationship Id="rId4" Type="http://schemas.openxmlformats.org/officeDocument/2006/relationships/slide" Target="slide5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52.xml"/><Relationship Id="rId6" Type="http://schemas.openxmlformats.org/officeDocument/2006/relationships/slide" Target="slide5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5.xml"/><Relationship Id="rId4" Type="http://schemas.openxmlformats.org/officeDocument/2006/relationships/slide" Target="slide5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-731520"/>
            <a:ext cx="2743200" cy="2743200"/>
          </a:xfrm>
          <a:prstGeom prst="ellipse">
            <a:avLst/>
          </a:prstGeom>
          <a:solidFill>
            <a:srgbClr val="22314E"/>
          </a:solidFill>
          <a:ln w="25400">
            <a:solidFill>
              <a:srgbClr val="F2B2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14255" y="-7315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-914400" y="5029200"/>
            <a:ext cx="2377440" cy="2377440"/>
          </a:xfrm>
          <a:prstGeom prst="ellipse">
            <a:avLst/>
          </a:prstGeom>
          <a:solidFill>
            <a:srgbClr val="22314E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-914400" y="50292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B233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103120" cy="457200"/>
          </a:xfrm>
          <a:prstGeom prst="roundRect">
            <a:avLst>
              <a:gd name="adj" fmla="val 100000"/>
            </a:avLst>
          </a:prstGeom>
          <a:solidFill>
            <a:srgbClr val="2231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REVIEW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4592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spc="200" kern="0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DETECTIVE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0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 Energy Source Case · A Jeopardy-Style Review Game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20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Natural Resources for Energy · 5 files · 25 clues · 30 minutes</a:t>
            </a:r>
            <a:endParaRPr lang="en-US" sz="1600" dirty="0"/>
          </a:p>
        </p:txBody>
      </p:sp>
      <p:sp>
        <p:nvSpPr>
          <p:cNvPr id="12" name="Shape 10">
            <a:hlinkClick r:id="rId1" tooltip="" action="ppaction://hlinksldjump"/>
          </p:cNvPr>
          <p:cNvSpPr/>
          <p:nvPr/>
        </p:nvSpPr>
        <p:spPr>
          <a:xfrm>
            <a:off x="640080" y="4434840"/>
            <a:ext cx="2651760" cy="685800"/>
          </a:xfrm>
          <a:prstGeom prst="roundRect">
            <a:avLst>
              <a:gd name="adj" fmla="val 66667"/>
            </a:avLst>
          </a:prstGeom>
          <a:solidFill>
            <a:srgbClr val="F2B233"/>
          </a:solidFill>
          <a:ln/>
        </p:spPr>
      </p:sp>
      <p:sp>
        <p:nvSpPr>
          <p:cNvPr id="13" name="Text 11">
            <a:hlinkClick r:id="rId2" tooltip="" action="ppaction://hlinksldjump"/>
          </p:cNvPr>
          <p:cNvSpPr txBox="1"/>
          <p:nvPr/>
        </p:nvSpPr>
        <p:spPr>
          <a:xfrm>
            <a:off x="64008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START GAME</a:t>
            </a:r>
            <a:endParaRPr lang="en-US" sz="2000" dirty="0"/>
          </a:p>
        </p:txBody>
      </p:sp>
      <p:sp>
        <p:nvSpPr>
          <p:cNvPr id="14" name="Shape 12">
            <a:hlinkClick r:id="rId3" tooltip="" action="ppaction://hlinksldjump"/>
          </p:cNvPr>
          <p:cNvSpPr/>
          <p:nvPr/>
        </p:nvSpPr>
        <p:spPr>
          <a:xfrm>
            <a:off x="3474720" y="4434840"/>
            <a:ext cx="2651760" cy="685800"/>
          </a:xfrm>
          <a:prstGeom prst="roundRect">
            <a:avLst>
              <a:gd name="adj" fmla="val 66667"/>
            </a:avLst>
          </a:prstGeom>
          <a:solidFill>
            <a:srgbClr val="22314E"/>
          </a:solidFill>
          <a:ln/>
        </p:spPr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347472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Play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8864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864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76576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76576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44288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4288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2000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200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79712" y="5623560"/>
            <a:ext cx="2103120" cy="640080"/>
          </a:xfrm>
          <a:prstGeom prst="roundRect">
            <a:avLst>
              <a:gd name="adj" fmla="val 20000"/>
            </a:avLst>
          </a:prstGeom>
          <a:solidFill>
            <a:srgbClr val="182741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79712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Play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Split into teams and open the game board.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12848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Choose a category and a dollar value, then click the tile.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2916936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871216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Read the clue together and discuss your answer.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3575304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529584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Click “Reveal Answer” to check the correct answer.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87952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Click “◀ Board” to return and pick the next tile.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384048" cy="38404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4632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Track points and unlock a clue on your squad scorecard.</a:t>
            </a:r>
            <a:endParaRPr lang="en-US" sz="2100" dirty="0"/>
          </a:p>
        </p:txBody>
      </p:sp>
      <p:sp>
        <p:nvSpPr>
          <p:cNvPr id="22" name="Shape 20">
            <a:hlinkClick r:id="rId1" tooltip="" action="ppaction://hlinksldjump"/>
          </p:cNvPr>
          <p:cNvSpPr/>
          <p:nvPr/>
        </p:nvSpPr>
        <p:spPr>
          <a:xfrm>
            <a:off x="640080" y="5806440"/>
            <a:ext cx="26517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3" name="Text 21">
            <a:hlinkClick r:id="rId2" tooltip="" action="ppaction://hlinksldjump"/>
          </p:cNvPr>
          <p:cNvSpPr txBox="1"/>
          <p:nvPr/>
        </p:nvSpPr>
        <p:spPr>
          <a:xfrm>
            <a:off x="640080" y="5806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START GAME</a:t>
            </a:r>
            <a:endParaRPr lang="en-US" sz="2000" dirty="0"/>
          </a:p>
        </p:txBody>
      </p:sp>
      <p:sp>
        <p:nvSpPr>
          <p:cNvPr id="24" name="Shape 22">
            <a:hlinkClick r:id="rId3" tooltip="" action="ppaction://hlinksldjump"/>
          </p:cNvPr>
          <p:cNvSpPr/>
          <p:nvPr/>
        </p:nvSpPr>
        <p:spPr>
          <a:xfrm>
            <a:off x="3474720" y="5806440"/>
            <a:ext cx="2651760" cy="640080"/>
          </a:xfrm>
          <a:prstGeom prst="roundRect">
            <a:avLst>
              <a:gd name="adj" fmla="val 71429"/>
            </a:avLst>
          </a:prstGeom>
          <a:solidFill>
            <a:srgbClr val="22314E"/>
          </a:solidFill>
          <a:ln/>
        </p:spPr>
      </p:sp>
      <p:sp>
        <p:nvSpPr>
          <p:cNvPr id="25" name="Text 23">
            <a:hlinkClick r:id="rId4" tooltip="" action="ppaction://hlinksldjump"/>
          </p:cNvPr>
          <p:cNvSpPr txBox="1"/>
          <p:nvPr/>
        </p:nvSpPr>
        <p:spPr>
          <a:xfrm>
            <a:off x="3474720" y="5806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Title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Resource Case Board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tile to open the clue.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5577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5577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33955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3955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22332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22332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10710" y="1554480"/>
            <a:ext cx="2123785" cy="621792"/>
          </a:xfrm>
          <a:prstGeom prst="roundRect">
            <a:avLst>
              <a:gd name="adj" fmla="val 14706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10710" y="1554480"/>
            <a:ext cx="2123785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500" dirty="0"/>
          </a:p>
        </p:txBody>
      </p:sp>
      <p:sp>
        <p:nvSpPr>
          <p:cNvPr id="15" name="Shape 13">
            <a:hlinkClick r:id="rId1" tooltip="" action="ppaction://hlinksldjump"/>
          </p:cNvPr>
          <p:cNvSpPr/>
          <p:nvPr/>
        </p:nvSpPr>
        <p:spPr>
          <a:xfrm>
            <a:off x="457200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16" name="Text 14">
            <a:hlinkClick r:id="rId2" tooltip="" action="ppaction://hlinksldjump"/>
          </p:cNvPr>
          <p:cNvSpPr txBox="1"/>
          <p:nvPr/>
        </p:nvSpPr>
        <p:spPr>
          <a:xfrm>
            <a:off x="457200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17" name="Shape 15">
            <a:hlinkClick r:id="rId3" tooltip="" action="ppaction://hlinksldjump"/>
          </p:cNvPr>
          <p:cNvSpPr/>
          <p:nvPr/>
        </p:nvSpPr>
        <p:spPr>
          <a:xfrm>
            <a:off x="2745577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18" name="Text 16">
            <a:hlinkClick r:id="rId4" tooltip="" action="ppaction://hlinksldjump"/>
          </p:cNvPr>
          <p:cNvSpPr txBox="1"/>
          <p:nvPr/>
        </p:nvSpPr>
        <p:spPr>
          <a:xfrm>
            <a:off x="2745577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19" name="Shape 17">
            <a:hlinkClick r:id="rId5" tooltip="" action="ppaction://hlinksldjump"/>
          </p:cNvPr>
          <p:cNvSpPr/>
          <p:nvPr/>
        </p:nvSpPr>
        <p:spPr>
          <a:xfrm>
            <a:off x="5033955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0" name="Text 18">
            <a:hlinkClick r:id="rId6" tooltip="" action="ppaction://hlinksldjump"/>
          </p:cNvPr>
          <p:cNvSpPr txBox="1"/>
          <p:nvPr/>
        </p:nvSpPr>
        <p:spPr>
          <a:xfrm>
            <a:off x="5033955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21" name="Shape 19">
            <a:hlinkClick r:id="rId7" tooltip="" action="ppaction://hlinksldjump"/>
          </p:cNvPr>
          <p:cNvSpPr/>
          <p:nvPr/>
        </p:nvSpPr>
        <p:spPr>
          <a:xfrm>
            <a:off x="7322332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2" name="Text 20">
            <a:hlinkClick r:id="rId8" tooltip="" action="ppaction://hlinksldjump"/>
          </p:cNvPr>
          <p:cNvSpPr txBox="1"/>
          <p:nvPr/>
        </p:nvSpPr>
        <p:spPr>
          <a:xfrm>
            <a:off x="7322332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23" name="Shape 21">
            <a:hlinkClick r:id="rId9" tooltip="" action="ppaction://hlinksldjump"/>
          </p:cNvPr>
          <p:cNvSpPr/>
          <p:nvPr/>
        </p:nvSpPr>
        <p:spPr>
          <a:xfrm>
            <a:off x="9610710" y="2322576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4" name="Text 22">
            <a:hlinkClick r:id="rId10" tooltip="" action="ppaction://hlinksldjump"/>
          </p:cNvPr>
          <p:cNvSpPr txBox="1"/>
          <p:nvPr/>
        </p:nvSpPr>
        <p:spPr>
          <a:xfrm>
            <a:off x="9610710" y="2322576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$100</a:t>
            </a:r>
            <a:endParaRPr lang="en-US" sz="2400" dirty="0"/>
          </a:p>
        </p:txBody>
      </p:sp>
      <p:sp>
        <p:nvSpPr>
          <p:cNvPr id="25" name="Shape 23">
            <a:hlinkClick r:id="rId11" tooltip="" action="ppaction://hlinksldjump"/>
          </p:cNvPr>
          <p:cNvSpPr/>
          <p:nvPr/>
        </p:nvSpPr>
        <p:spPr>
          <a:xfrm>
            <a:off x="457200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6" name="Text 24">
            <a:hlinkClick r:id="rId12" tooltip="" action="ppaction://hlinksldjump"/>
          </p:cNvPr>
          <p:cNvSpPr txBox="1"/>
          <p:nvPr/>
        </p:nvSpPr>
        <p:spPr>
          <a:xfrm>
            <a:off x="457200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27" name="Shape 25">
            <a:hlinkClick r:id="rId13" tooltip="" action="ppaction://hlinksldjump"/>
          </p:cNvPr>
          <p:cNvSpPr/>
          <p:nvPr/>
        </p:nvSpPr>
        <p:spPr>
          <a:xfrm>
            <a:off x="2745577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28" name="Text 26">
            <a:hlinkClick r:id="rId14" tooltip="" action="ppaction://hlinksldjump"/>
          </p:cNvPr>
          <p:cNvSpPr txBox="1"/>
          <p:nvPr/>
        </p:nvSpPr>
        <p:spPr>
          <a:xfrm>
            <a:off x="2745577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29" name="Shape 27">
            <a:hlinkClick r:id="rId15" tooltip="" action="ppaction://hlinksldjump"/>
          </p:cNvPr>
          <p:cNvSpPr/>
          <p:nvPr/>
        </p:nvSpPr>
        <p:spPr>
          <a:xfrm>
            <a:off x="5033955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0" name="Text 28">
            <a:hlinkClick r:id="rId16" tooltip="" action="ppaction://hlinksldjump"/>
          </p:cNvPr>
          <p:cNvSpPr txBox="1"/>
          <p:nvPr/>
        </p:nvSpPr>
        <p:spPr>
          <a:xfrm>
            <a:off x="5033955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31" name="Shape 29">
            <a:hlinkClick r:id="rId17" tooltip="" action="ppaction://hlinksldjump"/>
          </p:cNvPr>
          <p:cNvSpPr/>
          <p:nvPr/>
        </p:nvSpPr>
        <p:spPr>
          <a:xfrm>
            <a:off x="7322332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2" name="Text 30">
            <a:hlinkClick r:id="rId18" tooltip="" action="ppaction://hlinksldjump"/>
          </p:cNvPr>
          <p:cNvSpPr txBox="1"/>
          <p:nvPr/>
        </p:nvSpPr>
        <p:spPr>
          <a:xfrm>
            <a:off x="7322332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33" name="Shape 31">
            <a:hlinkClick r:id="rId19" tooltip="" action="ppaction://hlinksldjump"/>
          </p:cNvPr>
          <p:cNvSpPr/>
          <p:nvPr/>
        </p:nvSpPr>
        <p:spPr>
          <a:xfrm>
            <a:off x="9610710" y="3200400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4" name="Text 32">
            <a:hlinkClick r:id="rId20" tooltip="" action="ppaction://hlinksldjump"/>
          </p:cNvPr>
          <p:cNvSpPr txBox="1"/>
          <p:nvPr/>
        </p:nvSpPr>
        <p:spPr>
          <a:xfrm>
            <a:off x="9610710" y="3200400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$200</a:t>
            </a:r>
            <a:endParaRPr lang="en-US" sz="2400" dirty="0"/>
          </a:p>
        </p:txBody>
      </p:sp>
      <p:sp>
        <p:nvSpPr>
          <p:cNvPr id="35" name="Shape 33">
            <a:hlinkClick r:id="rId21" tooltip="" action="ppaction://hlinksldjump"/>
          </p:cNvPr>
          <p:cNvSpPr/>
          <p:nvPr/>
        </p:nvSpPr>
        <p:spPr>
          <a:xfrm>
            <a:off x="457200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6" name="Text 34">
            <a:hlinkClick r:id="rId22" tooltip="" action="ppaction://hlinksldjump"/>
          </p:cNvPr>
          <p:cNvSpPr txBox="1"/>
          <p:nvPr/>
        </p:nvSpPr>
        <p:spPr>
          <a:xfrm>
            <a:off x="457200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37" name="Shape 35">
            <a:hlinkClick r:id="rId23" tooltip="" action="ppaction://hlinksldjump"/>
          </p:cNvPr>
          <p:cNvSpPr/>
          <p:nvPr/>
        </p:nvSpPr>
        <p:spPr>
          <a:xfrm>
            <a:off x="2745577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38" name="Text 36">
            <a:hlinkClick r:id="rId24" tooltip="" action="ppaction://hlinksldjump"/>
          </p:cNvPr>
          <p:cNvSpPr txBox="1"/>
          <p:nvPr/>
        </p:nvSpPr>
        <p:spPr>
          <a:xfrm>
            <a:off x="2745577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39" name="Shape 37">
            <a:hlinkClick r:id="rId25" tooltip="" action="ppaction://hlinksldjump"/>
          </p:cNvPr>
          <p:cNvSpPr/>
          <p:nvPr/>
        </p:nvSpPr>
        <p:spPr>
          <a:xfrm>
            <a:off x="5033955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0" name="Text 38">
            <a:hlinkClick r:id="rId26" tooltip="" action="ppaction://hlinksldjump"/>
          </p:cNvPr>
          <p:cNvSpPr txBox="1"/>
          <p:nvPr/>
        </p:nvSpPr>
        <p:spPr>
          <a:xfrm>
            <a:off x="5033955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41" name="Shape 39">
            <a:hlinkClick r:id="rId27" tooltip="" action="ppaction://hlinksldjump"/>
          </p:cNvPr>
          <p:cNvSpPr/>
          <p:nvPr/>
        </p:nvSpPr>
        <p:spPr>
          <a:xfrm>
            <a:off x="7322332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2" name="Text 40">
            <a:hlinkClick r:id="rId28" tooltip="" action="ppaction://hlinksldjump"/>
          </p:cNvPr>
          <p:cNvSpPr txBox="1"/>
          <p:nvPr/>
        </p:nvSpPr>
        <p:spPr>
          <a:xfrm>
            <a:off x="7322332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43" name="Shape 41">
            <a:hlinkClick r:id="rId29" tooltip="" action="ppaction://hlinksldjump"/>
          </p:cNvPr>
          <p:cNvSpPr/>
          <p:nvPr/>
        </p:nvSpPr>
        <p:spPr>
          <a:xfrm>
            <a:off x="9610710" y="4078224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4" name="Text 42">
            <a:hlinkClick r:id="rId30" tooltip="" action="ppaction://hlinksldjump"/>
          </p:cNvPr>
          <p:cNvSpPr txBox="1"/>
          <p:nvPr/>
        </p:nvSpPr>
        <p:spPr>
          <a:xfrm>
            <a:off x="9610710" y="4078224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$300</a:t>
            </a:r>
            <a:endParaRPr lang="en-US" sz="2400" dirty="0"/>
          </a:p>
        </p:txBody>
      </p:sp>
      <p:sp>
        <p:nvSpPr>
          <p:cNvPr id="45" name="Shape 43">
            <a:hlinkClick r:id="rId31" tooltip="" action="ppaction://hlinksldjump"/>
          </p:cNvPr>
          <p:cNvSpPr/>
          <p:nvPr/>
        </p:nvSpPr>
        <p:spPr>
          <a:xfrm>
            <a:off x="457200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6" name="Text 44">
            <a:hlinkClick r:id="rId32" tooltip="" action="ppaction://hlinksldjump"/>
          </p:cNvPr>
          <p:cNvSpPr txBox="1"/>
          <p:nvPr/>
        </p:nvSpPr>
        <p:spPr>
          <a:xfrm>
            <a:off x="457200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47" name="Shape 45">
            <a:hlinkClick r:id="rId33" tooltip="" action="ppaction://hlinksldjump"/>
          </p:cNvPr>
          <p:cNvSpPr/>
          <p:nvPr/>
        </p:nvSpPr>
        <p:spPr>
          <a:xfrm>
            <a:off x="2745577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48" name="Text 46">
            <a:hlinkClick r:id="rId34" tooltip="" action="ppaction://hlinksldjump"/>
          </p:cNvPr>
          <p:cNvSpPr txBox="1"/>
          <p:nvPr/>
        </p:nvSpPr>
        <p:spPr>
          <a:xfrm>
            <a:off x="2745577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49" name="Shape 47">
            <a:hlinkClick r:id="rId35" tooltip="" action="ppaction://hlinksldjump"/>
          </p:cNvPr>
          <p:cNvSpPr/>
          <p:nvPr/>
        </p:nvSpPr>
        <p:spPr>
          <a:xfrm>
            <a:off x="5033955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0" name="Text 48">
            <a:hlinkClick r:id="rId36" tooltip="" action="ppaction://hlinksldjump"/>
          </p:cNvPr>
          <p:cNvSpPr txBox="1"/>
          <p:nvPr/>
        </p:nvSpPr>
        <p:spPr>
          <a:xfrm>
            <a:off x="5033955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51" name="Shape 49">
            <a:hlinkClick r:id="rId37" tooltip="" action="ppaction://hlinksldjump"/>
          </p:cNvPr>
          <p:cNvSpPr/>
          <p:nvPr/>
        </p:nvSpPr>
        <p:spPr>
          <a:xfrm>
            <a:off x="7322332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2" name="Text 50">
            <a:hlinkClick r:id="rId38" tooltip="" action="ppaction://hlinksldjump"/>
          </p:cNvPr>
          <p:cNvSpPr txBox="1"/>
          <p:nvPr/>
        </p:nvSpPr>
        <p:spPr>
          <a:xfrm>
            <a:off x="7322332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53" name="Shape 51">
            <a:hlinkClick r:id="rId39" tooltip="" action="ppaction://hlinksldjump"/>
          </p:cNvPr>
          <p:cNvSpPr/>
          <p:nvPr/>
        </p:nvSpPr>
        <p:spPr>
          <a:xfrm>
            <a:off x="9610710" y="4956048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E8B13F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4" name="Text 52">
            <a:hlinkClick r:id="rId40" tooltip="" action="ppaction://hlinksldjump"/>
          </p:cNvPr>
          <p:cNvSpPr txBox="1"/>
          <p:nvPr/>
        </p:nvSpPr>
        <p:spPr>
          <a:xfrm>
            <a:off x="9610710" y="4956048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$400</a:t>
            </a:r>
            <a:endParaRPr lang="en-US" sz="2400" dirty="0"/>
          </a:p>
        </p:txBody>
      </p:sp>
      <p:sp>
        <p:nvSpPr>
          <p:cNvPr id="55" name="Shape 53">
            <a:hlinkClick r:id="rId41" tooltip="" action="ppaction://hlinksldjump"/>
          </p:cNvPr>
          <p:cNvSpPr/>
          <p:nvPr/>
        </p:nvSpPr>
        <p:spPr>
          <a:xfrm>
            <a:off x="457200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6" name="Text 54">
            <a:hlinkClick r:id="rId42" tooltip="" action="ppaction://hlinksldjump"/>
          </p:cNvPr>
          <p:cNvSpPr txBox="1"/>
          <p:nvPr/>
        </p:nvSpPr>
        <p:spPr>
          <a:xfrm>
            <a:off x="457200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57" name="Shape 55">
            <a:hlinkClick r:id="rId43" tooltip="" action="ppaction://hlinksldjump"/>
          </p:cNvPr>
          <p:cNvSpPr/>
          <p:nvPr/>
        </p:nvSpPr>
        <p:spPr>
          <a:xfrm>
            <a:off x="2745577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58" name="Text 56">
            <a:hlinkClick r:id="rId44" tooltip="" action="ppaction://hlinksldjump"/>
          </p:cNvPr>
          <p:cNvSpPr txBox="1"/>
          <p:nvPr/>
        </p:nvSpPr>
        <p:spPr>
          <a:xfrm>
            <a:off x="2745577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59" name="Shape 57">
            <a:hlinkClick r:id="rId45" tooltip="" action="ppaction://hlinksldjump"/>
          </p:cNvPr>
          <p:cNvSpPr/>
          <p:nvPr/>
        </p:nvSpPr>
        <p:spPr>
          <a:xfrm>
            <a:off x="5033955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60" name="Text 58">
            <a:hlinkClick r:id="rId46" tooltip="" action="ppaction://hlinksldjump"/>
          </p:cNvPr>
          <p:cNvSpPr txBox="1"/>
          <p:nvPr/>
        </p:nvSpPr>
        <p:spPr>
          <a:xfrm>
            <a:off x="5033955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61" name="Shape 59">
            <a:hlinkClick r:id="rId47" tooltip="" action="ppaction://hlinksldjump"/>
          </p:cNvPr>
          <p:cNvSpPr/>
          <p:nvPr/>
        </p:nvSpPr>
        <p:spPr>
          <a:xfrm>
            <a:off x="7322332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62" name="Text 60">
            <a:hlinkClick r:id="rId48" tooltip="" action="ppaction://hlinksldjump"/>
          </p:cNvPr>
          <p:cNvSpPr txBox="1"/>
          <p:nvPr/>
        </p:nvSpPr>
        <p:spPr>
          <a:xfrm>
            <a:off x="7322332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63" name="Shape 61">
            <a:hlinkClick r:id="rId49" tooltip="" action="ppaction://hlinksldjump"/>
          </p:cNvPr>
          <p:cNvSpPr/>
          <p:nvPr/>
        </p:nvSpPr>
        <p:spPr>
          <a:xfrm>
            <a:off x="9610710" y="5833872"/>
            <a:ext cx="2123785" cy="749808"/>
          </a:xfrm>
          <a:prstGeom prst="roundRect">
            <a:avLst>
              <a:gd name="adj" fmla="val 12195"/>
            </a:avLst>
          </a:prstGeom>
          <a:solidFill>
            <a:srgbClr val="F2B233"/>
          </a:solidFill>
          <a:ln w="12700">
            <a:solidFill>
              <a:srgbClr val="C88A1E"/>
            </a:solidFill>
            <a:prstDash val="solid"/>
          </a:ln>
        </p:spPr>
      </p:sp>
      <p:sp>
        <p:nvSpPr>
          <p:cNvPr id="64" name="Text 62">
            <a:hlinkClick r:id="rId50" tooltip="" action="ppaction://hlinksldjump"/>
          </p:cNvPr>
          <p:cNvSpPr txBox="1"/>
          <p:nvPr/>
        </p:nvSpPr>
        <p:spPr>
          <a:xfrm>
            <a:off x="9610710" y="5833872"/>
            <a:ext cx="212378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$500</a:t>
            </a:r>
            <a:endParaRPr lang="en-US" sz="2400" dirty="0"/>
          </a:p>
        </p:txBody>
      </p:sp>
      <p:sp>
        <p:nvSpPr>
          <p:cNvPr id="65" name="Shape 63">
            <a:hlinkClick r:id="rId51" tooltip="" action="ppaction://hlinksldjump"/>
          </p:cNvPr>
          <p:cNvSpPr/>
          <p:nvPr/>
        </p:nvSpPr>
        <p:spPr>
          <a:xfrm>
            <a:off x="4175608" y="6766560"/>
            <a:ext cx="384048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6" name="Text 64">
            <a:hlinkClick r:id="rId52" tooltip="" action="ppaction://hlinksldjump"/>
          </p:cNvPr>
          <p:cNvSpPr txBox="1"/>
          <p:nvPr/>
        </p:nvSpPr>
        <p:spPr>
          <a:xfrm>
            <a:off x="4175608" y="6766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★ FINAL CHALLENGE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class game · Unit 2 review · no external files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resource that can be restored as fast as it is used is called a ____.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resource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nonrenewable resource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cell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renewable resource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means it comes back as quickly as it is used.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main difference between a renewable and a nonrenewable resource?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Nonrenewable resources are always safer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resources cause more air pollution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resources are restored quickly, but nonrenewable resources take millions of years to form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Nonrenewable resources are restored quickly by planting trees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Renewable resources are restored quickly, but nonrenewable resources take millions of years to form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returns fast; nonrenewable takes millions of years.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is plentiful today, but it forms over millions of years. This shows that coal is ____.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nonrenewable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biofuel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everywhere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nonrenewable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Abundant does NOT mean renewable.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Propane gas is abundant in tanks today, but it takes millions of years to form underground. Propane is a ____.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resource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biofuel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nonrenewable resource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geothermal resource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nonrenewable resource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used faster than nature can create it.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 how quickly a resource is restored?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Detective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1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resource is renewable only if it comes back as fast as (or faster than) we use it.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or nonrenewable depends on time: how fast we use it vs. how fast it returns.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fossil fuel is a liquid formed underground that is refined into gasoline and diesel?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petroleum (crude oil)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uranium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petroleum (crude oil)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Petroleum is a liquid fossil fuel refined into fuels.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fossil fuels are coal, petroleum, and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petroleum, and natural gas are the three fossil fuels.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energy source is a fossil fuel?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uranium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coal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is a fossil fuel formed from the remains of living things.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fossil fuels like petroleum considered nonrenewable?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made in factories every day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used much faster than nature can create them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 never be completely used up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found everywhere on Earth’s surface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They are used much faster than nature can create them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them faster than nature can replace them.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coal and petroleum alike? How are they different?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2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Alike: both form from the remains of organisms over millions of years. Different: coal forms from swamp plants (solid); petroleum forms from ocean organisms (liquid).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fossil fuels come from remains of living things from long ago.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with blades that spins when moving air, water, or steam pushes it is a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turbine spins when air, water, or steam pushes its blades.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final form of energy produced by a generator?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electricity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generator makes electricity.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28016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machine belongs in the empty box?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2202104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011680"/>
            <a:ext cx="2202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286000"/>
            <a:ext cx="2202104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air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25064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573704" y="2286000"/>
            <a:ext cx="220210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C88A1E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573704" y="2011680"/>
            <a:ext cx="2202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73704" y="2286000"/>
            <a:ext cx="2202104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867248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15888" y="2286000"/>
            <a:ext cx="2202104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5888" y="2011680"/>
            <a:ext cx="2202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15888" y="2286000"/>
            <a:ext cx="2202104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709431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58071" y="2286000"/>
            <a:ext cx="2202104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58071" y="2011680"/>
            <a:ext cx="2202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258071" y="2286000"/>
            <a:ext cx="2202104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328416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electricity pathway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70332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370332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25196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cell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80060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480060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534924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534924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600" dirty="0"/>
          </a:p>
        </p:txBody>
      </p:sp>
      <p:sp>
        <p:nvSpPr>
          <p:cNvPr id="35" name="Shape 33">
            <a:hlinkClick r:id="rId3" tooltip="" action="ppaction://hlinksldjump"/>
          </p:cNvPr>
          <p:cNvSpPr/>
          <p:nvPr/>
        </p:nvSpPr>
        <p:spPr>
          <a:xfrm>
            <a:off x="4541368" y="5943600"/>
            <a:ext cx="3108960" cy="566928"/>
          </a:xfrm>
          <a:prstGeom prst="roundRect">
            <a:avLst>
              <a:gd name="adj" fmla="val 80645"/>
            </a:avLst>
          </a:prstGeom>
          <a:solidFill>
            <a:srgbClr val="F2B233"/>
          </a:solidFill>
          <a:ln/>
        </p:spPr>
      </p:sp>
      <p:sp>
        <p:nvSpPr>
          <p:cNvPr id="36" name="Text 34">
            <a:hlinkClick r:id="rId4" tooltip="" action="ppaction://hlinksldjump"/>
          </p:cNvPr>
          <p:cNvSpPr txBox="1"/>
          <p:nvPr/>
        </p:nvSpPr>
        <p:spPr>
          <a:xfrm>
            <a:off x="4541368" y="5943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turbine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air spins the turbine, which turns the generator.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plants and nuclear plants use different fuels. What shared step do BOTH use to make electricity?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burn the fuel underground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use rooftop solar cells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use heat to turn water into steam that spins a turbine-generator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rely on flowing river currents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Both use heat to turn water into steam that spins a turbine-generator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and coal share the heat → steam → turbine → generator pathway.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pathway. Explain what stays the SAME in a coal plant and a nuclear plant.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254709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63240"/>
            <a:ext cx="12547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37560"/>
            <a:ext cx="1254709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077669" y="33375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626309" y="3337560"/>
            <a:ext cx="1254709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26309" y="3063240"/>
            <a:ext cx="12547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26309" y="3337560"/>
            <a:ext cx="1254709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72458" y="33375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21098" y="3337560"/>
            <a:ext cx="1254709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1098" y="3063240"/>
            <a:ext cx="12547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21098" y="3337560"/>
            <a:ext cx="1254709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867248" y="33375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15888" y="3337560"/>
            <a:ext cx="1254709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5888" y="3063240"/>
            <a:ext cx="12547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15888" y="3337560"/>
            <a:ext cx="1254709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62037" y="33375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310677" y="3337560"/>
            <a:ext cx="1254709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10677" y="3063240"/>
            <a:ext cx="12547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10677" y="3337560"/>
            <a:ext cx="1254709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56826" y="33375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205466" y="3337560"/>
            <a:ext cx="1254709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05466" y="3063240"/>
            <a:ext cx="12547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205466" y="3337560"/>
            <a:ext cx="1254709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425696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coal and nuclear share</a:t>
            </a:r>
            <a:endParaRPr lang="en-US" sz="1200" dirty="0"/>
          </a:p>
        </p:txBody>
      </p:sp>
      <p:sp>
        <p:nvSpPr>
          <p:cNvPr id="35" name="Shape 33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36" name="Text 34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Turbines &amp; Generators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3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boils water into steam → the steam spins a turbine → the turbine turns a generator → electricity.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plants share heat → steam → turbine → generator.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Hydroelectric power is electricity made from ____.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water (usually through a dam)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water spins a turbine connected to a generator.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Geothermal energy relies on heat that comes from where?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Sun’s rays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ocean waves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burning fossil plants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inside Earth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deep inside Earth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Geothermal uses heat from inside Earth.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28016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solar cell converts sunlight into what? Fill the empty box.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3149498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011680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286000"/>
            <a:ext cx="314949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72458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21098" y="2286000"/>
            <a:ext cx="3149498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1098" y="2011680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2286000"/>
            <a:ext cx="314949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cell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62037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8C8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310677" y="2286000"/>
            <a:ext cx="314949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C88A1E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310677" y="2011680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10677" y="2286000"/>
            <a:ext cx="314949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328416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electricity pathway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370332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25196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480060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80060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349240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geothermal energy</a:t>
            </a:r>
            <a:endParaRPr lang="en-US" sz="1600" dirty="0"/>
          </a:p>
        </p:txBody>
      </p:sp>
      <p:sp>
        <p:nvSpPr>
          <p:cNvPr id="31" name="Shape 29">
            <a:hlinkClick r:id="rId3" tooltip="" action="ppaction://hlinksldjump"/>
          </p:cNvPr>
          <p:cNvSpPr/>
          <p:nvPr/>
        </p:nvSpPr>
        <p:spPr>
          <a:xfrm>
            <a:off x="4541368" y="5943600"/>
            <a:ext cx="3108960" cy="566928"/>
          </a:xfrm>
          <a:prstGeom prst="roundRect">
            <a:avLst>
              <a:gd name="adj" fmla="val 80645"/>
            </a:avLst>
          </a:prstGeom>
          <a:solidFill>
            <a:srgbClr val="F2B233"/>
          </a:solidFill>
          <a:ln/>
        </p:spPr>
      </p:sp>
      <p:sp>
        <p:nvSpPr>
          <p:cNvPr id="32" name="Text 30">
            <a:hlinkClick r:id="rId4" tooltip="" action="ppaction://hlinksldjump"/>
          </p:cNvPr>
          <p:cNvSpPr txBox="1"/>
          <p:nvPr/>
        </p:nvSpPr>
        <p:spPr>
          <a:xfrm>
            <a:off x="4541368" y="5943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electricity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solar cell changes sunlight into electricity.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mountain town has strong, steady wind every day, but it is cloudy most of the year and has no large rivers. Which renewable resource is the most reliable choice?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hydroelectric power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power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wind power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wind makes wind power the most reliable choice there.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solar power called renewable but not always available?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Power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4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 keeps shining (renewable), but solar depends on location, weather, and time of day (cloudy days, nighttime).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 is free and renewable, but not always available.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car uses two sources of energy. Which combination is common in hybrid vehicles?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and natural gas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gasoline fuel and battery power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and solar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uranium and water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$100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gasoline fuel and battery power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Hybrids commonly combine gasoline and battery power.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$200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major limitation of using solar energy?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lots of smoke and air pollution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millions of years to form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depends on available sunlight, so less sun can limit electricity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a deep underground coal mine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$200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It depends on available sunlight, so less sun can limit electricity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depends on the sunlight that is available.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$300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a major environmental cost of burning fossil fuels like coal and oil?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releasing smoke and air pollutants into the air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Earth’s oceans too fast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extra wind currents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up all the sunlight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$300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releasing smoke and air pollutants into the air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Burning fossil fuels releases smoke and air pollutants.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$400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town has strong sunlight most days but very little moving water. Which energy resource would be most reliable based on availability?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hydroelectric power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19856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power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power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</a:t>
            </a:r>
            <a:pPr algn="l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</a:t>
            </a:r>
            <a:endParaRPr lang="en-US" sz="1800" dirty="0"/>
          </a:p>
        </p:txBody>
      </p:sp>
      <p:sp>
        <p:nvSpPr>
          <p:cNvPr id="19" name="Shape 17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20" name="Text 18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$400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solar power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sunlight makes solar power the most reliable there.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$500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renewable resource. Give one benefit AND one limitation, and where it works well.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49928" y="3794760"/>
            <a:ext cx="3291840" cy="548640"/>
          </a:xfrm>
          <a:prstGeom prst="roundRect">
            <a:avLst>
              <a:gd name="adj" fmla="val 83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</a:t>
            </a:r>
            <a:endParaRPr lang="en-US" sz="15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0058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830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Challenge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5 · $500 ·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10911535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60020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
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wind — benefit: no fuel to burn; limitation: needs a windy location; works well where the wind blows steadily.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resource with a benefit, a limitation, and a good location earns full points.</a:t>
            </a:r>
            <a:endParaRPr lang="en-US" sz="1600" dirty="0"/>
          </a:p>
        </p:txBody>
      </p:sp>
      <p:sp>
        <p:nvSpPr>
          <p:cNvPr id="13" name="Shape 11">
            <a:hlinkClick r:id="rId3" tooltip="" action="ppaction://hlinksldjump"/>
          </p:cNvPr>
          <p:cNvSpPr/>
          <p:nvPr/>
        </p:nvSpPr>
        <p:spPr>
          <a:xfrm>
            <a:off x="4541368" y="539496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4541368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4541368" y="6144768"/>
            <a:ext cx="3108960" cy="502920"/>
          </a:xfrm>
          <a:prstGeom prst="roundRect">
            <a:avLst>
              <a:gd name="adj" fmla="val 90909"/>
            </a:avLst>
          </a:prstGeom>
          <a:solidFill>
            <a:srgbClr val="EEF2F7"/>
          </a:solidFill>
          <a:ln/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4541368" y="6144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clue again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402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402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MYSTERY TOWN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23444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Challenge — The Mystery Town</a:t>
            </a:r>
            <a:endParaRPr lang="en-US" sz="2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town wants to switch to renewable energy. It has strong, steady wind every day, many cloudy days, no large river nearby, and no volcanic activity.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576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resource should this town investigate? Explain your choice.
</a:t>
            </a:r>
            <a:endParaRPr lang="en-US" sz="1600" dirty="0"/>
          </a:p>
        </p:txBody>
      </p:sp>
      <p:sp>
        <p:nvSpPr>
          <p:cNvPr id="11" name="Shape 9">
            <a:hlinkClick r:id="rId3" tooltip="" action="ppaction://hlinksldjump"/>
          </p:cNvPr>
          <p:cNvSpPr/>
          <p:nvPr/>
        </p:nvSpPr>
        <p:spPr>
          <a:xfrm>
            <a:off x="4541368" y="598932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2" name="Text 10">
            <a:hlinkClick r:id="rId4" tooltip="" action="ppaction://hlinksldjump"/>
          </p:cNvPr>
          <p:cNvSpPr txBox="1"/>
          <p:nvPr/>
        </p:nvSpPr>
        <p:spPr>
          <a:xfrm>
            <a:off x="4541368" y="5989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</a:t>
            </a:r>
            <a:endParaRPr 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F2B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40280" y="411480"/>
            <a:ext cx="3108960" cy="457200"/>
          </a:xfrm>
          <a:prstGeom prst="roundRect">
            <a:avLst>
              <a:gd name="adj" fmla="val 100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402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MYSTERY TOWN</a:t>
            </a:r>
            <a:endParaRPr lang="en-US" sz="1400" dirty="0"/>
          </a:p>
        </p:txBody>
      </p:sp>
      <p:sp>
        <p:nvSpPr>
          <p:cNvPr id="7" name="Shape 5">
            <a:hlinkClick r:id="rId1" tooltip="" action="ppaction://hlinksldjump"/>
          </p:cNvPr>
          <p:cNvSpPr/>
          <p:nvPr/>
        </p:nvSpPr>
        <p:spPr>
          <a:xfrm>
            <a:off x="10088575" y="41148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EEF2F7"/>
          </a:solidFill>
          <a:ln/>
        </p:spPr>
      </p:sp>
      <p:sp>
        <p:nvSpPr>
          <p:cNvPr id="8" name="Text 6">
            <a:hlinkClick r:id="rId2" tooltip="" action="ppaction://hlinksldjump"/>
          </p:cNvPr>
          <p:cNvSpPr txBox="1"/>
          <p:nvPr/>
        </p:nvSpPr>
        <p:spPr>
          <a:xfrm>
            <a:off x="10088575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spc="10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10911535" cy="2834640"/>
          </a:xfrm>
          <a:prstGeom prst="roundRect">
            <a:avLst>
              <a:gd name="adj" fmla="val 3871"/>
            </a:avLst>
          </a:prstGeom>
          <a:solidFill>
            <a:srgbClr val="E5F4EC"/>
          </a:solidFill>
          <a:ln w="19050">
            <a:solidFill>
              <a:srgbClr val="BFE3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417320"/>
            <a:ext cx="102714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F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answer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power. The town has strong, steady wind every day — so wind is reliable there.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51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algn="ctr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Cloudy days limit solar, no river limits hydroelectric, and no volcanic activity limits geothermal. Steady wind makes wind the best fit.</a:t>
            </a:r>
            <a:endParaRPr lang="en-US" sz="1600" dirty="0"/>
          </a:p>
        </p:txBody>
      </p:sp>
      <p:sp>
        <p:nvSpPr>
          <p:cNvPr id="12" name="Shape 10">
            <a:hlinkClick r:id="rId3" tooltip="" action="ppaction://hlinksldjump"/>
          </p:cNvPr>
          <p:cNvSpPr/>
          <p:nvPr/>
        </p:nvSpPr>
        <p:spPr>
          <a:xfrm>
            <a:off x="4541368" y="5440680"/>
            <a:ext cx="3108960" cy="640080"/>
          </a:xfrm>
          <a:prstGeom prst="roundRect">
            <a:avLst>
              <a:gd name="adj" fmla="val 71429"/>
            </a:avLst>
          </a:prstGeom>
          <a:solidFill>
            <a:srgbClr val="F2B233"/>
          </a:solidFill>
          <a:ln/>
        </p:spPr>
      </p:sp>
      <p:sp>
        <p:nvSpPr>
          <p:cNvPr id="13" name="Text 11">
            <a:hlinkClick r:id="rId4" tooltip="" action="ppaction://hlinksldjump"/>
          </p:cNvPr>
          <p:cNvSpPr txBox="1"/>
          <p:nvPr/>
        </p:nvSpPr>
        <p:spPr>
          <a:xfrm>
            <a:off x="4541368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spc="100" kern="0" dirty="0">
                <a:solidFill>
                  <a:srgbClr val="0F1B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 TO BOARD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Resource Detective — Unit 2 Review Game</dc:title>
  <dc:subject>PptxGenJS Presentation</dc:subject>
  <dc:creator>Grade 4 Science</dc:creator>
  <cp:lastModifiedBy>Grade 4 Science</cp:lastModifiedBy>
  <cp:revision>1</cp:revision>
  <dcterms:created xsi:type="dcterms:W3CDTF">2026-10-01T06:23:46Z</dcterms:created>
  <dcterms:modified xsi:type="dcterms:W3CDTF">2026-10-01T06:23:46Z</dcterms:modified>
</cp:coreProperties>
</file>