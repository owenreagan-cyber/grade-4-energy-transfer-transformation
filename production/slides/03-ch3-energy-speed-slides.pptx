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mp4" ContentType="video/mp4"/>
  <Default Extension="jpg" ContentType="image/jpeg"/>
  <Override PartName="/ppt/slides/slide29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84" r:id="rId35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poster1.jpg"/><Relationship Id="rId3" Type="http://schemas.openxmlformats.org/officeDocument/2006/relationships/video" Target="../media/video1.mp4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Arial"/>
              </a:rPr>
              <a:t>Energy and Speed Are Related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Arial"/>
              </a:rPr>
              <a:t>Chapter 3  ·  Grade 4  ·  Week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840480"/>
            <a:ext cx="2834640" cy="9144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SAME OBJECT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23360" y="402336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37760" y="3840480"/>
            <a:ext cx="283464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F3A5F"/>
                </a:solidFill>
                <a:latin typeface="Arial"/>
              </a:rPr>
              <a:t>FASTER MOTION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63840" y="402336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0" y="3840480"/>
            <a:ext cx="2377440" cy="9144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GREATER CHANGE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What changed?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03120"/>
            <a:ext cx="4754880" cy="219456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SLOW roll
cup moves a little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806440" y="292608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66560" y="2103120"/>
            <a:ext cx="4754880" cy="219456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FASTER roll
cup moves a 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The SAME ball, moving faster, caused a greater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I notice…  I wonder…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4937760" cy="3291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3200" b="1">
                <a:solidFill>
                  <a:srgbClr val="1F3A5F"/>
                </a:solidFill>
                <a:latin typeface="Arial"/>
              </a:rPr>
              <a:t>I notice…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011680"/>
            <a:ext cx="4937760" cy="3291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3200" b="1">
                <a:solidFill>
                  <a:srgbClr val="1F3A5F"/>
                </a:solidFill>
                <a:latin typeface="Arial"/>
              </a:rPr>
              <a:t>I wonder…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Same object reminder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377440"/>
            <a:ext cx="4572000" cy="18288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SAME ball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2834640"/>
            <a:ext cx="1371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55555"/>
                </a:solidFill>
                <a:latin typeface="Arial"/>
              </a:rPr>
              <a:t>+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377440"/>
            <a:ext cx="4297680" cy="18288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SAME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We only change the speed. The object stays the same.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Prediction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377440"/>
            <a:ext cx="9966960" cy="18288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Which roll will cause the greater change — the slow one or the faster one?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Big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10698480" cy="1828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How are energy and speed related?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Remember from Chapter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468880"/>
            <a:ext cx="9418320" cy="164592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A moving object has energy of motion.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What is speed?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377440"/>
            <a:ext cx="10332720" cy="173736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Speed: a measurement of the distance an object travels over an amount of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55555"/>
                </a:solidFill>
                <a:latin typeface="Arial"/>
              </a:rPr>
              <a:t>— Student Reader, p.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Same ball, different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DRAW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SLOWER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92024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C05014"/>
                </a:solidFill>
                <a:latin typeface="Arial"/>
              </a:rPr>
              <a:t>FASTER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2834640"/>
            <a:ext cx="2011680" cy="10972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3383280" y="3108960"/>
            <a:ext cx="2011680" cy="50292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949440" y="2834640"/>
            <a:ext cx="2011680" cy="10972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9052560" y="3108960"/>
            <a:ext cx="3017520" cy="50292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57200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555555"/>
                </a:solidFill>
                <a:latin typeface="Arial"/>
              </a:rPr>
              <a:t>Arrows are a model — longer arrow = faster (not a measured speed).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Notes —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377440"/>
            <a:ext cx="9966960" cy="164592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Speed describes how ______ an object moves.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297680"/>
            <a:ext cx="9966960" cy="9144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fast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Our investigation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Ramp It Up! 2.0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105156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How does ramp height affect the change caused by the same ball?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Fair test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10332720" cy="1828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Change ONE thing. Keep the important conditions the SAME.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Variables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3383280" cy="219456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WE CHANGE
ramp height
(1 · 2 · 3 books)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2103120"/>
            <a:ext cx="3383280" cy="219456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3A5F"/>
                </a:solidFill>
                <a:latin typeface="Arial"/>
              </a:rPr>
              <a:t>WE KEEP SAME
ball · cup · surface · release point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103120"/>
            <a:ext cx="3383280" cy="219456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WE MEASURE
cup displacement (cm)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548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C05014"/>
                </a:solidFill>
                <a:latin typeface="Arial"/>
              </a:rPr>
              <a:t>We do NOT measure speed or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Ramp It Up! 2.0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•  Cardboard ramp + books (1, 2, 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291839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•  Lightweight cup at the marked start position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480560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•  Ruler (cm) · tape markers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Predict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Ramp It Up! 2.0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377440"/>
            <a:ext cx="9966960" cy="18288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At which ramp height will the cup move the farthest?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Procedure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Ramp It Up! 2.0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1.  Release the ball from the top of the ramp (no push).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291839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2.  Measure how far the cup moved (cm).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480560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3.  Repeat 3 trials; then try the next ramp height.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Data 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94560"/>
            <a:ext cx="9966960" cy="1005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Ramp Height | Trial 1 | Trial 2 | Trial 3 | Average (cm)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566160"/>
            <a:ext cx="9966960" cy="1005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1 book  ·  2 books  ·  3 books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Graph setup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DRAW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94560"/>
            <a:ext cx="9966960" cy="10972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Ramp Height vs. Average Cup Displacement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Arial"/>
              </a:rPr>
              <a:t>X-axis: Ramp Height (books)    Y-axis: Average Cup Displacement (cm)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C05014"/>
                </a:solidFill>
                <a:latin typeface="Arial"/>
              </a:rPr>
              <a:t>NOT “Speed vs. Energy” — we did not measure speed or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Graph interpretation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10332720" cy="18288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Higher ramp → the cup moved farther.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Measured vs inferred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REVEAL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5029200" cy="256032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F3A5F"/>
                </a:solidFill>
                <a:latin typeface="Arial"/>
              </a:rPr>
              <a:t>MEASURED
ramp height (books)
cup displacement (cm)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103120"/>
            <a:ext cx="5029200" cy="256032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INFERRED
relative speed
speed ↔ energy relationship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C05014"/>
                </a:solidFill>
                <a:latin typeface="Arial"/>
              </a:rPr>
              <a:t>We did NOT measure speed or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Reader connection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1033272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Greater speed → greater change → greater energy of motion.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66344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55555"/>
                </a:solidFill>
                <a:latin typeface="Arial"/>
              </a:rPr>
              <a:t>— Student Reader, pp. 13–16 (catch a ball · ramp/bucket · bounce)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Evidence statement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743200" cy="13716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SAME OBJECT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657600" y="283464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0" y="2286000"/>
            <a:ext cx="2743200" cy="13716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3A5F"/>
                </a:solidFill>
                <a:latin typeface="Arial"/>
              </a:rPr>
              <a:t>FASTER MOTION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406640" y="283464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21040" y="2286000"/>
            <a:ext cx="3017520" cy="13716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GREATER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80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→ greater energy of motion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Misconception check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REVEAL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10332720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Did we directly measure speed or energy?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931920"/>
            <a:ext cx="10332720" cy="128016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NO — we measured the change and inferred the relationship.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Drop It —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Application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377440"/>
            <a:ext cx="9966960" cy="18288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At which height will the ball make the biggest crater?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Drop It —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Application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•  Same ball · same sand tray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291839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•  Fixed heights: 30 cm · 60 cm (optional 90 cm)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480560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•  Measure crater width (cm) · depth = shallow/medium/deep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Drop It —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10332720" cy="18288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Higher drop → faster → bigger crater → greater energy of motion.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Bring it together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743200" cy="13716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SAME OBJECT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657600" y="283464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0" y="2286000"/>
            <a:ext cx="2743200" cy="13716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3A5F"/>
                </a:solidFill>
                <a:latin typeface="Arial"/>
              </a:rPr>
              <a:t>FASTER MOTION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406640" y="283464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21040" y="2286000"/>
            <a:ext cx="3017520" cy="13716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GREATER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80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…shown by a greater observed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Exit check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10332720" cy="10972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Name one thing we MEASURED and one thing we INFERRED.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555555"/>
                </a:solidFill>
                <a:latin typeface="Arial"/>
              </a:rPr>
              <a:t>MEASURED: ___________    INFERRED: ___________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r"/>
          <p:cNvSpPr/>
          <p:nvPr/>
        </p:nvSpPr>
        <p:spPr>
          <a:xfrm>
            <a:off x="0" y="0"/>
            <a:ext cx="12191695" cy="14173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457200" y="109728"/>
            <a:ext cx="985519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WATCH — Ramp It Up in Action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457200" y="1024128"/>
            <a:ext cx="985519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C9D2E8"/>
                </a:solidFill>
                <a:latin typeface="Arial"/>
              </a:rPr>
              <a:t>Optional video · 2:29 · Week 2 · Ramp It Up 2.0</a:t>
            </a:r>
          </a:p>
        </p:txBody>
      </p:sp>
      <p:sp>
        <p:nvSpPr>
          <p:cNvPr id="5" name="Watch Badge"/>
          <p:cNvSpPr/>
          <p:nvPr/>
        </p:nvSpPr>
        <p:spPr>
          <a:xfrm>
            <a:off x="10820400" y="256032"/>
            <a:ext cx="1203960" cy="420624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WATCH</a:t>
            </a:r>
          </a:p>
        </p:txBody>
      </p:sp>
      <p:pic>
        <p:nvPicPr>
          <p:cNvPr id="6" name="Video 1">
            <a:extLst>
              <a:ext uri="{DAA4B4D4-6D71-4841-9C94-3DE7FCFB9230}">
                <p14:media xmlns:p14="http://schemas.microsoft.com/office/powerpoint/2010/main" r:embed="rId3"/>
              </a:ext>
            </a:extLst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1895847" y="1720000"/>
            <a:ext cx="8400000" cy="4725000"/>
          </a:xfrm>
          <a:prstGeom prst="rect">
            <a:avLst/>
          </a:prstGeom>
        </p:spPr>
      </p:pic>
      <p:sp>
        <p:nvSpPr>
          <p:cNvPr id="7" name="Prompt"/>
          <p:cNvSpPr txBox="1"/>
          <p:nvPr/>
        </p:nvSpPr>
        <p:spPr>
          <a:xfrm>
            <a:off x="457200" y="6500000"/>
            <a:ext cx="11277295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1F3A5F"/>
                </a:solidFill>
                <a:latin typeface="Arial"/>
              </a:rPr>
              <a:t>THINK: Which variable changed, and which stayed the same?</a:t>
            </a:r>
          </a:p>
        </p:txBody>
      </p:sp>
      <p:sp>
        <p:nvSpPr>
          <p:cNvPr id="8" name="Slide Number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