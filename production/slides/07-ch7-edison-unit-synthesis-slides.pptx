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82" r:id="rId33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13.xml"/><Relationship Id="rId3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SUPPORT</a:t>
            </a:r>
          </a:p>
          <a:p>
            <a:r>
              <a:t>PLAY: Week 4 synthesis — after “Notes — Insert 1”, before “Review — Chapter 1”.</a:t>
            </a:r>
          </a:p>
          <a:p>
            <a:r>
              <a:t>PURPOSE: Recap Unit 1 core ideas (evidence, transfer vs transformation, source/path/receiver, energy does not disappear) before the final review.</a:t>
            </a:r>
          </a:p>
          <a:p>
            <a:r>
              <a:t>SKIP IF: Optional — use as a review aid; the unit review slides cover the same 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poster1.jpg"/><Relationship Id="rId3" Type="http://schemas.openxmlformats.org/officeDocument/2006/relationships/video" Target="../media/video1.mp4"/><Relationship Id="rId4" Type="http://schemas.openxmlformats.org/officeDocument/2006/relationships/notesSlide" Target="../notesSlides/notes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Solving Problems and Designing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D5DEEA"/>
                </a:solidFill>
                <a:latin typeface="Arial"/>
              </a:rPr>
              <a:t>Thomas A. Edison · Chapter 7 · Grade 4 · Week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1920240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70048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4572000"/>
            <a:ext cx="192024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64608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0" y="4572000"/>
            <a:ext cx="192024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59167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4572000"/>
            <a:ext cx="192024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53728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09760" y="4572000"/>
            <a:ext cx="1920240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IMPROVE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011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How did Thomas Edison use his knowledge of energy transfer and transformation to solve problems?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Arial"/>
              </a:rPr>
              <a:t>Big Question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Life before light bulbs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Before light bulbs, people lit the dark with open flames — torches, candles, oil lanterns.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Open flames can be unsafe. Early bulbs burned out fast and cost too much.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UNSAFE LIGHT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SOLVE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Edison saw a chance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Improve, don't invent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Edison did NOT invent the first light bulb. Other engineers had already built bulbs.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He improved their designs — safer, longer-lasting, more affordable.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EXISTING BULB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BETTER BULB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Testing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More than 6,000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THINK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Edison's team tested more than six thousand materials for a filament.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They wanted a material that glows a long time without burning up — and costs less.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REPEAT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1879 — bamboo + carbon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In 1879, a bamboo filament coated with carbon worked.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Electrical energy transformed to light energy.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ELECTRICAL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LIGHT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BULB GLOWS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The filament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Where the change happens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filament is the wire in a bulb that glows when electricity moves through it.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glass protects the filament.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Keep trying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'I haven't failed. I've just found ten thousand ways that won't work.'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Persistence = keep trying to solve a problem, even when you find ways that don't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FAILURE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= DATA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KEEP GOING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Lewis Howard Latimer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Latimer improved Edison's bulb — securing the wire to the filament,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and making the filament stronger and longer-lasting. Design improves over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Beyond light bulbs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The alkaline battery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In 1901, Edison made the first alkaline battery — lighter and more powerful.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His electric-car idea did not succeed then, but his battery still affects your life.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STORED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ELECTRICAL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POWER DEVICES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Design never 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Incandescent → CFL → 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Each new design improves an earlier one: less electricity, less heat, longer life.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As long as there are problems, people keep designing solutions.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IMPROVE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IMPROVE AGAIN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Insert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Engineering is a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PROBLEM → DESIGN → TEST → EVIDENCE → IMPROVE.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Add one Edison example and one example from your own tabletop device.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920240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7004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5120640"/>
            <a:ext cx="192024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6460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5120640"/>
            <a:ext cx="192024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5916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0" y="5120640"/>
            <a:ext cx="192024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5372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09760" y="5120640"/>
            <a:ext cx="1920240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IMPROVE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r"/>
          <p:cNvSpPr/>
          <p:nvPr/>
        </p:nvSpPr>
        <p:spPr>
          <a:xfrm>
            <a:off x="0" y="0"/>
            <a:ext cx="12191695" cy="14173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457200" y="109728"/>
            <a:ext cx="985519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WATCH — Unit 1 Energy Core Recap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024128"/>
            <a:ext cx="985519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C9D2E8"/>
                </a:solidFill>
                <a:latin typeface="Arial"/>
              </a:rPr>
              <a:t>Optional video · 2:49 · Week 4 · Chapters 1–6 recap</a:t>
            </a:r>
          </a:p>
        </p:txBody>
      </p:sp>
      <p:sp>
        <p:nvSpPr>
          <p:cNvPr id="5" name="Watch Badge"/>
          <p:cNvSpPr/>
          <p:nvPr/>
        </p:nvSpPr>
        <p:spPr>
          <a:xfrm>
            <a:off x="10820400" y="256032"/>
            <a:ext cx="1203960" cy="420624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WATCH</a:t>
            </a:r>
          </a:p>
        </p:txBody>
      </p:sp>
      <p:pic>
        <p:nvPicPr>
          <p:cNvPr id="6" name="Video 1">
            <a:extLst>
              <a:ext uri="{DAA4B4D4-6D71-4841-9C94-3DE7FCFB9230}">
                <p14:media xmlns:p14="http://schemas.microsoft.com/office/powerpoint/2010/main" r:embed="rId3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1895847" y="1720000"/>
            <a:ext cx="8400000" cy="4725000"/>
          </a:xfrm>
          <a:prstGeom prst="rect">
            <a:avLst/>
          </a:prstGeom>
        </p:spPr>
      </p:pic>
      <p:sp>
        <p:nvSpPr>
          <p:cNvPr id="7" name="Prompt"/>
          <p:cNvSpPr txBox="1"/>
          <p:nvPr/>
        </p:nvSpPr>
        <p:spPr>
          <a:xfrm>
            <a:off x="457200" y="6500000"/>
            <a:ext cx="11277295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3A5F"/>
                </a:solidFill>
                <a:latin typeface="Arial"/>
              </a:rPr>
              <a:t>THINK: What evidence tells us energy is there, even when we can't see it?</a:t>
            </a:r>
          </a:p>
        </p:txBody>
      </p:sp>
      <p:sp>
        <p:nvSpPr>
          <p:cNvPr id="8" name="Slide Number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Review — Chapter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Energy causes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Energy = the ability to cause change.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We see a change → we infer energy was involved.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ENERGY → CHANGE →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ENERGY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CHANGE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Review — 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Moving objects have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moving object has energy of motion.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It can cause a change when it hits or pushes.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Review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Same object, different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For the SAME object, faster = more energy of motion = bigger change.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We MEASURE ramp height and cup movement; we INFER the speed.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SAME OBJECT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FASTER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BIGGER CHANGE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Review — Chapter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Energy transfers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Energy transfers by sound, light, heat, and electric current.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TRANSFER = energy moves place/object. TRANSFORMATION = form changes.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TRANSFORMATION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BOTH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Review — Chapter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Collisions transfer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In a collision, energy of motion transfers to the target — and some becomes sound.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Energy does NOT disappear.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TARGET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+ SOUND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Review — 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Transformations +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INPUT → TRANSFORMATION → OUTPUT. Engineers solve problems with energy changes,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judged by criteria under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INPUT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TRANSFORMATION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OUTPUT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Insert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Energy Unit Concept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Center: ENERGY. Branches: causes change · motion · speed · transfer · collisions ·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transformation · engineering. Add one example under each.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Data / graph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Same-object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Read a ramp-height vs cup-displacement table.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What pattern do you see? What do we measure vs infer?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RAMP HEIGHT ↑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CUP MOVEMENT 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Transfer / Transformation / BOTH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Retrieval 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Classify: warm spoon · flashlight · dominoes · buzzer · toy-car collision.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State the system boundary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TRANSFORMATION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BOTH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Fair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One thing at a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fair test changes ONE thing and keeps everything else the same.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That way we know what caused the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CHANGE ONE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KEEP REST SAME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COMPARE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Criteria &amp;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Engineering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Criteria = what a good solution must do.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Constraints = the limits (materials, time, safety).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CRITERIA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CONSTRAINTS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SOLUTION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Assessment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What to expect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Multiple choice · diagrams · data tables · graph reading · short answers · one CER.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Show your evidence. Use your Core Vocabulary cards if allowed.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READ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SHOW EVIDENCE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EXPLAIN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Correction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Learn from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MISSED ITEM → ORIGINAL THINKING → CORRECT IDEA → EVIDENCE → NEW EXAMPLE.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Corrections are about learning, not punishment.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MISSED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REPAIR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Unit 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From change to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ENERGY → CHANGE → EVIDENCE → ENGINEERING.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Notes Insert 3 — Unit Reflection: something I can explain, strong evidence,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one improvement, one question.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ENERGY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CHANGE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