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8" r:id="rId29"/>
    <p:sldId id="266" r:id="rId17"/>
    <p:sldId id="279" r:id="rId30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11.xml"/><Relationship Id="rId30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Moving Objects Have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Arial"/>
              </a:rPr>
              <a:t>Chapter 2  ·  Grade 4  ·  Week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840480"/>
            <a:ext cx="2743200" cy="9144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MOVING OBJECT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402336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0" y="3840480"/>
            <a:ext cx="237744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CHANGE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498079" y="402336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3840480"/>
            <a:ext cx="2468880" cy="9144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changed?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94560"/>
            <a:ext cx="45720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BEFORE
rolling marble → still target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623560" y="2834640"/>
            <a:ext cx="82296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0" y="2194560"/>
            <a:ext cx="4572000" cy="201168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AFTER
target marble moved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The target changed from still to moving.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I notice…  I wonder…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3291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>
                <a:solidFill>
                  <a:srgbClr val="1F3A5F"/>
                </a:solidFill>
                <a:latin typeface="Arial"/>
              </a:rPr>
              <a:t>I notice…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4937760" cy="32918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3200" b="1">
                <a:solidFill>
                  <a:srgbClr val="1F3A5F"/>
                </a:solidFill>
                <a:latin typeface="Arial"/>
              </a:rPr>
              <a:t>I wonder…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77440"/>
            <a:ext cx="996696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What will happen when the moving marble reaches the target?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Big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98480" cy="182880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How are energy, change, and movement of objects related?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moved?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4572000" cy="18288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the rolling marble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This object was in motion.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changed?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457200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the target marble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It changed from still to moving.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Remember from Chapter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468880"/>
            <a:ext cx="9418320" cy="164592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Energy is the ability to cause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Moving objects cause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3657600" cy="14630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moving marble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663440" y="2834640"/>
            <a:ext cx="1005840" cy="64008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0720" y="2468880"/>
            <a:ext cx="3657600" cy="14630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causes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The moving marble caused the target to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What is motion?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77440"/>
            <a:ext cx="9966960" cy="173736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Motion: the process of an object changing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Notes —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966960" cy="12344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5014"/>
                </a:solidFill>
                <a:latin typeface="Arial"/>
              </a:rPr>
              <a:t>WRITE: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028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An object is in motion when its position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Arial"/>
              </a:rPr>
              <a:t>REVEAL → 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06240"/>
            <a:ext cx="9966960" cy="18288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297679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DRAWING IDEAS (draw YOUR example):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754879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•  draw a moving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166359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•  add an arrow to show direction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Energy of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377440"/>
            <a:ext cx="9966960" cy="173736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A moving object has energy of 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Notes — Energy of Motion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256032"/>
            <a:ext cx="2103120" cy="54864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966960" cy="12344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5014"/>
                </a:solidFill>
                <a:latin typeface="Arial"/>
              </a:rPr>
              <a:t>WRITE: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0280"/>
            <a:ext cx="9418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Arial"/>
              </a:rPr>
              <a:t>A moving object has energy of motion.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555555"/>
                </a:solidFill>
                <a:latin typeface="Arial"/>
              </a:rPr>
              <a:t>REVEAL → 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06240"/>
            <a:ext cx="9966960" cy="18288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297679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DRAWING IDEAS (draw YOUR example):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754879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•  draw a moving object causing something else to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Our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0515600" cy="20116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How does a moving marble provide evidence that it has energy?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One moving marble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91839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One target marble at 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48056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F3A5F"/>
                </a:solidFill>
                <a:latin typeface="Arial"/>
              </a:rPr>
              <a:t>•  Identical marbles · flat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996696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F3A5F"/>
                </a:solidFill>
                <a:latin typeface="Arial"/>
              </a:rPr>
              <a:t>Predict: what will happen when the marble reaches the target?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1F3A5F"/>
                </a:solidFill>
                <a:latin typeface="Arial"/>
              </a:rPr>
              <a:t>1.  Roll the moving marble toward the target.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91839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1F3A5F"/>
                </a:solidFill>
                <a:latin typeface="Arial"/>
              </a:rPr>
              <a:t>2.  Observe what the target does.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480560"/>
            <a:ext cx="9418320" cy="9144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>
                <a:solidFill>
                  <a:srgbClr val="1F3A5F"/>
                </a:solidFill>
                <a:latin typeface="Arial"/>
              </a:rPr>
              <a:t>3.  Record what 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Record your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Arial"/>
              </a:rPr>
              <a:t>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10515600" cy="292608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F3A5F"/>
                </a:solidFill>
                <a:latin typeface="Arial"/>
              </a:rPr>
              <a:t>What moved before?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3756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F3A5F"/>
                </a:solidFill>
                <a:latin typeface="Arial"/>
              </a:rPr>
              <a:t>What changed after contact?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418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F3A5F"/>
                </a:solidFill>
                <a:latin typeface="Arial"/>
              </a:rPr>
              <a:t>How did the target change?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Debrief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926080" cy="13716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change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40480" y="283464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2286000"/>
            <a:ext cx="2926080" cy="13716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The target's change is evidence the marble had energy.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Reader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10332720" cy="18288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3A5F"/>
                </a:solidFill>
                <a:latin typeface="Arial"/>
              </a:rPr>
              <a:t>All moving objects have energy of motion.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555555"/>
                </a:solidFill>
                <a:latin typeface="Arial"/>
              </a:rPr>
              <a:t>— Student Reader, p.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Observation vs 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5029200" cy="237744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OBSERVATION
I saw the target move.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194560"/>
            <a:ext cx="5029200" cy="237744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INFERENCE
I think the marble had energy.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Moving objects cause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43200"/>
            <a:ext cx="3383280" cy="14630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basketball → 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743200"/>
            <a:ext cx="3383280" cy="14630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raindrops → puddle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743200"/>
            <a:ext cx="3383280" cy="14630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wind → turbine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Non-example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4572000" cy="201168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book sitting
on a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Not moving → no change → no energy of motion.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Bring it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926080" cy="1371600"/>
          </a:xfrm>
          <a:prstGeom prst="roundRect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MOVING OBJECT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40480" y="283464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2286000"/>
            <a:ext cx="2743200" cy="1371600"/>
          </a:xfrm>
          <a:prstGeom prst="round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F3A5F"/>
                </a:solidFill>
                <a:latin typeface="Arial"/>
              </a:rPr>
              <a:t>CHANGE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589520" y="2834640"/>
            <a:ext cx="822960" cy="548640"/>
          </a:xfrm>
          <a:prstGeom prst="rightArrow">
            <a:avLst/>
          </a:prstGeom>
          <a:solidFill>
            <a:srgbClr val="C05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0" y="2286000"/>
            <a:ext cx="2743200" cy="1371600"/>
          </a:xfrm>
          <a:prstGeom prst="roundRect">
            <a:avLst/>
          </a:prstGeom>
          <a:solidFill>
            <a:srgbClr val="2E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Arial"/>
              </a:rPr>
              <a:t>Name one moving object and the change it caused.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55555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