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  <a:latin typeface="Arial"/>
              </a:rPr>
              <a:t>Moving Objects Have Energy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92608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0">
                <a:solidFill>
                  <a:srgbClr val="FFFFFF"/>
                </a:solidFill>
                <a:latin typeface="Arial"/>
              </a:rPr>
              <a:t>Chapter 2  ·  Grade 4  ·  Week 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3840480"/>
            <a:ext cx="2743200" cy="91440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MOVING OBJECT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114800" y="4023360"/>
            <a:ext cx="822960" cy="548640"/>
          </a:xfrm>
          <a:prstGeom prst="rightArrow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0" y="3840480"/>
            <a:ext cx="2377440" cy="91440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1F3A5F"/>
                </a:solidFill>
                <a:latin typeface="Arial"/>
              </a:rPr>
              <a:t>CHANGE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498079" y="4023360"/>
            <a:ext cx="822960" cy="548640"/>
          </a:xfrm>
          <a:prstGeom prst="rightArrow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0" y="3840480"/>
            <a:ext cx="2468880" cy="914400"/>
          </a:xfrm>
          <a:prstGeom prst="roundRect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What changed?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194560"/>
            <a:ext cx="4572000" cy="201168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1F3A5F"/>
                </a:solidFill>
                <a:latin typeface="Arial"/>
              </a:rPr>
              <a:t>BEFORE
rolling marble → still target</a:t>
            </a:r>
          </a:p>
        </p:txBody>
      </p:sp>
      <p:sp>
        <p:nvSpPr>
          <p:cNvPr id="5" name="Right Arrow 4"/>
          <p:cNvSpPr/>
          <p:nvPr/>
        </p:nvSpPr>
        <p:spPr>
          <a:xfrm>
            <a:off x="5623560" y="2834640"/>
            <a:ext cx="822960" cy="640080"/>
          </a:xfrm>
          <a:prstGeom prst="rightArrow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0" y="2194560"/>
            <a:ext cx="4572000" cy="201168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AFTER
target marble moved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93776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1F3A5F"/>
                </a:solidFill>
                <a:latin typeface="Arial"/>
              </a:rPr>
              <a:t>The target changed from still to moving.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I notice…  I wonder…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011680"/>
            <a:ext cx="4937760" cy="329184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3200" b="1">
                <a:solidFill>
                  <a:srgbClr val="1F3A5F"/>
                </a:solidFill>
                <a:latin typeface="Arial"/>
              </a:rPr>
              <a:t>I notice…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2011680"/>
            <a:ext cx="4937760" cy="329184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3200" b="1">
                <a:solidFill>
                  <a:srgbClr val="1F3A5F"/>
                </a:solidFill>
                <a:latin typeface="Arial"/>
              </a:rPr>
              <a:t>I wonder…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Prediction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2377440"/>
            <a:ext cx="9966960" cy="182880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F3A5F"/>
                </a:solidFill>
                <a:latin typeface="Arial"/>
              </a:rPr>
              <a:t>What will happen when the moving marble reaches the target?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Big Question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377440"/>
            <a:ext cx="10698480" cy="182880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200" b="1">
                <a:solidFill>
                  <a:srgbClr val="FFFFFF"/>
                </a:solidFill>
                <a:latin typeface="Arial"/>
              </a:rPr>
              <a:t>How are energy, change, and movement of objects related?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What moved?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377440"/>
            <a:ext cx="4572000" cy="182880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200" b="1">
                <a:solidFill>
                  <a:srgbClr val="FFFFFF"/>
                </a:solidFill>
                <a:latin typeface="Arial"/>
              </a:rPr>
              <a:t>the rolling marble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66344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1F3A5F"/>
                </a:solidFill>
                <a:latin typeface="Arial"/>
              </a:rPr>
              <a:t>This object was in motion.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What changed?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377440"/>
            <a:ext cx="4572000" cy="182880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F3A5F"/>
                </a:solidFill>
                <a:latin typeface="Arial"/>
              </a:rPr>
              <a:t>the target marble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66344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1F3A5F"/>
                </a:solidFill>
                <a:latin typeface="Arial"/>
              </a:rPr>
              <a:t>It changed from still to moving.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Remember from Chapter 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2468880"/>
            <a:ext cx="9418320" cy="164592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400" b="1">
                <a:solidFill>
                  <a:srgbClr val="FFFFFF"/>
                </a:solidFill>
                <a:latin typeface="Arial"/>
              </a:rPr>
              <a:t>Energy is the ability to cause change.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Moving objects cause change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468880"/>
            <a:ext cx="3657600" cy="146304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moving marble</a:t>
            </a:r>
          </a:p>
        </p:txBody>
      </p:sp>
      <p:sp>
        <p:nvSpPr>
          <p:cNvPr id="5" name="Right Arrow 4"/>
          <p:cNvSpPr/>
          <p:nvPr/>
        </p:nvSpPr>
        <p:spPr>
          <a:xfrm>
            <a:off x="4663440" y="2834640"/>
            <a:ext cx="1005840" cy="640080"/>
          </a:xfrm>
          <a:prstGeom prst="rightArrow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760720" y="2468880"/>
            <a:ext cx="3657600" cy="146304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1F3A5F"/>
                </a:solidFill>
                <a:latin typeface="Arial"/>
              </a:rPr>
              <a:t>causes change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5488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1F3A5F"/>
                </a:solidFill>
                <a:latin typeface="Arial"/>
              </a:rPr>
              <a:t>The moving marble caused the target to change.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What is motion?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2377440"/>
            <a:ext cx="9966960" cy="173736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F3A5F"/>
                </a:solidFill>
                <a:latin typeface="Arial"/>
              </a:rPr>
              <a:t>Motion: the process of an object changing position.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Energy of motion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2377440"/>
            <a:ext cx="9966960" cy="173736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Arial"/>
              </a:rPr>
              <a:t>A moving object has energy of motion.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Our investigation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70432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Arial"/>
              </a:rPr>
              <a:t>Lab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94560"/>
            <a:ext cx="10515600" cy="201168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F3A5F"/>
                </a:solidFill>
                <a:latin typeface="Arial"/>
              </a:rPr>
              <a:t>How does a moving marble provide evidence that it has energy?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70432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Arial"/>
              </a:rPr>
              <a:t>Lab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2103120"/>
            <a:ext cx="9418320" cy="91440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1F3A5F"/>
                </a:solidFill>
                <a:latin typeface="Arial"/>
              </a:rPr>
              <a:t>•  One moving marble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3291839"/>
            <a:ext cx="9418320" cy="91440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1F3A5F"/>
                </a:solidFill>
                <a:latin typeface="Arial"/>
              </a:rPr>
              <a:t>•  One target marble at rest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4480560"/>
            <a:ext cx="9418320" cy="91440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1F3A5F"/>
                </a:solidFill>
                <a:latin typeface="Arial"/>
              </a:rPr>
              <a:t>•  Identical marbles · flat surface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Predict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70432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Arial"/>
              </a:rPr>
              <a:t>Lab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377440"/>
            <a:ext cx="9966960" cy="182880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1F3A5F"/>
                </a:solidFill>
                <a:latin typeface="Arial"/>
              </a:rPr>
              <a:t>Predict: what will happen when the marble reaches the target?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Procedure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70432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Arial"/>
              </a:rPr>
              <a:t>Lab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2103120"/>
            <a:ext cx="9418320" cy="91440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600" b="1">
                <a:solidFill>
                  <a:srgbClr val="1F3A5F"/>
                </a:solidFill>
                <a:latin typeface="Arial"/>
              </a:rPr>
              <a:t>1.  Roll the moving marble toward the target.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3291839"/>
            <a:ext cx="9418320" cy="91440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600" b="1">
                <a:solidFill>
                  <a:srgbClr val="1F3A5F"/>
                </a:solidFill>
                <a:latin typeface="Arial"/>
              </a:rPr>
              <a:t>2.  Observe what the target does.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4480560"/>
            <a:ext cx="9418320" cy="91440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600" b="1">
                <a:solidFill>
                  <a:srgbClr val="1F3A5F"/>
                </a:solidFill>
                <a:latin typeface="Arial"/>
              </a:rPr>
              <a:t>3.  Record what changed.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Record your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70432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Arial"/>
              </a:rPr>
              <a:t>Lab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94560"/>
            <a:ext cx="10515600" cy="292608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468880"/>
            <a:ext cx="94183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1F3A5F"/>
                </a:solidFill>
                <a:latin typeface="Arial"/>
              </a:rPr>
              <a:t>What moved before?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337560"/>
            <a:ext cx="94183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1F3A5F"/>
                </a:solidFill>
                <a:latin typeface="Arial"/>
              </a:rPr>
              <a:t>What changed after contact?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206240"/>
            <a:ext cx="94183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1F3A5F"/>
                </a:solidFill>
                <a:latin typeface="Arial"/>
              </a:rPr>
              <a:t>How did the target change?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Debrief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286000"/>
            <a:ext cx="2926080" cy="137160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F3A5F"/>
                </a:solidFill>
                <a:latin typeface="Arial"/>
              </a:rPr>
              <a:t>change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840480" y="2834640"/>
            <a:ext cx="822960" cy="548640"/>
          </a:xfrm>
          <a:prstGeom prst="rightArrow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754880" y="2286000"/>
            <a:ext cx="2926080" cy="1371600"/>
          </a:xfrm>
          <a:prstGeom prst="roundRect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805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1F3A5F"/>
                </a:solidFill>
                <a:latin typeface="Arial"/>
              </a:rPr>
              <a:t>The target's change is evidence the marble had energy.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Reader connection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377440"/>
            <a:ext cx="10332720" cy="182880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F3A5F"/>
                </a:solidFill>
                <a:latin typeface="Arial"/>
              </a:rPr>
              <a:t>All moving objects have energy of motion.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555555"/>
                </a:solidFill>
                <a:latin typeface="Arial"/>
              </a:rPr>
              <a:t>— Student Reader, p.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Observation vs inference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194560"/>
            <a:ext cx="5029200" cy="237744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1F3A5F"/>
                </a:solidFill>
                <a:latin typeface="Arial"/>
              </a:rPr>
              <a:t>OBSERVATION
I saw the target move.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2194560"/>
            <a:ext cx="5029200" cy="2377440"/>
          </a:xfrm>
          <a:prstGeom prst="roundRect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INFERENCE
I think the marble had energy.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Moving objects cause changes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743200"/>
            <a:ext cx="3383280" cy="146304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basketball → net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0" y="2743200"/>
            <a:ext cx="3383280" cy="146304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raindrops → puddle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2743200"/>
            <a:ext cx="3383280" cy="146304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wind → turbine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Non-example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286000"/>
            <a:ext cx="4572000" cy="2011680"/>
          </a:xfrm>
          <a:prstGeom prst="round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book sitting
on a 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66344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1F3A5F"/>
                </a:solidFill>
                <a:latin typeface="Arial"/>
              </a:rPr>
              <a:t>Not moving → no change → no energy of motion.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Bring it together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286000"/>
            <a:ext cx="2926080" cy="137160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MOVING OBJECT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840480" y="2834640"/>
            <a:ext cx="822960" cy="548640"/>
          </a:xfrm>
          <a:prstGeom prst="rightArrow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754880" y="2286000"/>
            <a:ext cx="2743200" cy="137160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F3A5F"/>
                </a:solidFill>
                <a:latin typeface="Arial"/>
              </a:rPr>
              <a:t>CHANGE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589520" y="2834640"/>
            <a:ext cx="822960" cy="548640"/>
          </a:xfrm>
          <a:prstGeom prst="rightArrow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503920" y="2286000"/>
            <a:ext cx="2743200" cy="1371600"/>
          </a:xfrm>
          <a:prstGeom prst="roundRect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4805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1F3A5F"/>
                </a:solidFill>
                <a:latin typeface="Arial"/>
              </a:rPr>
              <a:t>Name one moving object and the change it caused.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