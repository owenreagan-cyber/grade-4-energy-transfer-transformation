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Title · orient</a:t>
            </a:r>
          </a:p>
          <a:p>
            <a:r>
              <a:t>TIME 2 min</a:t>
            </a:r>
          </a:p>
          <a:p>
            <a:r>
              <a:t>STUDENT RESOURCE Guided Notes (not yet open)</a:t>
            </a:r>
          </a:p>
          <a:p>
            <a:r>
              <a:t>ASK What do you think energy does?</a:t>
            </a:r>
          </a:p>
          <a:p>
            <a:r>
              <a:t>LISTEN FOR words like move, change, power</a:t>
            </a:r>
          </a:p>
          <a:p>
            <a:r>
              <a:t>NEXT Flip the lights as you open the Big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BQ · introduce</a:t>
            </a:r>
          </a:p>
          <a:p>
            <a:r>
              <a:t>TIME 3 min</a:t>
            </a:r>
          </a:p>
          <a:p>
            <a:r>
              <a:t>STUDENT RESOURCE Guided Notes p.1 (BQ box)</a:t>
            </a:r>
          </a:p>
          <a:p>
            <a:r>
              <a:t>ASK What change have you seen happen today?</a:t>
            </a:r>
          </a:p>
          <a:p>
            <a:r>
              <a:t>LISTEN FOR any observable change (light, sound, movement)</a:t>
            </a:r>
          </a:p>
          <a:p>
            <a:r>
              <a:t>REVEAL Do not answer the BQ yet — we collect evidence first.</a:t>
            </a:r>
          </a:p>
          <a:p>
            <a:r>
              <a:t>NEXT My first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BQ anchor</a:t>
            </a:r>
          </a:p>
          <a:p>
            <a:r>
              <a:t>TIME 2 min</a:t>
            </a:r>
          </a:p>
          <a:p>
            <a:r>
              <a:t>STUDENT RESOURCE Guided Notes p.1 top</a:t>
            </a:r>
          </a:p>
          <a:p>
            <a:r>
              <a:t>ASK What change have you seen? Write your first idea.</a:t>
            </a:r>
          </a:p>
          <a:p>
            <a:r>
              <a:t>LISTEN FOR students naming a change (not 'energy')</a:t>
            </a:r>
          </a:p>
          <a:p>
            <a:r>
              <a:t>MISCONCEPTION Accept any change; do not correct yet.</a:t>
            </a:r>
          </a:p>
          <a:p>
            <a:r>
              <a:t>NEXT Observe the light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Demo · observe</a:t>
            </a:r>
          </a:p>
          <a:p>
            <a:r>
              <a:t>TIME 3 min</a:t>
            </a:r>
          </a:p>
          <a:p>
            <a:r>
              <a:t>STUDENT RESOURCE Reader p.1</a:t>
            </a:r>
          </a:p>
          <a:p>
            <a:r>
              <a:t>ASK What changed when I flipped the switch?</a:t>
            </a:r>
          </a:p>
          <a:p>
            <a:r>
              <a:t>LISTEN FOR 'the room got bright' / 'light came on'</a:t>
            </a:r>
          </a:p>
          <a:p>
            <a:r>
              <a:t>REVEAL The room changed from dark to light — a change.</a:t>
            </a:r>
          </a:p>
          <a:p>
            <a:r>
              <a:t>NEXT Notice &amp; wonder.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Demo · discuss</a:t>
            </a:r>
          </a:p>
          <a:p>
            <a:r>
              <a:t>TIME 2 min</a:t>
            </a:r>
          </a:p>
          <a:p>
            <a:r>
              <a:t>STUDENT RESOURCE none</a:t>
            </a:r>
          </a:p>
          <a:p>
            <a:r>
              <a:t>ASK What did you notice? What do you wonder?</a:t>
            </a:r>
          </a:p>
          <a:p>
            <a:r>
              <a:t>LISTEN FOR change words and curiosity</a:t>
            </a:r>
          </a:p>
          <a:p>
            <a:r>
              <a:t>NEXT Electric pencil sharpener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Demo · observe</a:t>
            </a:r>
          </a:p>
          <a:p>
            <a:r>
              <a:t>TIME 2 min</a:t>
            </a:r>
          </a:p>
          <a:p>
            <a:r>
              <a:t>STUDENT RESOURCE none (live demo)</a:t>
            </a:r>
          </a:p>
          <a:p>
            <a:r>
              <a:t>ASK What does the pencil look and sound like right now?</a:t>
            </a:r>
          </a:p>
          <a:p>
            <a:r>
              <a:t>LISTEN FOR dull, flat, quiet, still</a:t>
            </a:r>
          </a:p>
          <a:p>
            <a:r>
              <a:t>NEXT Predict before sharpening.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Demo · predict</a:t>
            </a:r>
          </a:p>
          <a:p>
            <a:r>
              <a:t>TIME 2 min</a:t>
            </a:r>
          </a:p>
          <a:p>
            <a:r>
              <a:t>STUDENT RESOURCE none</a:t>
            </a:r>
          </a:p>
          <a:p>
            <a:r>
              <a:t>ASK What will change about the pencil? The sharpener?</a:t>
            </a:r>
          </a:p>
          <a:p>
            <a:r>
              <a:t>LISTEN FOR shorter, sharper, noise</a:t>
            </a:r>
          </a:p>
          <a:p>
            <a:r>
              <a:t>REVEAL Do not confirm yet — run the demo.</a:t>
            </a:r>
          </a:p>
          <a:p>
            <a:r>
              <a:t>NEXT Observe the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Demo · observe</a:t>
            </a:r>
          </a:p>
          <a:p>
            <a:r>
              <a:t>TIME 3 min</a:t>
            </a:r>
          </a:p>
          <a:p>
            <a:r>
              <a:t>STUDENT RESOURCE none</a:t>
            </a:r>
          </a:p>
          <a:p>
            <a:r>
              <a:t>ASK Name every change you saw or heard.</a:t>
            </a:r>
          </a:p>
          <a:p>
            <a:r>
              <a:t>LISTEN FOR shorter, sharper, noise</a:t>
            </a:r>
          </a:p>
          <a:p>
            <a:r>
              <a:t>REVEAL Record all three changes.</a:t>
            </a:r>
          </a:p>
          <a:p>
            <a:r>
              <a:t>NEXT Turn changes into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Demo · evidence</a:t>
            </a:r>
          </a:p>
          <a:p>
            <a:r>
              <a:t>TIME 3 min</a:t>
            </a:r>
          </a:p>
          <a:p>
            <a:r>
              <a:t>STUDENT RESOURCE Reader p.2 (Change Is Evidence of Energy)</a:t>
            </a:r>
          </a:p>
          <a:p>
            <a:r>
              <a:t>ASK How do we know energy was here if we can't see it?</a:t>
            </a:r>
          </a:p>
          <a:p>
            <a:r>
              <a:t>LISTEN FOR 'we saw the change'</a:t>
            </a:r>
          </a:p>
          <a:p>
            <a:r>
              <a:t>MISCONCEPTION We see the change, not the energy itself.</a:t>
            </a:r>
          </a:p>
          <a:p>
            <a:r>
              <a:t>NEXT Vocabulary: energy +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Vocabulary · TEACH</a:t>
            </a:r>
          </a:p>
          <a:p>
            <a:r>
              <a:t>TIME 4 min</a:t>
            </a:r>
          </a:p>
          <a:p>
            <a:r>
              <a:t>STUDENT RESOURCE Guided Notes V1</a:t>
            </a:r>
          </a:p>
          <a:p>
            <a:r>
              <a:t>ASK Read each definition together. Use each word in a sentence.</a:t>
            </a:r>
          </a:p>
          <a:p>
            <a:r>
              <a:t>LISTEN FOR 'energy causes change' and 'to become different'</a:t>
            </a:r>
          </a:p>
          <a:p>
            <a:r>
              <a:t>REVEAL Full definitions shown — these are the two V1 terms.</a:t>
            </a:r>
          </a:p>
          <a:p>
            <a:r>
              <a:t>NEXT Record V1 on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V1 anchor</a:t>
            </a:r>
          </a:p>
          <a:p>
            <a:r>
              <a:t>TIME 3 min</a:t>
            </a:r>
          </a:p>
          <a:p>
            <a:r>
              <a:t>STUDENT RESOURCE Guided Notes V1 (Reader p.1)</a:t>
            </a:r>
          </a:p>
          <a:p>
            <a:r>
              <a:t>ASK Fill in each blank.</a:t>
            </a:r>
          </a:p>
          <a:p>
            <a:r>
              <a:t>LISTEN FOR 'change' and 'different'</a:t>
            </a:r>
          </a:p>
          <a:p>
            <a:r>
              <a:t>REVEAL Reveal after students write.</a:t>
            </a:r>
          </a:p>
          <a:p>
            <a:r>
              <a:t>NEXT Check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V1 reveal</a:t>
            </a:r>
          </a:p>
          <a:p>
            <a:r>
              <a:t>TIME 1 min</a:t>
            </a:r>
          </a:p>
          <a:p>
            <a:r>
              <a:t>STUDENT RESOURCE Guided Notes V1</a:t>
            </a:r>
          </a:p>
          <a:p>
            <a:r>
              <a:t>REVEAL change · different</a:t>
            </a:r>
          </a:p>
          <a:p>
            <a:r>
              <a:t>NEXT Energy Causes Change (N1).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Read · concept</a:t>
            </a:r>
          </a:p>
          <a:p>
            <a:r>
              <a:t>TIME 3 min</a:t>
            </a:r>
          </a:p>
          <a:p>
            <a:r>
              <a:t>STUDENT RESOURCE Reader p.1</a:t>
            </a:r>
          </a:p>
          <a:p>
            <a:r>
              <a:t>ASK What is energy?</a:t>
            </a:r>
          </a:p>
          <a:p>
            <a:r>
              <a:t>LISTEN FOR 'the ability to cause change'</a:t>
            </a:r>
          </a:p>
          <a:p>
            <a:r>
              <a:t>REVEAL Energy is the ability to cause change.</a:t>
            </a:r>
          </a:p>
          <a:p>
            <a:r>
              <a:t>NEXT Change is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Read · model</a:t>
            </a:r>
          </a:p>
          <a:p>
            <a:r>
              <a:t>TIME 3 min</a:t>
            </a:r>
          </a:p>
          <a:p>
            <a:r>
              <a:t>STUDENT RESOURCE Reader p.2</a:t>
            </a:r>
          </a:p>
          <a:p>
            <a:r>
              <a:t>ASK Trace the arrow: energy causes a change, the change is evidence.</a:t>
            </a:r>
          </a:p>
          <a:p>
            <a:r>
              <a:t>LISTEN FOR students using 'evidence' not 'proof'</a:t>
            </a:r>
          </a:p>
          <a:p>
            <a:r>
              <a:t>NEXT Record N1 on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N1 anchor</a:t>
            </a:r>
          </a:p>
          <a:p>
            <a:r>
              <a:t>TIME 4 min</a:t>
            </a:r>
          </a:p>
          <a:p>
            <a:r>
              <a:t>STUDENT RESOURCE Guided Notes N1 (Reader pp.1–2)</a:t>
            </a:r>
          </a:p>
          <a:p>
            <a:r>
              <a:t>ASK Fill in the three blanks.</a:t>
            </a:r>
          </a:p>
          <a:p>
            <a:r>
              <a:t>LISTEN FOR cause · change · evidence</a:t>
            </a:r>
          </a:p>
          <a:p>
            <a:r>
              <a:t>REVEAL Reveal after writing.</a:t>
            </a:r>
          </a:p>
          <a:p>
            <a:r>
              <a:t>NEXT Check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N1 reveal</a:t>
            </a:r>
          </a:p>
          <a:p>
            <a:r>
              <a:t>TIME 1 min</a:t>
            </a:r>
          </a:p>
          <a:p>
            <a:r>
              <a:t>STUDENT RESOURCE Guided Notes N1</a:t>
            </a:r>
          </a:p>
          <a:p>
            <a:r>
              <a:t>REVEAL cause · change · evidence</a:t>
            </a:r>
          </a:p>
          <a:p>
            <a:r>
              <a:t>NEXT Forms of energy (N2).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Read · forms</a:t>
            </a:r>
          </a:p>
          <a:p>
            <a:r>
              <a:t>TIME 4 min</a:t>
            </a:r>
          </a:p>
          <a:p>
            <a:r>
              <a:t>STUDENT RESOURCE Reader p.3</a:t>
            </a:r>
          </a:p>
          <a:p>
            <a:r>
              <a:t>ASK What forms of energy do you see or hear on a carousel?</a:t>
            </a:r>
          </a:p>
          <a:p>
            <a:r>
              <a:t>LISTEN FOR motion, sound, light, heat, electrical</a:t>
            </a:r>
          </a:p>
          <a:p>
            <a:r>
              <a:t>NEXT Record examples on notes (N2).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forms</a:t>
            </a:r>
          </a:p>
          <a:p>
            <a:r>
              <a:t>TIME 2 min</a:t>
            </a:r>
          </a:p>
          <a:p>
            <a:r>
              <a:t>STUDENT RESOURCE Reader p.3</a:t>
            </a:r>
          </a:p>
          <a:p>
            <a:r>
              <a:t>ASK What forms of energy can you observe when you clap?</a:t>
            </a:r>
          </a:p>
          <a:p>
            <a:r>
              <a:t>LISTEN FOR motion, sound, and maybe heat</a:t>
            </a:r>
          </a:p>
          <a:p>
            <a:r>
              <a:t>NEXT Record N2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N2 anchor</a:t>
            </a:r>
          </a:p>
          <a:p>
            <a:r>
              <a:t>TIME 5 min</a:t>
            </a:r>
          </a:p>
          <a:p>
            <a:r>
              <a:t>STUDENT RESOURCE Guided Notes N2 (Reader p.3)</a:t>
            </a:r>
          </a:p>
          <a:p>
            <a:r>
              <a:t>ASK Write or draw one example per form.</a:t>
            </a:r>
          </a:p>
          <a:p>
            <a:r>
              <a:t>LISTEN FOR carousel examples or clap examples</a:t>
            </a:r>
          </a:p>
          <a:p>
            <a:r>
              <a:t>NEXT Stored energy (V2).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Vocabulary · TEACH</a:t>
            </a:r>
          </a:p>
          <a:p>
            <a:r>
              <a:t>TIME 3 min</a:t>
            </a:r>
          </a:p>
          <a:p>
            <a:r>
              <a:t>STUDENT RESOURCE Guided Notes V2 (Reader p.4)</a:t>
            </a:r>
          </a:p>
          <a:p>
            <a:r>
              <a:t>ASK Does a battery have energy if it is sitting still?</a:t>
            </a:r>
          </a:p>
          <a:p>
            <a:r>
              <a:t>LISTEN FOR 'yes — it can cause change later'</a:t>
            </a:r>
          </a:p>
          <a:p>
            <a:r>
              <a:t>REVEAL stored energy = ability to cause change at a later time.</a:t>
            </a:r>
          </a:p>
          <a:p>
            <a:r>
              <a:t>NEXT Record V2.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V2 anchor</a:t>
            </a:r>
          </a:p>
          <a:p>
            <a:r>
              <a:t>TIME 2 min</a:t>
            </a:r>
          </a:p>
          <a:p>
            <a:r>
              <a:t>STUDENT RESOURCE Guided Notes V2 (Reader p.4)</a:t>
            </a:r>
          </a:p>
          <a:p>
            <a:r>
              <a:t>ASK Fill in the blank.</a:t>
            </a:r>
          </a:p>
          <a:p>
            <a:r>
              <a:t>LISTEN FOR 'later'</a:t>
            </a:r>
          </a:p>
          <a:p>
            <a:r>
              <a:t>REVEAL Reveal after writing.</a:t>
            </a:r>
          </a:p>
          <a:p>
            <a:r>
              <a:t>NEXT Check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V2 reveal</a:t>
            </a:r>
          </a:p>
          <a:p>
            <a:r>
              <a:t>TIME 1 min</a:t>
            </a:r>
          </a:p>
          <a:p>
            <a:r>
              <a:t>STUDENT RESOURCE Guided Notes V2</a:t>
            </a:r>
          </a:p>
          <a:p>
            <a:r>
              <a:t>REVEAL later</a:t>
            </a:r>
          </a:p>
          <a:p>
            <a:r>
              <a:t>NEXT Objects can store energy (N3).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Read · predict</a:t>
            </a:r>
          </a:p>
          <a:p>
            <a:r>
              <a:t>TIME 3 min</a:t>
            </a:r>
          </a:p>
          <a:p>
            <a:r>
              <a:t>STUDENT RESOURCE Reader p.4</a:t>
            </a:r>
          </a:p>
          <a:p>
            <a:r>
              <a:t>ASK Does a still battery have energy?</a:t>
            </a:r>
          </a:p>
          <a:p>
            <a:r>
              <a:t>LISTEN FOR 'yes, stored energy'</a:t>
            </a:r>
          </a:p>
          <a:p>
            <a:r>
              <a:t>MISCONCEPTION Only moving objects have energy → pair moving + stored.</a:t>
            </a:r>
          </a:p>
          <a:p>
            <a:r>
              <a:t>NEXT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Read · position</a:t>
            </a:r>
          </a:p>
          <a:p>
            <a:r>
              <a:t>TIME 3 min</a:t>
            </a:r>
          </a:p>
          <a:p>
            <a:r>
              <a:t>STUDENT RESOURCE Reader p.5</a:t>
            </a:r>
          </a:p>
          <a:p>
            <a:r>
              <a:t>ASK Why does a raised apple have stored energy?</a:t>
            </a:r>
          </a:p>
          <a:p>
            <a:r>
              <a:t>LISTEN FOR 'because of its position'</a:t>
            </a:r>
          </a:p>
          <a:p>
            <a:r>
              <a:t>NEXT Build the stored-energy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Read · model</a:t>
            </a:r>
          </a:p>
          <a:p>
            <a:r>
              <a:t>TIME 2 min</a:t>
            </a:r>
          </a:p>
          <a:p>
            <a:r>
              <a:t>STUDENT RESOURCE Reader p.4</a:t>
            </a:r>
          </a:p>
          <a:p>
            <a:r>
              <a:t>ASK Trace: stored → release → change.</a:t>
            </a:r>
          </a:p>
          <a:p>
            <a:r>
              <a:t>LISTEN FOR rubber band SNAP example</a:t>
            </a:r>
          </a:p>
          <a:p>
            <a:r>
              <a:t>NEXT Record N3 on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N3 anchor</a:t>
            </a:r>
          </a:p>
          <a:p>
            <a:r>
              <a:t>TIME 5 min</a:t>
            </a:r>
          </a:p>
          <a:p>
            <a:r>
              <a:t>STUDENT RESOURCE Guided Notes N3 (Reader pp.4–5)</a:t>
            </a:r>
          </a:p>
          <a:p>
            <a:r>
              <a:t>ASK Fill in the blank; note the three examples.</a:t>
            </a:r>
          </a:p>
          <a:p>
            <a:r>
              <a:t>LISTEN FOR 'position'</a:t>
            </a:r>
          </a:p>
          <a:p>
            <a:r>
              <a:t>REVEAL Reveal after writing.</a:t>
            </a:r>
          </a:p>
          <a:p>
            <a:r>
              <a:t>NEXT Check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N3 reveal</a:t>
            </a:r>
          </a:p>
          <a:p>
            <a:r>
              <a:t>TIME 1 min</a:t>
            </a:r>
          </a:p>
          <a:p>
            <a:r>
              <a:t>STUDENT RESOURCE Guided Notes N3</a:t>
            </a:r>
          </a:p>
          <a:p>
            <a:r>
              <a:t>REVEAL position</a:t>
            </a:r>
          </a:p>
          <a:p>
            <a:r>
              <a:t>NEXT Recognizing evidence (N4).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Read · evidence</a:t>
            </a:r>
          </a:p>
          <a:p>
            <a:r>
              <a:t>TIME 2 min</a:t>
            </a:r>
          </a:p>
          <a:p>
            <a:r>
              <a:t>STUDENT RESOURCE Reader pp.1–6</a:t>
            </a:r>
          </a:p>
          <a:p>
            <a:r>
              <a:t>ASK How do we know energy is involved when we can't see it?</a:t>
            </a:r>
          </a:p>
          <a:p>
            <a:r>
              <a:t>LISTEN FOR 'we see the change'</a:t>
            </a:r>
          </a:p>
          <a:p>
            <a:r>
              <a:t>MISCONCEPTION Evidence, not proof.</a:t>
            </a:r>
          </a:p>
          <a:p>
            <a:r>
              <a:t>NEXT Draw before/after (N4).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N4 anchor</a:t>
            </a:r>
          </a:p>
          <a:p>
            <a:r>
              <a:t>TIME 4 min</a:t>
            </a:r>
          </a:p>
          <a:p>
            <a:r>
              <a:t>STUDENT RESOURCE Guided Notes N4 (Reader pp.1–6)</a:t>
            </a:r>
          </a:p>
          <a:p>
            <a:r>
              <a:t>ASK Draw one change before and after; write what changed.</a:t>
            </a:r>
          </a:p>
          <a:p>
            <a:r>
              <a:t>LISTEN FOR clear before/after pairs</a:t>
            </a:r>
          </a:p>
          <a:p>
            <a:r>
              <a:t>NEXT Check your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Check Your Thinking</a:t>
            </a:r>
          </a:p>
          <a:p>
            <a:r>
              <a:t>TIME 3 min</a:t>
            </a:r>
          </a:p>
          <a:p>
            <a:r>
              <a:t>STUDENT RESOURCE Guided Notes N4</a:t>
            </a:r>
          </a:p>
          <a:p>
            <a:r>
              <a:t>ASK Complete the sentence starter.</a:t>
            </a:r>
          </a:p>
          <a:p>
            <a:r>
              <a:t>LISTEN FOR 'a change, like a ball starting to move'</a:t>
            </a:r>
          </a:p>
          <a:p>
            <a:r>
              <a:t>NEXT Reveal a sample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evidence</a:t>
            </a:r>
          </a:p>
          <a:p>
            <a:r>
              <a:t>TIME 2 min</a:t>
            </a:r>
          </a:p>
          <a:p>
            <a:r>
              <a:t>STUDENT RESOURCE Guided Notes N4</a:t>
            </a:r>
          </a:p>
          <a:p>
            <a:r>
              <a:t>REVEAL Sample response (accept any change-as-evidence).</a:t>
            </a:r>
          </a:p>
          <a:p>
            <a:r>
              <a:t>NEXT Apply: classify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Apply · evidence</a:t>
            </a:r>
          </a:p>
          <a:p>
            <a:r>
              <a:t>TIME 3 min</a:t>
            </a:r>
          </a:p>
          <a:p>
            <a:r>
              <a:t>STUDENT RESOURCE none</a:t>
            </a:r>
          </a:p>
          <a:p>
            <a:r>
              <a:t>ASK Which one shows a change (energy at work)?</a:t>
            </a:r>
          </a:p>
          <a:p>
            <a:r>
              <a:t>LISTEN FOR 'the toy car'</a:t>
            </a:r>
          </a:p>
          <a:p>
            <a:r>
              <a:t>REVEAL The toy car starts to roll — a change.</a:t>
            </a:r>
          </a:p>
          <a:p>
            <a:r>
              <a:t>NEXT Return to the Big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Notes · BQ return</a:t>
            </a:r>
          </a:p>
          <a:p>
            <a:r>
              <a:t>TIME 3 min</a:t>
            </a:r>
          </a:p>
          <a:p>
            <a:r>
              <a:t>STUDENT RESOURCE Guided Notes p.3</a:t>
            </a:r>
          </a:p>
          <a:p>
            <a:r>
              <a:t>ASK Answer the Big Question now.</a:t>
            </a:r>
          </a:p>
          <a:p>
            <a:r>
              <a:t>LISTEN FOR any change named as evidence</a:t>
            </a:r>
          </a:p>
          <a:p>
            <a:r>
              <a:t>NEXT End-of-chapter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Q1</a:t>
            </a:r>
          </a:p>
          <a:p>
            <a:r>
              <a:t>STUDENT RESOURCE none</a:t>
            </a:r>
          </a:p>
          <a:p>
            <a:r>
              <a:t>ASK Read aloud; students vote A/B/C/D.</a:t>
            </a:r>
          </a:p>
          <a:p>
            <a:r>
              <a:t>REVEAL Do not reveal yet.</a:t>
            </a:r>
          </a:p>
          <a:p>
            <a:r>
              <a:t>NEXT Reveal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Q1 answer</a:t>
            </a:r>
          </a:p>
          <a:p>
            <a:r>
              <a:t>REVEAL the ability to cause change</a:t>
            </a:r>
          </a:p>
          <a:p>
            <a:r>
              <a:t>NEXT Next question (or close).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Q2</a:t>
            </a:r>
          </a:p>
          <a:p>
            <a:r>
              <a:t>STUDENT RESOURCE none</a:t>
            </a:r>
          </a:p>
          <a:p>
            <a:r>
              <a:t>ASK Read aloud; students vote A/B/C/D.</a:t>
            </a:r>
          </a:p>
          <a:p>
            <a:r>
              <a:t>REVEAL Do not reveal yet.</a:t>
            </a:r>
          </a:p>
          <a:p>
            <a:r>
              <a:t>NEXT Reveal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Q2 answer</a:t>
            </a:r>
          </a:p>
          <a:p>
            <a:r>
              <a:t>REVEAL It gets shorter and sharper</a:t>
            </a:r>
          </a:p>
          <a:p>
            <a:r>
              <a:t>NEXT Next question (or close).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Q3</a:t>
            </a:r>
          </a:p>
          <a:p>
            <a:r>
              <a:t>STUDENT RESOURCE none</a:t>
            </a:r>
          </a:p>
          <a:p>
            <a:r>
              <a:t>ASK Read aloud; students vote A/B/C/D.</a:t>
            </a:r>
          </a:p>
          <a:p>
            <a:r>
              <a:t>REVEAL Do not reveal yet.</a:t>
            </a:r>
          </a:p>
          <a:p>
            <a:r>
              <a:t>NEXT Reveal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Q3 answer</a:t>
            </a:r>
          </a:p>
          <a:p>
            <a:r>
              <a:t>REVEAL A stretched rubber band</a:t>
            </a:r>
          </a:p>
          <a:p>
            <a:r>
              <a:t>NEXT Next question (or close).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Q4</a:t>
            </a:r>
          </a:p>
          <a:p>
            <a:r>
              <a:t>STUDENT RESOURCE none</a:t>
            </a:r>
          </a:p>
          <a:p>
            <a:r>
              <a:t>ASK Read aloud; students vote A/B/C/D.</a:t>
            </a:r>
          </a:p>
          <a:p>
            <a:r>
              <a:t>REVEAL Do not reveal yet.</a:t>
            </a:r>
          </a:p>
          <a:p>
            <a:r>
              <a:t>NEXT Reveal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Q4 answer</a:t>
            </a:r>
          </a:p>
          <a:p>
            <a:r>
              <a:t>REVEAL motion and sound</a:t>
            </a:r>
          </a:p>
          <a:p>
            <a:r>
              <a:t>NEXT Next question (or close).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Q5</a:t>
            </a:r>
          </a:p>
          <a:p>
            <a:r>
              <a:t>STUDENT RESOURCE none</a:t>
            </a:r>
          </a:p>
          <a:p>
            <a:r>
              <a:t>ASK Read aloud; students vote A/B/C/D.</a:t>
            </a:r>
          </a:p>
          <a:p>
            <a:r>
              <a:t>REVEAL Do not reveal yet.</a:t>
            </a:r>
          </a:p>
          <a:p>
            <a:r>
              <a:t>NEXT Reveal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Q5 answer</a:t>
            </a:r>
          </a:p>
          <a:p>
            <a:r>
              <a:t>REVEAL We observe a change happen</a:t>
            </a:r>
          </a:p>
          <a:p>
            <a:r>
              <a:t>NEXT Next question (or close).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Q6</a:t>
            </a:r>
          </a:p>
          <a:p>
            <a:r>
              <a:t>STUDENT RESOURCE none</a:t>
            </a:r>
          </a:p>
          <a:p>
            <a:r>
              <a:t>ASK Read aloud; students vote A/B/C/D.</a:t>
            </a:r>
          </a:p>
          <a:p>
            <a:r>
              <a:t>REVEAL Do not reveal yet.</a:t>
            </a:r>
          </a:p>
          <a:p>
            <a:r>
              <a:t>NEXT Reveal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 Check · review Q6 answer</a:t>
            </a:r>
          </a:p>
          <a:p>
            <a:r>
              <a:t>REVEAL Yes — stored energy that can cause change later</a:t>
            </a:r>
          </a:p>
          <a:p>
            <a:r>
              <a:t>NEXT Next question (or close).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85800"/>
            <a:ext cx="4023360" cy="50292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7160" rIns="137160"/>
          <a:lstStyle/>
          <a:p>
            <a:pPr algn="ctr"/>
            <a:r>
              <a:rPr sz="1400" b="1" i="0">
                <a:solidFill>
                  <a:srgbClr val="FFFFFF"/>
                </a:solidFill>
                <a:latin typeface="Avenir Next"/>
              </a:rPr>
              <a:t>CHAPTER 1 · GRADE 4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800" b="1" i="0">
                <a:solidFill>
                  <a:srgbClr val="FFFFFF"/>
                </a:solidFill>
                <a:latin typeface="Avenir Next"/>
              </a:rPr>
              <a:t>Energy Causes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D8DCE4"/>
                </a:solidFill>
                <a:latin typeface="Avenir Next"/>
              </a:rPr>
              <a:t>Discovery / Evidence  ·  Where do we see energy at work?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840480"/>
            <a:ext cx="2011679" cy="6400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venir Next"/>
              </a:rPr>
              <a:t>ENERGY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852927" y="4014215"/>
            <a:ext cx="37490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46120" y="3840480"/>
            <a:ext cx="2011679" cy="640080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venir Next"/>
              </a:rPr>
              <a:t>CHANGE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76088" y="4014215"/>
            <a:ext cx="37490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79" y="3840480"/>
            <a:ext cx="2011679" cy="6400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venir Next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D8DCE4"/>
                </a:solidFill>
                <a:latin typeface="Avenir Next"/>
              </a:rPr>
              <a:t>Unit 1 · Energy Transfer &amp; Transformation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0" y="365760"/>
            <a:ext cx="182880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TURN &amp;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7A5620"/>
                </a:solidFill>
                <a:latin typeface="Avenir Next"/>
              </a:rPr>
              <a:t>Big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11183112" cy="173736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 i="0">
                <a:solidFill>
                  <a:srgbClr val="FFFFFF"/>
                </a:solidFill>
                <a:latin typeface="Avenir Next"/>
              </a:rPr>
              <a:t>Where can we observe evidence of energy causing change?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 i="0">
                <a:solidFill>
                  <a:srgbClr val="4A5268"/>
                </a:solidFill>
                <a:latin typeface="Avenir Next"/>
              </a:rPr>
              <a:t>Keep it in mind all chapter. We will come back to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8056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Think: What is ONE change you have seen happen?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05156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Big Question — My first thinking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p.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031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F2A5A"/>
                </a:solidFill>
                <a:latin typeface="Avenir Next"/>
              </a:rPr>
              <a:t>Where can we observe evidence of energy causing change?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My first thinking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749039"/>
            <a:ext cx="9601200" cy="32004"/>
          </a:xfrm>
          <a:prstGeom prst="rect">
            <a:avLst/>
          </a:prstGeom>
          <a:solidFill>
            <a:srgbClr val="4A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71600" y="4389120"/>
            <a:ext cx="9601200" cy="32004"/>
          </a:xfrm>
          <a:prstGeom prst="rect">
            <a:avLst/>
          </a:prstGeom>
          <a:solidFill>
            <a:srgbClr val="4A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50749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4A5268"/>
                </a:solidFill>
                <a:latin typeface="Avenir Next"/>
              </a:rPr>
              <a:t>Write 1–2 quick ideas. No wrong answer yet.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03536" y="365760"/>
            <a:ext cx="1426464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OBSERVE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What changed?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Reader p. 1 — you walk into a dark room and flip a switch.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32232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28575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400" b="1" i="0">
                <a:solidFill>
                  <a:srgbClr val="A67C16"/>
                </a:solidFill>
                <a:latin typeface="Avenir Next"/>
              </a:rPr>
              <a:t>DARK 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52928"/>
            <a:ext cx="28575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quiet · hard to see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9100" y="2286000"/>
            <a:ext cx="32232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1980" y="2423160"/>
            <a:ext cx="28575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400" b="1" i="0">
                <a:solidFill>
                  <a:srgbClr val="A67C16"/>
                </a:solidFill>
                <a:latin typeface="Avenir Next"/>
              </a:rPr>
              <a:t>BRIGHT room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980" y="2852928"/>
            <a:ext cx="28575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light fills the room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2286000"/>
            <a:ext cx="347472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Something became different.
That is a change.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0" y="365760"/>
            <a:ext cx="182880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TURN &amp;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I notice…  I wonder…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51206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A67C16"/>
                </a:solidFill>
                <a:latin typeface="Avenir Next"/>
              </a:rPr>
              <a:t>I NOTICE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The room is different now.
Light is everywhere.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51206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2860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A67C16"/>
                </a:solidFill>
                <a:latin typeface="Avenir Next"/>
              </a:rPr>
              <a:t>I WONDER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What made the light
change so fast?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0352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Share one notice and one wonder with a partner.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03536" y="365760"/>
            <a:ext cx="1426464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OBSERVE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Electric Pencil Sharpener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Observe the pencil BEFORE we sharpen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286000"/>
            <a:ext cx="850392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25603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A67C16"/>
                </a:solidFill>
                <a:latin typeface="Avenir Next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200400"/>
            <a:ext cx="7955279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A dull pencil — tip is flat, and it is quiet.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6235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Look closely. What do you see? What do you hear?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13264" y="365760"/>
            <a:ext cx="1316736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Predict: what will change?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Think before we turn it 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377440"/>
            <a:ext cx="941832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51760"/>
            <a:ext cx="8869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When the sharpener runs, the pencil will…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291840"/>
            <a:ext cx="8869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get  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1206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Make a prediction. Say it to your partner.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03536" y="365760"/>
            <a:ext cx="1426464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OBSERVE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What changed?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322326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28575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400" b="1" i="0">
                <a:solidFill>
                  <a:srgbClr val="A67C16"/>
                </a:solidFill>
                <a:latin typeface="Avenir Next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61488"/>
            <a:ext cx="285750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dull tip · quiet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9100" y="2194560"/>
            <a:ext cx="322326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1980" y="2331720"/>
            <a:ext cx="28575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400" b="1" i="0">
                <a:solidFill>
                  <a:srgbClr val="A67C16"/>
                </a:solidFill>
                <a:latin typeface="Avenir Next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980" y="2761488"/>
            <a:ext cx="285750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shorter · sharper · humming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194560"/>
            <a:ext cx="3474720" cy="2743200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9525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23774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7A5620"/>
                </a:solidFill>
                <a:latin typeface="Avenir Next"/>
              </a:rPr>
              <a:t>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926080"/>
            <a:ext cx="3017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• the tip is sharper
• the pencil is shorter
• it makes a sound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48672" y="365760"/>
            <a:ext cx="1481328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How do we know energy was involved?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Energy can be invisible. We look for the 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6888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 i="0">
                <a:solidFill>
                  <a:srgbClr val="FFFFFF"/>
                </a:solidFill>
                <a:latin typeface="Avenir Next"/>
              </a:rPr>
              <a:t>ENERGY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95927" y="2779776"/>
            <a:ext cx="42062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34840" y="246888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 i="0">
                <a:solidFill>
                  <a:srgbClr val="FFFFFF"/>
                </a:solidFill>
                <a:latin typeface="Avenir Next"/>
              </a:rPr>
              <a:t>CHANGE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44967" y="2779776"/>
            <a:ext cx="42062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83879" y="246888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 i="0">
                <a:solidFill>
                  <a:srgbClr val="FFFFFF"/>
                </a:solidFill>
                <a:latin typeface="Avenir Next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931920"/>
            <a:ext cx="10698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The pencil got shorter and sharper and made a sound.
Those changes are evidence that energy was involved.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Vocabulary — Energy &amp;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Reader p.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57400"/>
            <a:ext cx="54406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5440680" cy="146304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892040" y="2514600"/>
            <a:ext cx="822960" cy="365760"/>
          </a:xfrm>
          <a:prstGeom prst="roundRect">
            <a:avLst>
              <a:gd name="adj" fmla="val 8000"/>
            </a:avLst>
          </a:prstGeom>
          <a:solidFill>
            <a:srgbClr val="E3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1F2A5A"/>
                </a:solidFill>
                <a:latin typeface="Avenir Next"/>
              </a:rPr>
              <a:t>TEACH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41448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7A5620"/>
                </a:solidFill>
                <a:latin typeface="Avenir Next"/>
              </a:rPr>
              <a:t>VOCABULARY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70632"/>
            <a:ext cx="48006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5400" b="1" i="0">
                <a:solidFill>
                  <a:srgbClr val="1F2A5A"/>
                </a:solidFill>
                <a:latin typeface="Avenir Next"/>
              </a:rPr>
              <a:t>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40480"/>
            <a:ext cx="4800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 i="0">
                <a:solidFill>
                  <a:srgbClr val="1A1D26"/>
                </a:solidFill>
                <a:latin typeface="Avenir Next"/>
              </a:rPr>
              <a:t>the ability to cause change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800600"/>
            <a:ext cx="4800600" cy="731519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9525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" y="4910328"/>
            <a:ext cx="2034540" cy="512064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venir Next"/>
              </a:rPr>
              <a:t>ENERGY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012948" y="5038344"/>
            <a:ext cx="420624" cy="256032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51860" y="4910328"/>
            <a:ext cx="2034540" cy="512064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venir Next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66928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4A5268"/>
                </a:solidFill>
                <a:latin typeface="Avenir Next"/>
              </a:rPr>
              <a:t>Reader p.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057400"/>
            <a:ext cx="54406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2057400"/>
            <a:ext cx="5440680" cy="146304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34472" y="2514600"/>
            <a:ext cx="822960" cy="365760"/>
          </a:xfrm>
          <a:prstGeom prst="roundRect">
            <a:avLst>
              <a:gd name="adj" fmla="val 8000"/>
            </a:avLst>
          </a:prstGeom>
          <a:solidFill>
            <a:srgbClr val="E3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1F2A5A"/>
                </a:solidFill>
                <a:latin typeface="Avenir Next"/>
              </a:rPr>
              <a:t>TEACH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441448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7A5620"/>
                </a:solidFill>
                <a:latin typeface="Avenir Next"/>
              </a:rPr>
              <a:t>VOCABULARY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2770632"/>
            <a:ext cx="48006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5400" b="1" i="0">
                <a:solidFill>
                  <a:srgbClr val="1F2A5A"/>
                </a:solidFill>
                <a:latin typeface="Avenir Next"/>
              </a:rPr>
              <a:t>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3840480"/>
            <a:ext cx="4800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 i="0">
                <a:solidFill>
                  <a:srgbClr val="1A1D26"/>
                </a:solidFill>
                <a:latin typeface="Avenir Next"/>
              </a:rPr>
              <a:t>to become different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65392" y="4800600"/>
            <a:ext cx="4800600" cy="731519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9525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702552" y="4910328"/>
            <a:ext cx="2034540" cy="512064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venir Next"/>
              </a:rPr>
              <a:t>BEFORE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755380" y="5038344"/>
            <a:ext cx="420624" cy="256032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94292" y="4910328"/>
            <a:ext cx="2034540" cy="512064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venir Next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566928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4A5268"/>
                </a:solidFill>
                <a:latin typeface="Avenir Next"/>
              </a:rPr>
              <a:t>Reader p.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05156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Vocabulary — Energy &amp;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· Reader p.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energy — the ability to cause </a:t>
            </a:r>
            <a:r>
              <a:rPr sz="3000" b="0" i="0" u="sng">
                <a:solidFill>
                  <a:srgbClr val="1A1D26"/>
                </a:solidFill>
                <a:latin typeface="Avenir Next"/>
              </a:rPr>
              <a:t>_______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918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change — to become </a:t>
            </a:r>
            <a:r>
              <a:rPr sz="3000" b="0" i="0" u="sng">
                <a:solidFill>
                  <a:srgbClr val="1A1D26"/>
                </a:solidFill>
                <a:latin typeface="Avenir Next"/>
              </a:rPr>
              <a:t>_________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4A5268"/>
                </a:solidFill>
                <a:latin typeface="Avenir Next"/>
              </a:rPr>
              <a:t>Write the missing word in each blank.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5288" y="365760"/>
            <a:ext cx="1124712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V1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Vocabulary — Energy &amp;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· Reader p.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energy — the ability to cause </a:t>
            </a:r>
            <a:r>
              <a:rPr sz="3000" b="1" i="0">
                <a:solidFill>
                  <a:srgbClr val="A67C16"/>
                </a:solidFill>
                <a:latin typeface="Avenir Next"/>
              </a:rPr>
              <a:t>change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918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change — to become </a:t>
            </a:r>
            <a:r>
              <a:rPr sz="3000" b="1" i="0">
                <a:solidFill>
                  <a:srgbClr val="A67C16"/>
                </a:solidFill>
                <a:latin typeface="Avenir Next"/>
              </a:rPr>
              <a:t>different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4A5268"/>
                </a:solidFill>
                <a:latin typeface="Avenir Next"/>
              </a:rPr>
              <a:t>change  ·  different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77856" y="365760"/>
            <a:ext cx="1152144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RECITE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What is energy?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Reader pp. 1–2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10789920" cy="20116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800" b="1" i="0">
                <a:solidFill>
                  <a:srgbClr val="FFFFFF"/>
                </a:solidFill>
                <a:latin typeface="Avenir Next"/>
              </a:rPr>
              <a:t>Energy is the ability to cause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7200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Say it together: “Energy is the ability to cause change.”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32720" y="365760"/>
            <a:ext cx="109728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Change is evidence of energy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Reader p. 2 — the seashore changes all around 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68880"/>
            <a:ext cx="3291840" cy="100584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 i="0">
                <a:solidFill>
                  <a:srgbClr val="FFFFFF"/>
                </a:solidFill>
                <a:latin typeface="Avenir Next"/>
              </a:rPr>
              <a:t>ENERGY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95927" y="2825496"/>
            <a:ext cx="42062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34840" y="2468880"/>
            <a:ext cx="3291840" cy="1005840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 i="0">
                <a:solidFill>
                  <a:srgbClr val="FFFFFF"/>
                </a:solidFill>
                <a:latin typeface="Avenir Next"/>
              </a:rPr>
              <a:t>CHANGE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44967" y="2825496"/>
            <a:ext cx="42062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83879" y="2468880"/>
            <a:ext cx="3291840" cy="100584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 i="0">
                <a:solidFill>
                  <a:srgbClr val="FFFFFF"/>
                </a:solidFill>
                <a:latin typeface="Avenir Next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When you see a change — water moving, sand shifting, sound —
you are seeing evidence of energy.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05156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Energy Causes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· Reader pp.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488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Energy has the ability to </a:t>
            </a:r>
            <a:r>
              <a:rPr sz="3000" b="0" i="0" u="sng">
                <a:solidFill>
                  <a:srgbClr val="1A1D26"/>
                </a:solidFill>
                <a:latin typeface="Avenir Next"/>
              </a:rPr>
              <a:t>______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 </a:t>
            </a:r>
            <a:r>
              <a:rPr sz="3000" b="0" i="0" u="sng">
                <a:solidFill>
                  <a:srgbClr val="1A1D26"/>
                </a:solidFill>
                <a:latin typeface="Avenir Next"/>
              </a:rPr>
              <a:t>________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71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1A1D26"/>
                </a:solidFill>
                <a:latin typeface="Avenir Next"/>
              </a:rPr>
              <a:t>When you see a change, you are seeing evidence of energy.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657600"/>
            <a:ext cx="2194560" cy="6400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venir Next"/>
              </a:rPr>
              <a:t>ENERGY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84448" y="3831335"/>
            <a:ext cx="32918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3657600"/>
            <a:ext cx="2194560" cy="640080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venir Next"/>
              </a:rPr>
              <a:t>CHANGE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44767" y="3831335"/>
            <a:ext cx="32918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3657600"/>
            <a:ext cx="2194560" cy="6400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venir Next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634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A change is </a:t>
            </a:r>
            <a:r>
              <a:rPr sz="3000" b="0" i="0" u="sng">
                <a:solidFill>
                  <a:srgbClr val="1A1D26"/>
                </a:solidFill>
                <a:latin typeface="Avenir Next"/>
              </a:rPr>
              <a:t>_________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that energy is involved.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5288" y="365760"/>
            <a:ext cx="1124712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N1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Energy Causes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· Reader pp.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488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Energy has the ability to </a:t>
            </a:r>
            <a:r>
              <a:rPr sz="3000" b="1" i="0">
                <a:solidFill>
                  <a:srgbClr val="A67C16"/>
                </a:solidFill>
                <a:latin typeface="Avenir Next"/>
              </a:rPr>
              <a:t>cause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 </a:t>
            </a:r>
            <a:r>
              <a:rPr sz="3000" b="1" i="0">
                <a:solidFill>
                  <a:srgbClr val="A67C16"/>
                </a:solidFill>
                <a:latin typeface="Avenir Next"/>
              </a:rPr>
              <a:t>change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71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1A1D26"/>
                </a:solidFill>
                <a:latin typeface="Avenir Next"/>
              </a:rPr>
              <a:t>When you see a change, you are seeing evidence of energy.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657600"/>
            <a:ext cx="2194560" cy="6400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venir Next"/>
              </a:rPr>
              <a:t>ENERGY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84448" y="3831335"/>
            <a:ext cx="32918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3657600"/>
            <a:ext cx="2194560" cy="640080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venir Next"/>
              </a:rPr>
              <a:t>CHANGE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44767" y="3831335"/>
            <a:ext cx="32918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3657600"/>
            <a:ext cx="2194560" cy="6400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venir Next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634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A change is </a:t>
            </a:r>
            <a:r>
              <a:rPr sz="3000" b="1" i="0">
                <a:solidFill>
                  <a:srgbClr val="A67C16"/>
                </a:solidFill>
                <a:latin typeface="Avenir Next"/>
              </a:rPr>
              <a:t>evidence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that energy is involved.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532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4A5268"/>
                </a:solidFill>
                <a:latin typeface="Avenir Next"/>
              </a:rPr>
              <a:t>cause · change ·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Energy has different 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Reader p. 3 — think of a spinning carousel.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" y="2468880"/>
            <a:ext cx="2011680" cy="10972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venir Next"/>
              </a:rPr>
              <a:t>motion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2636" y="2468880"/>
            <a:ext cx="2011680" cy="10972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venir Next"/>
              </a:rPr>
              <a:t>sound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8636" y="2468880"/>
            <a:ext cx="2011680" cy="10972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venir Next"/>
              </a:rPr>
              <a:t>light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74636" y="2468880"/>
            <a:ext cx="2011680" cy="10972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venir Next"/>
              </a:rPr>
              <a:t>heat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60636" y="2468880"/>
            <a:ext cx="2011680" cy="109728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venir Next"/>
              </a:rPr>
              <a:t>electrical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23360"/>
            <a:ext cx="10698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The carousel spins (motion), plays music (sound), shines bright bulbs
(light), warms those bulbs (heat), and plugs in (electrical energy).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03536" y="365760"/>
            <a:ext cx="1426464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OBSERVE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Clap three times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What forms of energy do you observe?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286000"/>
            <a:ext cx="941832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06040"/>
            <a:ext cx="8869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When you clap…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291840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motion  —  your hands move
sound  —  you hear a clap
heat  —  your hands may feel warm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05156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N2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Energy Occurs in Different 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· Reader p.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1A1D26"/>
                </a:solidFill>
                <a:latin typeface="Avenir Next"/>
              </a:rPr>
              <a:t>Write or draw one example that shows a change for each form.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2697480"/>
            <a:ext cx="3108960" cy="548640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08760" y="28072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FFFFFF"/>
                </a:solidFill>
                <a:latin typeface="Avenir Next"/>
              </a:rPr>
              <a:t>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2697480"/>
            <a:ext cx="6812279" cy="548640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807208"/>
            <a:ext cx="6537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FFFFFF"/>
                </a:solidFill>
                <a:latin typeface="Avenir Next"/>
              </a:rPr>
              <a:t>ONE EXAMPLE THAT SHOWS A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3246120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8760" y="3364992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2A5A"/>
                </a:solidFill>
                <a:latin typeface="Avenir Next"/>
              </a:rPr>
              <a:t>motion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17720" y="3246120"/>
            <a:ext cx="681227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0" y="3813048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3931920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2A5A"/>
                </a:solidFill>
                <a:latin typeface="Avenir Next"/>
              </a:rPr>
              <a:t>sound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3813048"/>
            <a:ext cx="681227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4379976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8760" y="4498848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2A5A"/>
                </a:solidFill>
                <a:latin typeface="Avenir Next"/>
              </a:rPr>
              <a:t>light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4379976"/>
            <a:ext cx="681227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71600" y="4946904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08760" y="5065776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2A5A"/>
                </a:solidFill>
                <a:latin typeface="Avenir Next"/>
              </a:rPr>
              <a:t>heat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4946904"/>
            <a:ext cx="681227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71600" y="5513832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508760" y="5632704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F2A5A"/>
                </a:solidFill>
                <a:latin typeface="Avenir Next"/>
              </a:rPr>
              <a:t>electrical energy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5513832"/>
            <a:ext cx="681227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Vocabulary — Stored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Reader p.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2057400"/>
            <a:ext cx="66751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2057400"/>
            <a:ext cx="6675120" cy="146304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2514600"/>
            <a:ext cx="822960" cy="365760"/>
          </a:xfrm>
          <a:prstGeom prst="roundRect">
            <a:avLst>
              <a:gd name="adj" fmla="val 8000"/>
            </a:avLst>
          </a:prstGeom>
          <a:solidFill>
            <a:srgbClr val="E3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1F2A5A"/>
                </a:solidFill>
                <a:latin typeface="Avenir Next"/>
              </a:rPr>
              <a:t>TEACH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414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7A5620"/>
                </a:solidFill>
                <a:latin typeface="Avenir Next"/>
              </a:rPr>
              <a:t>VOCABULARY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770632"/>
            <a:ext cx="60350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5400" b="1" i="0">
                <a:solidFill>
                  <a:srgbClr val="1F2A5A"/>
                </a:solidFill>
                <a:latin typeface="Avenir Next"/>
              </a:rPr>
              <a:t>stored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3840480"/>
            <a:ext cx="6035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 i="0">
                <a:solidFill>
                  <a:srgbClr val="1A1D26"/>
                </a:solidFill>
                <a:latin typeface="Avenir Next"/>
              </a:rPr>
              <a:t>energy that has the ability to cause change at a later 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4800600"/>
            <a:ext cx="6035040" cy="731519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9525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0" y="4910328"/>
            <a:ext cx="1615440" cy="512064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venir Next"/>
              </a:rPr>
              <a:t>STILL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34128" y="5038344"/>
            <a:ext cx="420624" cy="256032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73040" y="4910328"/>
            <a:ext cx="1615440" cy="512064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venir Next"/>
              </a:rPr>
              <a:t>LATER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06767" y="5038344"/>
            <a:ext cx="420624" cy="256032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45680" y="4910328"/>
            <a:ext cx="1615440" cy="512064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500" b="1" i="0">
                <a:solidFill>
                  <a:srgbClr val="FFFFFF"/>
                </a:solidFill>
                <a:latin typeface="Avenir Next"/>
              </a:rPr>
              <a:t>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56692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4A5268"/>
                </a:solidFill>
                <a:latin typeface="Avenir Next"/>
              </a:rPr>
              <a:t>Reader p.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05156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Vocabulary — Stored Energy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· Reader p.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10058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stored energy — energy that has the ability to cause change at a </a:t>
            </a:r>
            <a:r>
              <a:rPr sz="3000" b="0" i="0" u="sng">
                <a:solidFill>
                  <a:srgbClr val="1A1D26"/>
                </a:solidFill>
                <a:latin typeface="Avenir Next"/>
              </a:rPr>
              <a:t>______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4A5268"/>
                </a:solidFill>
                <a:latin typeface="Avenir Next"/>
              </a:rPr>
              <a:t>Write the missing word in the blank.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5288" y="365760"/>
            <a:ext cx="1124712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Vocabulary — Stored Energy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· Reader p.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10058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stored energy — energy that has the ability to cause change at a </a:t>
            </a:r>
            <a:r>
              <a:rPr sz="3000" b="1" i="0">
                <a:solidFill>
                  <a:srgbClr val="A67C16"/>
                </a:solidFill>
                <a:latin typeface="Avenir Next"/>
              </a:rPr>
              <a:t>later</a:t>
            </a:r>
            <a:r>
              <a:rPr sz="3000" b="0" i="0">
                <a:solidFill>
                  <a:srgbClr val="1A1D26"/>
                </a:solidFill>
                <a:latin typeface="Avenir Next"/>
              </a:rPr>
              <a:t>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4A5268"/>
                </a:solidFill>
                <a:latin typeface="Avenir Next"/>
              </a:rPr>
              <a:t>later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13264" y="365760"/>
            <a:ext cx="1316736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Does a still battery have energy?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Reader p. 4 — a battery sits still and shows no change… yet.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377440"/>
            <a:ext cx="9418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97480"/>
            <a:ext cx="8869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A battery sitting still shows no change — yet.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29000"/>
            <a:ext cx="8869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Inside a battery, chemicals store energy.
When it goes in a flashlight, the stored energy is released.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The stored energy of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Reader p. 5 — an object held up can fall and cause a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286000"/>
            <a:ext cx="9418320" cy="2743200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9525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606040"/>
            <a:ext cx="8869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Raised apple → let go → it falls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91840"/>
            <a:ext cx="8869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An apple held above the ground has stored energy
because of its position. Let it go and it will fall.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32720" y="365760"/>
            <a:ext cx="109728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Stored energy can cause a change later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468880"/>
            <a:ext cx="3291840" cy="100584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 i="0">
                <a:solidFill>
                  <a:srgbClr val="FFFFFF"/>
                </a:solidFill>
                <a:latin typeface="Avenir Next"/>
              </a:rPr>
              <a:t>STORED ENERGY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95927" y="2825496"/>
            <a:ext cx="42062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2468880"/>
            <a:ext cx="3291840" cy="1005840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 i="0">
                <a:solidFill>
                  <a:srgbClr val="FFFFFF"/>
                </a:solidFill>
                <a:latin typeface="Avenir Next"/>
              </a:rPr>
              <a:t>RELEASE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744967" y="2825496"/>
            <a:ext cx="42062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83879" y="2468880"/>
            <a:ext cx="3291840" cy="100584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800" b="1" i="0">
                <a:solidFill>
                  <a:srgbClr val="FFFFFF"/>
                </a:solidFill>
                <a:latin typeface="Avenir Next"/>
              </a:rPr>
              <a:t>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319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Stretch a rubber band — it now stores energy.
Let it go — it moves and makes a sound: the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05156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N3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Objects Can Store Energy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· Reader pp. 4–5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9659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STORED ENERGY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84448" y="2071115"/>
            <a:ext cx="32918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31920" y="19659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RELEASE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144767" y="2071115"/>
            <a:ext cx="32918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9659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2606040"/>
            <a:ext cx="3840480" cy="457200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36210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Avenir Next"/>
              </a:rPr>
              <a:t>EXAMPLE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606040"/>
            <a:ext cx="6080759" cy="457200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58968" y="2679192"/>
            <a:ext cx="58613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Avenir Next"/>
              </a:rPr>
              <a:t>WHAT CHANGE COULD HAPPEN LATER?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063240"/>
            <a:ext cx="3840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81328" y="3182112"/>
            <a:ext cx="36210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1F2A5A"/>
                </a:solidFill>
                <a:latin typeface="Avenir Next"/>
              </a:rPr>
              <a:t>battery (in a flashlight)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49240" y="3063240"/>
            <a:ext cx="6080759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3566160"/>
            <a:ext cx="3840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81328" y="3685032"/>
            <a:ext cx="36210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1F2A5A"/>
                </a:solidFill>
                <a:latin typeface="Avenir Next"/>
              </a:rPr>
              <a:t>stretched rubber band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3566160"/>
            <a:ext cx="6080759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71600" y="4069080"/>
            <a:ext cx="3840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1328" y="4187952"/>
            <a:ext cx="36210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1F2A5A"/>
                </a:solidFill>
                <a:latin typeface="Avenir Next"/>
              </a:rPr>
              <a:t>raised object (apple)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9240" y="4069080"/>
            <a:ext cx="6080759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0" y="4754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Objects also have stored energy because of their </a:t>
            </a:r>
            <a:r>
              <a:rPr sz="2800" b="0" i="0" u="sng">
                <a:solidFill>
                  <a:srgbClr val="1A1D26"/>
                </a:solidFill>
                <a:latin typeface="Avenir Next"/>
              </a:rPr>
              <a:t>________</a:t>
            </a:r>
            <a:r>
              <a:rPr sz="2800" b="0" i="0">
                <a:solidFill>
                  <a:srgbClr val="1A1D26"/>
                </a:solidFill>
                <a:latin typeface="Avenir Next"/>
              </a:rPr>
              <a:t> 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5288" y="365760"/>
            <a:ext cx="1124712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N3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Objects Can Store Energy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· Reader pp. 4–5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9659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STORED ENERGY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84448" y="2071115"/>
            <a:ext cx="32918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31920" y="19659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7A5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RELEASE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144767" y="2071115"/>
            <a:ext cx="329184" cy="292608"/>
          </a:xfrm>
          <a:prstGeom prst="rightArrow">
            <a:avLst/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9659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2606040"/>
            <a:ext cx="3840480" cy="457200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81328" y="2679192"/>
            <a:ext cx="36210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Avenir Next"/>
              </a:rPr>
              <a:t>EXAMPLE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606040"/>
            <a:ext cx="6080759" cy="457200"/>
          </a:xfrm>
          <a:prstGeom prst="rect">
            <a:avLst/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58968" y="2679192"/>
            <a:ext cx="58613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Avenir Next"/>
              </a:rPr>
              <a:t>WHAT CHANGE COULD HAPPEN LATER?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063240"/>
            <a:ext cx="3840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81328" y="3182112"/>
            <a:ext cx="36210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1F2A5A"/>
                </a:solidFill>
                <a:latin typeface="Avenir Next"/>
              </a:rPr>
              <a:t>battery (in a flashlight)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49240" y="3063240"/>
            <a:ext cx="6080759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3566160"/>
            <a:ext cx="3840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81328" y="3685032"/>
            <a:ext cx="36210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1F2A5A"/>
                </a:solidFill>
                <a:latin typeface="Avenir Next"/>
              </a:rPr>
              <a:t>stretched rubber band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3566160"/>
            <a:ext cx="6080759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71600" y="4069080"/>
            <a:ext cx="3840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1328" y="4187952"/>
            <a:ext cx="362102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1F2A5A"/>
                </a:solidFill>
                <a:latin typeface="Avenir Next"/>
              </a:rPr>
              <a:t>raised object (apple)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9240" y="4069080"/>
            <a:ext cx="6080759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1600" y="4754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Objects also have stored energy because of their </a:t>
            </a:r>
            <a:r>
              <a:rPr sz="2800" b="1" i="0">
                <a:solidFill>
                  <a:srgbClr val="A67C16"/>
                </a:solidFill>
                <a:latin typeface="Avenir Next"/>
              </a:rPr>
              <a:t>position</a:t>
            </a:r>
            <a:r>
              <a:rPr sz="2800" b="0" i="0">
                <a:solidFill>
                  <a:srgbClr val="1A1D26"/>
                </a:solidFill>
                <a:latin typeface="Avenir Next"/>
              </a:rPr>
              <a:t> 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623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4A5268"/>
                </a:solidFill>
                <a:latin typeface="Avenir Next"/>
              </a:rPr>
              <a:t>position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48672" y="365760"/>
            <a:ext cx="1481328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Recognizing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Reader pp. 1–6 — we see the change, not the energy.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10789920" cy="237744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996696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 i="0">
                <a:solidFill>
                  <a:srgbClr val="FFFFFF"/>
                </a:solidFill>
                <a:latin typeface="Avenir Next"/>
              </a:rPr>
              <a:t>Energy can be invisible.
We recognize energy by the change we observe.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3776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 i="1">
                <a:solidFill>
                  <a:srgbClr val="1A1D26"/>
                </a:solidFill>
                <a:latin typeface="Avenir Next"/>
              </a:rPr>
              <a:t>Evidence = the change you see, hear, or feel.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24160" y="365760"/>
            <a:ext cx="100584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DRAW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N4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Recognizing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· Reader pp. 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057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1A1D26"/>
                </a:solidFill>
                <a:latin typeface="Avenir Next"/>
              </a:rPr>
              <a:t>Draw a change you observed. Show what it looked like BEFORE and AFTER.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017520"/>
            <a:ext cx="34975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154679"/>
            <a:ext cx="31318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400" b="1" i="0">
                <a:solidFill>
                  <a:srgbClr val="A67C16"/>
                </a:solidFill>
                <a:latin typeface="Avenir Next"/>
              </a:rPr>
              <a:t>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584448"/>
            <a:ext cx="3131820" cy="1005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draw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89220" y="3017520"/>
            <a:ext cx="34975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2100" y="3154679"/>
            <a:ext cx="31318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400" b="1" i="0">
                <a:solidFill>
                  <a:srgbClr val="A67C16"/>
                </a:solidFill>
                <a:latin typeface="Avenir Next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3584448"/>
            <a:ext cx="3131820" cy="1005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draw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What changed?  </a:t>
            </a:r>
            <a:r>
              <a:rPr sz="3000" b="0" i="0" u="sng">
                <a:solidFill>
                  <a:srgbClr val="1A1D26"/>
                </a:solidFill>
                <a:latin typeface="Avenir Next"/>
              </a:rPr>
              <a:t>________________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05156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N4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Check Your Thinking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· Reader pp. 1–6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194560"/>
            <a:ext cx="10058400" cy="1554480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9525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2331720"/>
            <a:ext cx="9509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7A5620"/>
                </a:solidFill>
                <a:latin typeface="Avenir Next"/>
              </a:rPr>
              <a:t>CHECK YOUR THINKING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788920"/>
            <a:ext cx="9509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How do we know energy is involved if we cannot see energy itself?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 i="1">
                <a:solidFill>
                  <a:srgbClr val="1A1D26"/>
                </a:solidFill>
                <a:latin typeface="Avenir Next"/>
              </a:rPr>
              <a:t>Start with: “We know because we see …”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709160"/>
            <a:ext cx="9601200" cy="32004"/>
          </a:xfrm>
          <a:prstGeom prst="rect">
            <a:avLst/>
          </a:prstGeom>
          <a:solidFill>
            <a:srgbClr val="4A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71600" y="5349240"/>
            <a:ext cx="9601200" cy="32004"/>
          </a:xfrm>
          <a:prstGeom prst="rect">
            <a:avLst/>
          </a:prstGeom>
          <a:solidFill>
            <a:srgbClr val="4A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5288" y="365760"/>
            <a:ext cx="1124712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We know because we see a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194560"/>
            <a:ext cx="9418320" cy="2011680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9525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377440"/>
            <a:ext cx="8869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7A5620"/>
                </a:solidFill>
                <a:latin typeface="Avenir Next"/>
              </a:rPr>
              <a:t>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880360"/>
            <a:ext cx="8869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1">
                <a:solidFill>
                  <a:srgbClr val="1A1D26"/>
                </a:solidFill>
                <a:latin typeface="Avenir Next"/>
              </a:rPr>
              <a:t>“We know because we see a change — like a ball starting to move or a light turning on.”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48056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Any change you observe is evidence of energy.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48672" y="365760"/>
            <a:ext cx="1481328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F2A5A"/>
                </a:solidFill>
                <a:latin typeface="Avenir Next"/>
              </a:rPr>
              <a:t>Which change shows energy at work?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286000"/>
            <a:ext cx="9418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487168"/>
            <a:ext cx="8869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A toy car starts to roll.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429000"/>
            <a:ext cx="9418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3630168"/>
            <a:ext cx="8869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A rock keeps sitting still.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572000"/>
            <a:ext cx="9418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4773168"/>
            <a:ext cx="8869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 i="0">
                <a:solidFill>
                  <a:srgbClr val="1A1D26"/>
                </a:solidFill>
                <a:latin typeface="Avenir Next"/>
              </a:rPr>
              <a:t>A room stays dark.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2800" b="0" i="1">
                <a:solidFill>
                  <a:srgbClr val="4A5268"/>
                </a:solidFill>
                <a:latin typeface="Avenir Next"/>
              </a:rPr>
              <a:t>Look for a change — that is the evidence of energy.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78440" y="365760"/>
            <a:ext cx="1051560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32688"/>
            <a:ext cx="713232" cy="457200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400" b="1" i="0">
                <a:solidFill>
                  <a:srgbClr val="FFFFFF"/>
                </a:solidFill>
                <a:latin typeface="Avenir Next"/>
              </a:rPr>
              <a:t>BQ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32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BQ · Now I 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4A5268"/>
                </a:solidFill>
                <a:latin typeface="Avenir Next"/>
              </a:rPr>
              <a:t>Guided Notes p.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103120"/>
            <a:ext cx="10058400" cy="1600200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2240280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A67C16"/>
                </a:solidFill>
                <a:latin typeface="Avenir Next"/>
              </a:rPr>
              <a:t>BIG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651760"/>
            <a:ext cx="9509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FFFFFF"/>
                </a:solidFill>
                <a:latin typeface="Avenir Next"/>
              </a:rPr>
              <a:t>Where can we observe evidence of energy causing change?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9319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Now I think…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572000"/>
            <a:ext cx="9601200" cy="32004"/>
          </a:xfrm>
          <a:prstGeom prst="rect">
            <a:avLst/>
          </a:prstGeom>
          <a:solidFill>
            <a:srgbClr val="4A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71600" y="5212080"/>
            <a:ext cx="9601200" cy="32004"/>
          </a:xfrm>
          <a:prstGeom prst="rect">
            <a:avLst/>
          </a:prstGeom>
          <a:solidFill>
            <a:srgbClr val="4A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852160"/>
            <a:ext cx="9601200" cy="32004"/>
          </a:xfrm>
          <a:prstGeom prst="rect">
            <a:avLst/>
          </a:prstGeom>
          <a:solidFill>
            <a:srgbClr val="4A5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1 —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Energy is best described as 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the ability to cause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visible glow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something only batteries have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kind of fuel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5288" y="365760"/>
            <a:ext cx="1124712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1 —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Energy is best described as 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19050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1A1D26"/>
                </a:solidFill>
                <a:latin typeface="Avenir Next"/>
              </a:rPr>
              <a:t>the ability to cause change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visible glow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something only batteries have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kind of fuel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06440"/>
            <a:ext cx="11183112" cy="65836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91616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Energy is the ability to cause change (Reader p. 1).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2 —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A pencil is dull, then you sharpen it. What change do you observe?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It gets longer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It gets shorter and sharper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It changes color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It disappears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5288" y="365760"/>
            <a:ext cx="1124712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2 —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A pencil is dull, then you sharpen it. What change do you observe?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It gets longer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19050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1A1D26"/>
                </a:solidFill>
                <a:latin typeface="Avenir Next"/>
              </a:rPr>
              <a:t>It gets shorter and sharper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It changes color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It disappears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06440"/>
            <a:ext cx="11183112" cy="65836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91616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The pencil becomes shorter and sharper — a change.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3 — 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Which object has stored energy that can cause a change LATER?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ball already rolling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toy already moving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stretched rubber band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flashlight already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5288" y="365760"/>
            <a:ext cx="1124712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3 —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Which object has stored energy that can cause a change LATER?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ball already rolling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toy already moving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19050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1A1D26"/>
                </a:solidFill>
                <a:latin typeface="Avenir Next"/>
              </a:rPr>
              <a:t>A stretched rubber band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flashlight already 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06440"/>
            <a:ext cx="11183112" cy="65836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91616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The rubber band stores energy; it changes when released.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4 —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A carousel spins and plays music. Which two forms of energy do you observe?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motion and silence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sound and stillness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only 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motion and sound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5288" y="365760"/>
            <a:ext cx="1124712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4 —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A carousel spins and plays music. Which two forms of energy do you observe?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motion and silence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sound and stillness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only light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19050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1A1D26"/>
                </a:solidFill>
                <a:latin typeface="Avenir Next"/>
              </a:rPr>
              <a:t>motion and sound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06440"/>
            <a:ext cx="11183112" cy="65836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91616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The spinning is motion; the music is sound (Reader p. 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5 —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How do we know energy is involved if we cannot see 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Energy can always be seen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We observe a change happen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We guess without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Nothing can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5288" y="365760"/>
            <a:ext cx="1124712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5 —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How do we know energy is involved if we cannot see 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Energy can always be seen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19050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1A1D26"/>
                </a:solidFill>
                <a:latin typeface="Avenir Next"/>
              </a:rPr>
              <a:t>We observe a change happen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We guess without evidence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Nothing can change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06440"/>
            <a:ext cx="11183112" cy="65836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91616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We see a change — like movement — as evidence.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6 — 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A battery sits still in a flashlight. Does it have energy?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No — still objects have no energy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Only when it is moving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Yes — stored energy that can cause change later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Only when the flashlight is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65760"/>
            <a:ext cx="32461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Avenir Next"/>
              </a:rPr>
              <a:t>CHAPTER 1 · ENERGY CAUSES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75720" y="365760"/>
            <a:ext cx="502920" cy="402336"/>
          </a:xfrm>
          <a:prstGeom prst="roundRect">
            <a:avLst>
              <a:gd name="adj" fmla="val 8000"/>
            </a:avLst>
          </a:prstGeom>
          <a:solidFill>
            <a:srgbClr val="1F2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05288" y="365760"/>
            <a:ext cx="1124712" cy="402336"/>
          </a:xfrm>
          <a:prstGeom prst="roundRect">
            <a:avLst>
              <a:gd name="adj" fmla="val 8000"/>
            </a:avLst>
          </a:prstGeom>
          <a:solidFill>
            <a:srgbClr val="A67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800" b="1" i="0">
                <a:solidFill>
                  <a:srgbClr val="FFFFFF"/>
                </a:solidFill>
                <a:latin typeface="Avenir Next"/>
              </a:rPr>
              <a:t>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3268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1F2A5A"/>
                </a:solidFill>
                <a:latin typeface="Avenir Next"/>
              </a:rPr>
              <a:t>Review 6 —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D26"/>
                </a:solidFill>
                <a:latin typeface="Avenir Next"/>
              </a:rPr>
              <a:t>A battery sits still in a flashlight. Does it have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542032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60903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42615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No — still objects have no energy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46703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65575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447287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Only when it is moving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151376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3E8CF"/>
          </a:solidFill>
          <a:ln w="19050">
            <a:solidFill>
              <a:srgbClr val="A67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27024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1A1D26"/>
                </a:solidFill>
                <a:latin typeface="Avenir Next"/>
              </a:rPr>
              <a:t>Yes — stored energy that can cause change later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956048"/>
            <a:ext cx="103327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07492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A67C16"/>
                </a:solidFill>
                <a:latin typeface="Avenir Next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056632"/>
            <a:ext cx="92354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Only when the flashlight is 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06440"/>
            <a:ext cx="11183112" cy="658368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12700">
            <a:solidFill>
              <a:srgbClr val="D8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91616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 i="0">
                <a:solidFill>
                  <a:srgbClr val="1A1D26"/>
                </a:solidFill>
                <a:latin typeface="Avenir Next"/>
              </a:rPr>
              <a:t>A battery stores energy; it changes when released.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1908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1000"/>
              </a:spcAft>
            </a:pPr>
            <a:r>
              <a:rPr sz="1600" b="0" i="0">
                <a:solidFill>
                  <a:srgbClr val="4A5268"/>
                </a:solidFill>
                <a:latin typeface="Avenir Next"/>
              </a:rP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