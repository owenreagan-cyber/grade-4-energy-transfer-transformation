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Energy Causes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Arial"/>
              </a:rPr>
              <a:t>Chapter 1  ·  Grade 4  ·  Week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3840480"/>
            <a:ext cx="2194560" cy="91440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ENERGY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709160" y="4023360"/>
            <a:ext cx="731520" cy="54864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0" y="3840480"/>
            <a:ext cx="219456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3A5F"/>
                </a:solidFill>
                <a:latin typeface="Arial"/>
              </a:rPr>
              <a:t>CHANGE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726679" y="4023360"/>
            <a:ext cx="731520" cy="54864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0" y="3840480"/>
            <a:ext cx="2194560" cy="914400"/>
          </a:xfrm>
          <a:prstGeom prst="roundRect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What changed?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846320" cy="237744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1F3A5F"/>
                </a:solidFill>
                <a:latin typeface="Arial"/>
              </a:rPr>
              <a:t>DARK
room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852160" y="2834640"/>
            <a:ext cx="822960" cy="64008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66560" y="2011680"/>
            <a:ext cx="4846320" cy="237744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BRIGHT
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F3A5F"/>
                </a:solidFill>
                <a:latin typeface="Arial"/>
              </a:rPr>
              <a:t>Something became different. That is a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I notice…  I wonder…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329184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3200" b="1">
                <a:solidFill>
                  <a:srgbClr val="1F3A5F"/>
                </a:solidFill>
                <a:latin typeface="Arial"/>
              </a:rPr>
              <a:t>I notice…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011680"/>
            <a:ext cx="4937760" cy="329184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3200" b="1">
                <a:solidFill>
                  <a:srgbClr val="1F3A5F"/>
                </a:solidFill>
                <a:latin typeface="Arial"/>
              </a:rPr>
              <a:t>I wonder…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Big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0698480" cy="18288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Where can we observe evidence of energy causing change?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What counts as a change?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3383280" cy="20116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still → moving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103120"/>
            <a:ext cx="3383280" cy="20116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dark → 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103120"/>
            <a:ext cx="3383280" cy="20116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quiet → 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A change is something becoming different.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What is energy?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377440"/>
            <a:ext cx="9418320" cy="173736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Energy is the ability to cause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18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555555"/>
                </a:solidFill>
                <a:latin typeface="Arial"/>
              </a:rPr>
              <a:t>Say it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Change is evidence of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68880"/>
            <a:ext cx="2743200" cy="137160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ENERGY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657600" y="2834640"/>
            <a:ext cx="1005840" cy="64008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0" y="2468880"/>
            <a:ext cx="2743200" cy="13716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CHANGE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589520" y="2834640"/>
            <a:ext cx="1005840" cy="64008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0" y="2468880"/>
            <a:ext cx="2743200" cy="1371600"/>
          </a:xfrm>
          <a:prstGeom prst="roundRect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F3A5F"/>
                </a:solidFill>
                <a:latin typeface="Arial"/>
              </a:rPr>
              <a:t>When you see a change, that change is evidence that energy was there.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What changes does the pencil sharpener cause?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4754880" cy="22860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F3A5F"/>
                </a:solidFill>
                <a:latin typeface="Arial"/>
              </a:rPr>
              <a:t>BEFORE
dull pencil · silent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806440" y="2834640"/>
            <a:ext cx="822960" cy="64008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66560" y="2103120"/>
            <a:ext cx="4754880" cy="228600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AFTER
sharp tip · humming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C05014"/>
                </a:solidFill>
                <a:latin typeface="Arial"/>
              </a:rPr>
              <a:t>Predict first — then watch!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Energy Detectives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Arial"/>
              </a:rPr>
              <a:t>Lab directions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10515600" cy="329184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92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1F3A5F"/>
                </a:solidFill>
                <a:latin typeface="Arial"/>
              </a:rPr>
              <a:t>1.  Find 3 classroom examples of 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291840"/>
            <a:ext cx="9692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1F3A5F"/>
                </a:solidFill>
                <a:latin typeface="Arial"/>
              </a:rPr>
              <a:t>2.  For each, record: what changed, the evidence, and the energy 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206240"/>
            <a:ext cx="9692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1F3A5F"/>
                </a:solidFill>
                <a:latin typeface="Arial"/>
              </a:rPr>
              <a:t>3.  Write one question you still have.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555555"/>
                </a:solidFill>
                <a:latin typeface="Arial"/>
              </a:rPr>
              <a:t>Observation only — describe what you see.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Energy has different forms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51760"/>
            <a:ext cx="2103120" cy="155448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motion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651760"/>
            <a:ext cx="2103120" cy="155448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651760"/>
            <a:ext cx="2103120" cy="155448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651760"/>
            <a:ext cx="2103120" cy="155448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heat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2651760"/>
            <a:ext cx="2103120" cy="155448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electrical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Motion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94560"/>
            <a:ext cx="4114800" cy="20116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rolling ball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120640" y="2834640"/>
            <a:ext cx="822960" cy="64008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0" y="2194560"/>
            <a:ext cx="4114800" cy="201168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moved the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F3A5F"/>
                </a:solidFill>
                <a:latin typeface="Arial"/>
              </a:rPr>
              <a:t>Moving objects have energy of motion.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Sound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94560"/>
            <a:ext cx="4114800" cy="20116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ringing bell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120640" y="2834640"/>
            <a:ext cx="822960" cy="64008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0" y="2194560"/>
            <a:ext cx="4114800" cy="201168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sound reaches your 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F3A5F"/>
                </a:solidFill>
                <a:latin typeface="Arial"/>
              </a:rPr>
              <a:t>Sound is a form of energy. Clap — what do you hear?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Light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94560"/>
            <a:ext cx="4114800" cy="20116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light bulb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120640" y="2834640"/>
            <a:ext cx="822960" cy="64008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0" y="2194560"/>
            <a:ext cx="4114800" cy="201168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bright wall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F3A5F"/>
                </a:solidFill>
                <a:latin typeface="Arial"/>
              </a:rPr>
              <a:t>Light is a form of energy.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Heat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94560"/>
            <a:ext cx="4114800" cy="20116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warm cup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120640" y="2834640"/>
            <a:ext cx="822960" cy="64008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0" y="2194560"/>
            <a:ext cx="4114800" cy="201168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melting / warming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F3A5F"/>
                </a:solidFill>
                <a:latin typeface="Arial"/>
              </a:rPr>
              <a:t>Heat is a form of energy.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Electrical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94560"/>
            <a:ext cx="4114800" cy="20116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power cord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120640" y="2834640"/>
            <a:ext cx="822960" cy="64008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0" y="2194560"/>
            <a:ext cx="4114800" cy="201168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lights the carousel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F3A5F"/>
                </a:solidFill>
                <a:latin typeface="Arial"/>
              </a:rPr>
              <a:t>Electrical energy powers many devices.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Which form of energy?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6949440" cy="8686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1F3A5F"/>
                </a:solidFill>
                <a:latin typeface="Arial"/>
              </a:rPr>
              <a:t>The toy car starts to roll.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2011680"/>
            <a:ext cx="3108960" cy="86868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motion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108960"/>
            <a:ext cx="6949440" cy="8686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1F3A5F"/>
                </a:solidFill>
                <a:latin typeface="Arial"/>
              </a:rPr>
              <a:t>The bell rings.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3108960"/>
            <a:ext cx="3108960" cy="86868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sound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06240"/>
            <a:ext cx="6949440" cy="8686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1F3A5F"/>
                </a:solidFill>
                <a:latin typeface="Arial"/>
              </a:rPr>
              <a:t>The bulb glows.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4206240"/>
            <a:ext cx="3108960" cy="86868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light (electrical)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Does a battery have energy if it is sitting still?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286000"/>
            <a:ext cx="7589520" cy="146304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1F3A5F"/>
                </a:solidFill>
                <a:latin typeface="Arial"/>
              </a:rPr>
              <a:t>PREDICT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023360"/>
            <a:ext cx="7589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555555"/>
                </a:solidFill>
                <a:latin typeface="Arial"/>
              </a:rPr>
              <a:t>A battery sitting still shows no change — yet.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Stored energy — reveal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2743200" cy="13716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3A5F"/>
                </a:solidFill>
                <a:latin typeface="Arial"/>
              </a:rPr>
              <a:t>battery
(stored)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657600" y="2834640"/>
            <a:ext cx="914400" cy="64008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63440" y="2286000"/>
            <a:ext cx="2743200" cy="13716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flashlight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498079" y="2834640"/>
            <a:ext cx="914400" cy="64008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2286000"/>
            <a:ext cx="2743200" cy="137160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light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F3A5F"/>
                </a:solidFill>
                <a:latin typeface="Arial"/>
              </a:rPr>
              <a:t>The light is our evidence. The battery had stored energy.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An object held up has stored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94560"/>
            <a:ext cx="4114800" cy="20116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F3A5F"/>
                </a:solidFill>
                <a:latin typeface="Arial"/>
              </a:rPr>
              <a:t>raised book / apple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120640" y="2834640"/>
            <a:ext cx="822960" cy="64008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0" y="2194560"/>
            <a:ext cx="4114800" cy="201168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falls when released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F3A5F"/>
                </a:solidFill>
                <a:latin typeface="Arial"/>
              </a:rPr>
              <a:t>It has stored energy because of its position.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Which shows stored energy?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029200" cy="2651760"/>
          </a:xfrm>
          <a:prstGeom prst="roundRect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STORED ENERGY
battery · stretched band · raised 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103120"/>
            <a:ext cx="5029200" cy="265176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NOT stored
book lying flat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F3A5F"/>
                </a:solidFill>
                <a:latin typeface="Arial"/>
              </a:rPr>
              <a:t>Stored energy = can cause a change later.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Bring it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2743200" cy="137160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ENERGY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657600" y="2743200"/>
            <a:ext cx="1005840" cy="64008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0" y="2377440"/>
            <a:ext cx="2743200" cy="13716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CHANGE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589520" y="2743200"/>
            <a:ext cx="1005840" cy="64008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0" y="2377440"/>
            <a:ext cx="2743200" cy="1371600"/>
          </a:xfrm>
          <a:prstGeom prst="roundRect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F3A5F"/>
                </a:solidFill>
                <a:latin typeface="Arial"/>
              </a:rPr>
              <a:t>Energy causes a change. The change is our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Exit ticket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377440"/>
            <a:ext cx="9966960" cy="18288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Name one change you saw this week, and the energy that caused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