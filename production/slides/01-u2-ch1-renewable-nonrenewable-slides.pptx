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92040"/>
            <a:ext cx="12191695" cy="73152"/>
          </a:xfrm>
          <a:prstGeom prst="rect">
            <a:avLst/>
          </a:prstGeom>
          <a:solidFill>
            <a:srgbClr val="E8C5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Renewable and Nonrenewable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C9D2E8"/>
                </a:solidFill>
                <a:latin typeface="Arial"/>
              </a:rPr>
              <a:t>Chapter 1 · Grade 4 · Week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C9D2E8"/>
                </a:solidFill>
                <a:latin typeface="Arial"/>
              </a:rPr>
              <a:t>Unit 2 · Using Natural Resources for Energy · Grade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595B66"/>
                </a:solidFill>
                <a:latin typeface="Arial"/>
              </a:rPr>
              <a:t>Big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156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What is the difference between renewable and nonrenewable resources?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29260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595B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Three hikers cook dinner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Opening phenomenon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C0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One cooks on a propane stove, one on a wood fire, one in a solar oven.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Which energy sources can come back, and which cannot?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Words: renewable / nonrenewable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Words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Renewable = restored as quickly as it is used.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Nonrenewable = NOT restored that quickly.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Key Idea: abundant ≠ renewable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Key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Abundant does NOT mean renewable.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Coal is plentiful now but forms over millions of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Sort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1 · Sort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Sort each resource: renewable or nonrenewable?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Renewable ≠ always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Availability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Renewable depends on location and conditions.</a:t>
            </a:r>
          </a:p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Some places get little sun or steady wind.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Benefits and limits of renewables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Benefits and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Renewables still have costs — turbines, panel cost, dams flood land.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Model It: restored quickly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2 · Model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C03D3D"/>
                </a:solidFill>
                <a:latin typeface="Arial"/>
              </a:rPr>
              <a:t>Reveal after students 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Copy the chain.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120640"/>
            <a:ext cx="10515600" cy="868680"/>
          </a:xfrm>
          <a:prstGeom prst="round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/>
            <a:r>
              <a:rPr sz="2600" b="1">
                <a:solidFill>
                  <a:srgbClr val="E8C54A"/>
                </a:solidFill>
                <a:latin typeface="Arial"/>
              </a:rPr>
              <a:t>USED SLOWLY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RESTORED QUICKLY</a:t>
            </a:r>
            <a:r>
              <a:rPr sz="2600" b="1">
                <a:solidFill>
                  <a:srgbClr val="C03D3D"/>
                </a:solidFill>
                <a:latin typeface="Arial"/>
              </a:rPr>
              <a:t> → </a:t>
            </a:r>
            <a:r>
              <a:rPr sz="2600" b="1">
                <a:solidFill>
                  <a:srgbClr val="FFFFFF"/>
                </a:solidFill>
                <a:latin typeface="Arial"/>
              </a:rPr>
              <a:t>RENEWABLE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424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FFFFF"/>
                </a:solidFill>
                <a:latin typeface="Arial"/>
              </a:rPr>
              <a:t>Draw / 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104241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Page 3 · Draw/Label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3108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500" b="0" i="0">
                <a:solidFill>
                  <a:srgbClr val="C9D2E8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0" y="256032"/>
            <a:ext cx="1051560" cy="420624"/>
          </a:xfrm>
          <a:prstGeom prst="round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DRAW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>
                <a:solidFill>
                  <a:srgbClr val="1F1F1F"/>
                </a:solidFill>
                <a:latin typeface="Arial"/>
              </a:rPr>
              <a:t>Draw one renewable and one nonrenewable resource.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Coal is plentiful now but forms over millions of years. Coal is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nonrenewable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both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not a resource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Nonrenewable — it is used much faster than it forms.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Which is a renewable resource?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petroleum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natural gas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wind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coal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Wind is restored naturally and quickly.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Sunlight is renewable but not always available.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the sun disappears forever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some places/times get little sunlight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solar cells break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sunlight is nonrenewable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B. Location and time of day/year affect available sunlight.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What makes a resource renewable?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it is abundant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it is cheap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it is restored as quickly as it is used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it comes from the ground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Renewability is about how fast it is restored vs. used.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F3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C9D2E8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A resource can be abundant and still be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0515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A.  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B.  free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C.  nonrenewable</a:t>
            </a:r>
          </a:p>
          <a:p>
            <a:pPr algn="l">
              <a:spcAft>
                <a:spcPts val="400"/>
              </a:spcAft>
            </a:pPr>
            <a:r>
              <a:rPr sz="2800" b="0" i="0">
                <a:solidFill>
                  <a:srgbClr val="1F1F1F"/>
                </a:solidFill>
                <a:latin typeface="Arial"/>
              </a:rPr>
              <a:t>D.  water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3E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Arial"/>
              </a:rPr>
              <a:t>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5603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F1F1F"/>
                </a:solidFill>
                <a:latin typeface="Arial"/>
              </a:rPr>
              <a:t>C. Abundant does NOT mean renewable.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