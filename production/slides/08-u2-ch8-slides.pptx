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92040"/>
            <a:ext cx="12191695" cy="73152"/>
          </a:xfrm>
          <a:prstGeom prst="rect">
            <a:avLst/>
          </a:prstGeom>
          <a:solidFill>
            <a:srgbClr val="E8C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800" b="1" i="0">
                <a:solidFill>
                  <a:srgbClr val="FFFFFF"/>
                </a:solidFill>
                <a:latin typeface="Arial"/>
              </a:rPr>
              <a:t>Geothermal Energy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6576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0" i="0">
                <a:solidFill>
                  <a:srgbClr val="C9D2E8"/>
                </a:solidFill>
                <a:latin typeface="Arial"/>
              </a:rPr>
              <a:t>Chapter 8 · Grade 4 · Week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2120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1">
                <a:solidFill>
                  <a:srgbClr val="C9D2E8"/>
                </a:solidFill>
                <a:latin typeface="Arial"/>
              </a:rPr>
              <a:t>Unit 2 · Using Natural Resources for Energy · Grade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86000"/>
            <a:ext cx="12191695" cy="228600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0" i="0">
                <a:solidFill>
                  <a:srgbClr val="595B66"/>
                </a:solidFill>
                <a:latin typeface="Arial"/>
              </a:rPr>
              <a:t>Big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10515600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Arial"/>
              </a:rPr>
              <a:t>What is geothermal energy, and how do people use it?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292608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595B66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The warm cabin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104241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Opening phenomenon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310896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0" y="256032"/>
            <a:ext cx="1051560" cy="420624"/>
          </a:xfrm>
          <a:prstGeom prst="roundRect">
            <a:avLst/>
          </a:prstGeom>
          <a:solidFill>
            <a:srgbClr val="C03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THINK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45920"/>
            <a:ext cx="105156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200">
                <a:solidFill>
                  <a:srgbClr val="1F1F1F"/>
                </a:solidFill>
                <a:latin typeface="Arial"/>
              </a:rPr>
              <a:t>A cabin far from power lines is warmed by heat piped from deep underground.</a:t>
            </a:r>
          </a:p>
          <a:p>
            <a:pPr>
              <a:spcAft>
                <a:spcPts val="1000"/>
              </a:spcAft>
            </a:pPr>
            <a:r>
              <a:rPr sz="3200">
                <a:solidFill>
                  <a:srgbClr val="1F1F1F"/>
                </a:solidFill>
                <a:latin typeface="Arial"/>
              </a:rPr>
              <a:t>Where does that heat come from?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Key Words: geothermal energy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104241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Page 1 · Key Words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310896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0" y="256032"/>
            <a:ext cx="1051560" cy="420624"/>
          </a:xfrm>
          <a:prstGeom prst="round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NOTE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45920"/>
            <a:ext cx="105156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200">
                <a:solidFill>
                  <a:srgbClr val="1F1F1F"/>
                </a:solidFill>
                <a:latin typeface="Arial"/>
              </a:rPr>
              <a:t>Geothermal energy = heat transferred from inside Earth.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Two Ways to Use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104241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Page 1 · Two Ways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310896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0" y="256032"/>
            <a:ext cx="1051560" cy="420624"/>
          </a:xfrm>
          <a:prstGeom prst="round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NOTE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45920"/>
            <a:ext cx="105156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200">
                <a:solidFill>
                  <a:srgbClr val="1F1F1F"/>
                </a:solidFill>
                <a:latin typeface="Arial"/>
              </a:rPr>
              <a:t>Heat homes/buildings; or make electricity (steam spins a turbine).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Electricity Pathway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104241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Page 1 · Electricity Pathway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310896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0" y="256032"/>
            <a:ext cx="1051560" cy="420624"/>
          </a:xfrm>
          <a:prstGeom prst="round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NOTE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17904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1">
                <a:solidFill>
                  <a:srgbClr val="C03D3D"/>
                </a:solidFill>
                <a:latin typeface="Arial"/>
              </a:rPr>
              <a:t>Reveal after students try.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011680"/>
            <a:ext cx="105156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200">
                <a:solidFill>
                  <a:srgbClr val="1F1F1F"/>
                </a:solidFill>
                <a:latin typeface="Arial"/>
              </a:rPr>
              <a:t>Copy the pathway.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120640"/>
            <a:ext cx="10515600" cy="868680"/>
          </a:xfrm>
          <a:prstGeom prst="round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/>
          <a:lstStyle/>
          <a:p>
            <a:pPr algn="ctr"/>
            <a:r>
              <a:rPr sz="2600" b="1">
                <a:solidFill>
                  <a:srgbClr val="E8C54A"/>
                </a:solidFill>
                <a:latin typeface="Arial"/>
              </a:rPr>
              <a:t>EARTH'S HEAT</a:t>
            </a:r>
            <a:r>
              <a:rPr sz="2600" b="1">
                <a:solidFill>
                  <a:srgbClr val="C03D3D"/>
                </a:solidFill>
                <a:latin typeface="Arial"/>
              </a:rPr>
              <a:t> → </a:t>
            </a:r>
            <a:r>
              <a:rPr sz="2600" b="1">
                <a:solidFill>
                  <a:srgbClr val="FFFFFF"/>
                </a:solidFill>
                <a:latin typeface="Arial"/>
              </a:rPr>
              <a:t>STEAM</a:t>
            </a:r>
            <a:r>
              <a:rPr sz="2600" b="1">
                <a:solidFill>
                  <a:srgbClr val="C03D3D"/>
                </a:solidFill>
                <a:latin typeface="Arial"/>
              </a:rPr>
              <a:t> → </a:t>
            </a:r>
            <a:r>
              <a:rPr sz="2600" b="1">
                <a:solidFill>
                  <a:srgbClr val="FFFFFF"/>
                </a:solidFill>
                <a:latin typeface="Arial"/>
              </a:rPr>
              <a:t>TURBINE</a:t>
            </a:r>
            <a:r>
              <a:rPr sz="2600" b="1">
                <a:solidFill>
                  <a:srgbClr val="C03D3D"/>
                </a:solidFill>
                <a:latin typeface="Arial"/>
              </a:rPr>
              <a:t> → </a:t>
            </a:r>
            <a:r>
              <a:rPr sz="2600" b="1">
                <a:solidFill>
                  <a:srgbClr val="FFFFFF"/>
                </a:solidFill>
                <a:latin typeface="Arial"/>
              </a:rPr>
              <a:t>GENERATOR</a:t>
            </a:r>
            <a:r>
              <a:rPr sz="2600" b="1">
                <a:solidFill>
                  <a:srgbClr val="C03D3D"/>
                </a:solidFill>
                <a:latin typeface="Arial"/>
              </a:rPr>
              <a:t> → </a:t>
            </a:r>
            <a:r>
              <a:rPr sz="2600" b="1">
                <a:solidFill>
                  <a:srgbClr val="FFFFFF"/>
                </a:solidFill>
                <a:latin typeface="Arial"/>
              </a:rPr>
              <a:t>ELECTRICITY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Benefits and Limitations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104241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Page 2 · Benefits and Limitations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310896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0" y="256032"/>
            <a:ext cx="1051560" cy="420624"/>
          </a:xfrm>
          <a:prstGeom prst="round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NOTE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45920"/>
            <a:ext cx="105156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200">
                <a:solidFill>
                  <a:srgbClr val="1F1F1F"/>
                </a:solidFill>
                <a:latin typeface="Arial"/>
              </a:rPr>
              <a:t>Benefits: little pollution, heat always available underground.</a:t>
            </a:r>
          </a:p>
          <a:p>
            <a:pPr>
              <a:spcAft>
                <a:spcPts val="1000"/>
              </a:spcAft>
            </a:pPr>
            <a:r>
              <a:rPr sz="3200">
                <a:solidFill>
                  <a:srgbClr val="1F1F1F"/>
                </a:solidFill>
                <a:latin typeface="Arial"/>
              </a:rPr>
              <a:t>Limitations: needs hot rock, costly.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Location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104241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Page 2 · Location Matters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310896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0" y="256032"/>
            <a:ext cx="1051560" cy="420624"/>
          </a:xfrm>
          <a:prstGeom prst="round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NOTE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45920"/>
            <a:ext cx="105156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200">
                <a:solidFill>
                  <a:srgbClr val="1F1F1F"/>
                </a:solidFill>
                <a:latin typeface="Arial"/>
              </a:rPr>
              <a:t>Most steam/hot-water sources are near volcanic areas.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56032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C9D2E8"/>
                </a:solidFill>
                <a:latin typeface="Arial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1F1F"/>
                </a:solidFill>
                <a:latin typeface="Arial"/>
              </a:rPr>
              <a:t>Geothermal energy comes from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34640"/>
            <a:ext cx="105156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A.  the sun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B.  wind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C.  heat inside Earth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D.  moving water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3E7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56032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105156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1F1F"/>
                </a:solidFill>
                <a:latin typeface="Arial"/>
              </a:rPr>
              <a:t>C. Heat transferred from Earth's interior.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56032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C9D2E8"/>
                </a:solidFill>
                <a:latin typeface="Arial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1F1F"/>
                </a:solidFill>
                <a:latin typeface="Arial"/>
              </a:rPr>
              <a:t>Where does geothermal work best?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34640"/>
            <a:ext cx="105156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A.  everywhere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B.  near hot rock / volcanic areas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C.  only at the poles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D.  only in deserts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3E7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56032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Arial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105156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1F1F"/>
                </a:solidFill>
                <a:latin typeface="Arial"/>
              </a:rPr>
              <a:t>B. Areas where Earth's crust is active.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56032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C9D2E8"/>
                </a:solidFill>
                <a:latin typeface="Arial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1F1F"/>
                </a:solidFill>
                <a:latin typeface="Arial"/>
              </a:rPr>
              <a:t>Which is a BENEFIT of geothermal?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34640"/>
            <a:ext cx="105156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A.  little pollution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B.  needs hot rock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C.  costly to build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D.  only in some places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3E7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56032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Arial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105156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1F1F"/>
                </a:solidFill>
                <a:latin typeface="Arial"/>
              </a:rPr>
              <a:t>A. Geothermal produces little pollution.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56032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C9D2E8"/>
                </a:solidFill>
                <a:latin typeface="Arial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1F1F"/>
                </a:solidFill>
                <a:latin typeface="Arial"/>
              </a:rPr>
              <a:t>Which is a LIMITATION of geothermal?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34640"/>
            <a:ext cx="105156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A.  clean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B.  heat is always underground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C.  needs a special location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D.  renewable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3E7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56032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Arial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105156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1F1F"/>
                </a:solidFill>
                <a:latin typeface="Arial"/>
              </a:rPr>
              <a:t>C. It needs a special (volcanic) location.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