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9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>
                <a:solidFill>
                  <a:srgbClr val="FFFFFF"/>
                </a:solidFill>
                <a:latin typeface="Cambria"/>
              </a:rPr>
              <a:t>Chapter 1 Note Systems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332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0">
                <a:solidFill>
                  <a:srgbClr val="E8C54A"/>
                </a:solidFill>
                <a:latin typeface="Calibri"/>
              </a:rPr>
              <a:t>INB vs Guided Notes — Teaching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297680"/>
            <a:ext cx="10332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>
                <a:solidFill>
                  <a:srgbClr val="C9CEE8"/>
                </a:solidFill>
                <a:latin typeface="Calibri"/>
              </a:rPr>
              <a:t>Grade 4 · Energy Transfer &amp; Transformation · same content, two formats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32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E8C54A"/>
                </a:solidFill>
                <a:latin typeface="Calibri"/>
              </a:rPr>
              <a:t>FORMAT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3327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200" b="1">
                <a:solidFill>
                  <a:srgbClr val="FFFFFF"/>
                </a:solidFill>
                <a:latin typeface="Cambria"/>
              </a:rPr>
              <a:t>Interactive Science Notebook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34640"/>
            <a:ext cx="10332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0">
                <a:solidFill>
                  <a:srgbClr val="C9CEE8"/>
                </a:solidFill>
                <a:latin typeface="Calibri"/>
              </a:rPr>
              <a:t>Trimmed inserts glued into a composition book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4480560"/>
            <a:ext cx="1847088" cy="914400"/>
          </a:xfrm>
          <a:prstGeom prst="roundRect">
            <a:avLst/>
          </a:prstGeom>
          <a:solidFill>
            <a:srgbClr val="1F29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4645152"/>
            <a:ext cx="184708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Calibri"/>
              </a:rPr>
              <a:t>NOTEBOOK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688336" y="4773168"/>
            <a:ext cx="283464" cy="329184"/>
          </a:xfrm>
          <a:prstGeom prst="rightArrow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990088" y="4480560"/>
            <a:ext cx="1847088" cy="914400"/>
          </a:xfrm>
          <a:prstGeom prst="roundRect">
            <a:avLst/>
          </a:prstGeom>
          <a:solidFill>
            <a:srgbClr val="EAE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90088" y="4645152"/>
            <a:ext cx="184708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2F3C7E"/>
                </a:solidFill>
                <a:latin typeface="Calibri"/>
              </a:rPr>
              <a:t>TRIM/GLUE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855464" y="4773168"/>
            <a:ext cx="283464" cy="329184"/>
          </a:xfrm>
          <a:prstGeom prst="rightArrow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157216" y="4480560"/>
            <a:ext cx="1847088" cy="914400"/>
          </a:xfrm>
          <a:prstGeom prst="roundRect">
            <a:avLst/>
          </a:prstGeom>
          <a:solidFill>
            <a:srgbClr val="EAE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57216" y="4645152"/>
            <a:ext cx="184708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2F3C7E"/>
                </a:solidFill>
                <a:latin typeface="Calibri"/>
              </a:rPr>
              <a:t>WRITE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7022592" y="4773168"/>
            <a:ext cx="283464" cy="329184"/>
          </a:xfrm>
          <a:prstGeom prst="rightArrow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324344" y="4480560"/>
            <a:ext cx="1847088" cy="914400"/>
          </a:xfrm>
          <a:prstGeom prst="roundRect">
            <a:avLst/>
          </a:prstGeom>
          <a:solidFill>
            <a:srgbClr val="EAE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24344" y="4645152"/>
            <a:ext cx="184708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2F3C7E"/>
                </a:solidFill>
                <a:latin typeface="Calibri"/>
              </a:rPr>
              <a:t>DRAW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9189719" y="4773168"/>
            <a:ext cx="283464" cy="329184"/>
          </a:xfrm>
          <a:prstGeom prst="rightArrow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491472" y="4480560"/>
            <a:ext cx="1847088" cy="914400"/>
          </a:xfrm>
          <a:prstGeom prst="roundRect">
            <a:avLst/>
          </a:prstGeom>
          <a:solidFill>
            <a:srgbClr val="EAE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91472" y="4645152"/>
            <a:ext cx="184708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2F3C7E"/>
                </a:solidFill>
                <a:latin typeface="Calibri"/>
              </a:rPr>
              <a:t>REVEAL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" y="731520"/>
            <a:ext cx="1188720" cy="1188720"/>
          </a:xfrm>
          <a:prstGeom prst="ellipse">
            <a:avLst/>
          </a:prstGeom>
          <a:solidFill>
            <a:srgbClr val="2F3C7E"/>
          </a:solidFill>
          <a:ln>
            <a:solidFill>
              <a:srgbClr val="2F3C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40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685800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2F3C7E"/>
                </a:solidFill>
                <a:latin typeface="Cambria"/>
              </a:rPr>
              <a:t>NOTEBOOK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1325880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F96167"/>
                </a:solidFill>
                <a:latin typeface="Calibri"/>
              </a:rPr>
              <a:t>STUDENT-FACING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9456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0">
                <a:solidFill>
                  <a:srgbClr val="1F1F1F"/>
                </a:solidFill>
                <a:latin typeface="Calibri"/>
              </a:rPr>
              <a:t>Get your composition book and find the next blank page.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28800" y="3474720"/>
            <a:ext cx="2377440" cy="1554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F3C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0" y="3794760"/>
            <a:ext cx="23774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2F3C7E"/>
                </a:solidFill>
                <a:latin typeface="Calibri"/>
              </a:rPr>
              <a:t>SCIENCE
NOTEBOOK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572000" y="3977639"/>
            <a:ext cx="914400" cy="548640"/>
          </a:xfrm>
          <a:prstGeom prst="rightArrow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0" y="3566160"/>
            <a:ext cx="4572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0">
                <a:solidFill>
                  <a:srgbClr val="1F1F1F"/>
                </a:solidFill>
                <a:latin typeface="Calibri"/>
              </a:rPr>
              <a:t>Open to the next
blank page.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" y="731520"/>
            <a:ext cx="1188720" cy="1188720"/>
          </a:xfrm>
          <a:prstGeom prst="ellipse">
            <a:avLst/>
          </a:prstGeom>
          <a:solidFill>
            <a:srgbClr val="2F3C7E"/>
          </a:solidFill>
          <a:ln>
            <a:solidFill>
              <a:srgbClr val="2F3C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40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685800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2F3C7E"/>
                </a:solidFill>
                <a:latin typeface="Cambria"/>
              </a:rPr>
              <a:t>TRIM / GLUE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1325880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F96167"/>
                </a:solidFill>
                <a:latin typeface="Calibri"/>
              </a:rPr>
              <a:t>STUDENT-FACING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9456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0">
                <a:solidFill>
                  <a:srgbClr val="1F1F1F"/>
                </a:solidFill>
                <a:latin typeface="Calibri"/>
              </a:rPr>
              <a:t>Cut on the dashed line. Glue only the top edge into your notebook.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63040" y="3474720"/>
            <a:ext cx="3291840" cy="1554480"/>
          </a:xfrm>
          <a:prstGeom prst="roundRect">
            <a:avLst/>
          </a:prstGeom>
          <a:solidFill>
            <a:srgbClr val="EAECF5"/>
          </a:solidFill>
          <a:ln w="1905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63040" y="3840480"/>
            <a:ext cx="32918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2F3C7E"/>
                </a:solidFill>
                <a:latin typeface="Calibri"/>
              </a:rPr>
              <a:t>INSERT
(trim on dashed line)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029200" y="3977639"/>
            <a:ext cx="914400" cy="548640"/>
          </a:xfrm>
          <a:prstGeom prst="rightArrow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3566160"/>
            <a:ext cx="49377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0">
                <a:solidFill>
                  <a:srgbClr val="1F1F1F"/>
                </a:solidFill>
                <a:latin typeface="Calibri"/>
              </a:rPr>
              <a:t>Cut on the dashed line,
then glue the top edge.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" y="731520"/>
            <a:ext cx="1188720" cy="1188720"/>
          </a:xfrm>
          <a:prstGeom prst="ellipse">
            <a:avLst/>
          </a:prstGeom>
          <a:solidFill>
            <a:srgbClr val="2F3C7E"/>
          </a:solidFill>
          <a:ln>
            <a:solidFill>
              <a:srgbClr val="2F3C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40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685800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2F3C7E"/>
                </a:solidFill>
                <a:latin typeface="Cambria"/>
              </a:rPr>
              <a:t>WRITE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1325880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F96167"/>
                </a:solidFill>
                <a:latin typeface="Calibri"/>
              </a:rPr>
              <a:t>STUDENT-FACING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9456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0">
                <a:solidFill>
                  <a:srgbClr val="1F1F1F"/>
                </a:solidFill>
                <a:latin typeface="Calibri"/>
              </a:rPr>
              <a:t>Fill in the vocabulary blanks together with the class.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645920" y="3657600"/>
            <a:ext cx="402336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F3C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20240" y="3794760"/>
            <a:ext cx="34747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0">
                <a:solidFill>
                  <a:srgbClr val="1F1F1F"/>
                </a:solidFill>
                <a:latin typeface="Calibri"/>
              </a:rPr>
              <a:t>Energy is the ability
to cause ________.</a:t>
            </a:r>
          </a:p>
        </p:txBody>
      </p:sp>
      <p:sp>
        <p:nvSpPr>
          <p:cNvPr id="9" name="Right Arrow 8"/>
          <p:cNvSpPr/>
          <p:nvPr/>
        </p:nvSpPr>
        <p:spPr>
          <a:xfrm>
            <a:off x="6035040" y="4023360"/>
            <a:ext cx="914400" cy="548640"/>
          </a:xfrm>
          <a:prstGeom prst="rightArrow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0" y="3657600"/>
            <a:ext cx="3657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0">
                <a:solidFill>
                  <a:srgbClr val="1F1F1F"/>
                </a:solidFill>
                <a:latin typeface="Calibri"/>
              </a:rPr>
              <a:t>Fill in the blanks
with the class.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" y="731520"/>
            <a:ext cx="1188720" cy="1188720"/>
          </a:xfrm>
          <a:prstGeom prst="ellipse">
            <a:avLst/>
          </a:prstGeom>
          <a:solidFill>
            <a:srgbClr val="2F3C7E"/>
          </a:solidFill>
          <a:ln>
            <a:solidFill>
              <a:srgbClr val="2F3C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40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685800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2F3C7E"/>
                </a:solidFill>
                <a:latin typeface="Cambria"/>
              </a:rPr>
              <a:t>DRAW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1325880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F96167"/>
                </a:solidFill>
                <a:latin typeface="Calibri"/>
              </a:rPr>
              <a:t>STUDENT-FACING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9456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0">
                <a:solidFill>
                  <a:srgbClr val="1F1F1F"/>
                </a:solidFill>
                <a:latin typeface="Calibri"/>
              </a:rPr>
              <a:t>Draw one change: before and after.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63040" y="3566160"/>
            <a:ext cx="237744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F3C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63040" y="3749039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96167"/>
                </a:solidFill>
                <a:latin typeface="Calibri"/>
              </a:rPr>
              <a:t>BEFORE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0" y="3566160"/>
            <a:ext cx="237744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F3C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0" y="3749039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96167"/>
                </a:solidFill>
                <a:latin typeface="Calibri"/>
              </a:rPr>
              <a:t>AFTER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6858000" y="4023360"/>
            <a:ext cx="914400" cy="548640"/>
          </a:xfrm>
          <a:prstGeom prst="rightArrow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0" y="3566160"/>
            <a:ext cx="32004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0">
                <a:solidFill>
                  <a:srgbClr val="1F1F1F"/>
                </a:solidFill>
                <a:latin typeface="Calibri"/>
              </a:rPr>
              <a:t>Draw what changed
before and after.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" y="731520"/>
            <a:ext cx="1188720" cy="1188720"/>
          </a:xfrm>
          <a:prstGeom prst="ellipse">
            <a:avLst/>
          </a:prstGeom>
          <a:solidFill>
            <a:srgbClr val="2F3C7E"/>
          </a:solidFill>
          <a:ln>
            <a:solidFill>
              <a:srgbClr val="2F3C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40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685800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2F3C7E"/>
                </a:solidFill>
                <a:latin typeface="Cambria"/>
              </a:rPr>
              <a:t>REVEAL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1325880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F96167"/>
                </a:solidFill>
                <a:latin typeface="Calibri"/>
              </a:rPr>
              <a:t>STUDENT-FACING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9456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0">
                <a:solidFill>
                  <a:srgbClr val="1F1F1F"/>
                </a:solidFill>
                <a:latin typeface="Calibri"/>
              </a:rPr>
              <a:t>Lift the flap to reveal the change stored energy can cause.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63040" y="3566160"/>
            <a:ext cx="2743200" cy="1463040"/>
          </a:xfrm>
          <a:prstGeom prst="roundRect">
            <a:avLst/>
          </a:prstGeom>
          <a:solidFill>
            <a:srgbClr val="E8C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63040" y="370332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1F1F1F"/>
                </a:solidFill>
                <a:latin typeface="Calibri"/>
              </a:rPr>
              <a:t>LIFT THE FLAP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4160520"/>
            <a:ext cx="2743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1F1F1F"/>
                </a:solidFill>
                <a:latin typeface="Calibri"/>
              </a:rPr>
              <a:t>the light
turns on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572000" y="4023360"/>
            <a:ext cx="914400" cy="548640"/>
          </a:xfrm>
          <a:prstGeom prst="rightArrow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52160" y="3566160"/>
            <a:ext cx="47548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0">
                <a:solidFill>
                  <a:srgbClr val="1F1F1F"/>
                </a:solidFill>
                <a:latin typeface="Calibri"/>
              </a:rPr>
              <a:t>Lift the flap to reveal
what stored energy can do later.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32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E8C54A"/>
                </a:solidFill>
                <a:latin typeface="Calibri"/>
              </a:rPr>
              <a:t>FORMAT 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3327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200" b="1">
                <a:solidFill>
                  <a:srgbClr val="FFFFFF"/>
                </a:solidFill>
                <a:latin typeface="Cambria"/>
              </a:rPr>
              <a:t>Full-Size Guided Notes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34640"/>
            <a:ext cx="10332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0">
                <a:solidFill>
                  <a:srgbClr val="C9CEE8"/>
                </a:solidFill>
                <a:latin typeface="Calibri"/>
              </a:rPr>
              <a:t>Students write directly on a US Letter sheet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4480560"/>
            <a:ext cx="2388870" cy="914400"/>
          </a:xfrm>
          <a:prstGeom prst="roundRect">
            <a:avLst/>
          </a:prstGeom>
          <a:solidFill>
            <a:srgbClr val="1F29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4645152"/>
            <a:ext cx="238887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Calibri"/>
              </a:rPr>
              <a:t>NOTES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230118" y="4773168"/>
            <a:ext cx="283464" cy="329184"/>
          </a:xfrm>
          <a:prstGeom prst="rightArrow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531870" y="4480560"/>
            <a:ext cx="2388870" cy="914400"/>
          </a:xfrm>
          <a:prstGeom prst="roundRect">
            <a:avLst/>
          </a:prstGeom>
          <a:solidFill>
            <a:srgbClr val="EAE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31870" y="4645152"/>
            <a:ext cx="238887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2F3C7E"/>
                </a:solidFill>
                <a:latin typeface="Calibri"/>
              </a:rPr>
              <a:t>WRITE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939027" y="4773168"/>
            <a:ext cx="283464" cy="329184"/>
          </a:xfrm>
          <a:prstGeom prst="rightArrow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40780" y="4480560"/>
            <a:ext cx="2388870" cy="914400"/>
          </a:xfrm>
          <a:prstGeom prst="roundRect">
            <a:avLst/>
          </a:prstGeom>
          <a:solidFill>
            <a:srgbClr val="EAE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40780" y="4645152"/>
            <a:ext cx="238887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2F3C7E"/>
                </a:solidFill>
                <a:latin typeface="Calibri"/>
              </a:rPr>
              <a:t>DRAW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8647938" y="4773168"/>
            <a:ext cx="283464" cy="329184"/>
          </a:xfrm>
          <a:prstGeom prst="rightArrow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949690" y="4480560"/>
            <a:ext cx="2388870" cy="914400"/>
          </a:xfrm>
          <a:prstGeom prst="roundRect">
            <a:avLst/>
          </a:prstGeom>
          <a:solidFill>
            <a:srgbClr val="EAE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49690" y="4645152"/>
            <a:ext cx="238887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2F3C7E"/>
                </a:solidFill>
                <a:latin typeface="Calibri"/>
              </a:rPr>
              <a:t>CHECK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" y="731520"/>
            <a:ext cx="1188720" cy="1188720"/>
          </a:xfrm>
          <a:prstGeom prst="ellipse">
            <a:avLst/>
          </a:prstGeom>
          <a:solidFill>
            <a:srgbClr val="2F3C7E"/>
          </a:solidFill>
          <a:ln>
            <a:solidFill>
              <a:srgbClr val="2F3C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40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685800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2F3C7E"/>
                </a:solidFill>
                <a:latin typeface="Cambria"/>
              </a:rPr>
              <a:t>NOTES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1325880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F96167"/>
                </a:solidFill>
                <a:latin typeface="Calibri"/>
              </a:rPr>
              <a:t>STUDENT-FACING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9456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0">
                <a:solidFill>
                  <a:srgbClr val="1F1F1F"/>
                </a:solidFill>
                <a:latin typeface="Calibri"/>
              </a:rPr>
              <a:t>Get your guided-notes sheet — no cutting, no gluing.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28800" y="3566160"/>
            <a:ext cx="2377440" cy="1554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F3C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0" y="3840480"/>
            <a:ext cx="23774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2F3C7E"/>
                </a:solidFill>
                <a:latin typeface="Calibri"/>
              </a:rPr>
              <a:t>GUIDED
NOTES
(page 1)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572000" y="4023360"/>
            <a:ext cx="914400" cy="548640"/>
          </a:xfrm>
          <a:prstGeom prst="rightArrow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0" y="3566160"/>
            <a:ext cx="4572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0">
                <a:solidFill>
                  <a:srgbClr val="1F1F1F"/>
                </a:solidFill>
                <a:latin typeface="Calibri"/>
              </a:rPr>
              <a:t>Pass out one sheet
(3 pages total).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" y="731520"/>
            <a:ext cx="1188720" cy="1188720"/>
          </a:xfrm>
          <a:prstGeom prst="ellipse">
            <a:avLst/>
          </a:prstGeom>
          <a:solidFill>
            <a:srgbClr val="2F3C7E"/>
          </a:solidFill>
          <a:ln>
            <a:solidFill>
              <a:srgbClr val="2F3C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40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685800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2F3C7E"/>
                </a:solidFill>
                <a:latin typeface="Cambria"/>
              </a:rPr>
              <a:t>WRITE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1325880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F96167"/>
                </a:solidFill>
                <a:latin typeface="Calibri"/>
              </a:rPr>
              <a:t>STUDENT-FACING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9456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0">
                <a:solidFill>
                  <a:srgbClr val="1F1F1F"/>
                </a:solidFill>
                <a:latin typeface="Calibri"/>
              </a:rPr>
              <a:t>Fill in the vocabulary blanks together with the class.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645920" y="3657600"/>
            <a:ext cx="402336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F3C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20240" y="3794760"/>
            <a:ext cx="34747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0">
                <a:solidFill>
                  <a:srgbClr val="1F1F1F"/>
                </a:solidFill>
                <a:latin typeface="Calibri"/>
              </a:rPr>
              <a:t>Energy is the ability
to cause ________.</a:t>
            </a:r>
          </a:p>
        </p:txBody>
      </p:sp>
      <p:sp>
        <p:nvSpPr>
          <p:cNvPr id="9" name="Right Arrow 8"/>
          <p:cNvSpPr/>
          <p:nvPr/>
        </p:nvSpPr>
        <p:spPr>
          <a:xfrm>
            <a:off x="6035040" y="4023360"/>
            <a:ext cx="914400" cy="548640"/>
          </a:xfrm>
          <a:prstGeom prst="rightArrow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0" y="3657600"/>
            <a:ext cx="3657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0">
                <a:solidFill>
                  <a:srgbClr val="1F1F1F"/>
                </a:solidFill>
                <a:latin typeface="Calibri"/>
              </a:rPr>
              <a:t>Fill in the blanks
with the class.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" y="731520"/>
            <a:ext cx="1188720" cy="1188720"/>
          </a:xfrm>
          <a:prstGeom prst="ellipse">
            <a:avLst/>
          </a:prstGeom>
          <a:solidFill>
            <a:srgbClr val="2F3C7E"/>
          </a:solidFill>
          <a:ln>
            <a:solidFill>
              <a:srgbClr val="2F3C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40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685800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2F3C7E"/>
                </a:solidFill>
                <a:latin typeface="Cambria"/>
              </a:rPr>
              <a:t>DRAW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1325880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F96167"/>
                </a:solidFill>
                <a:latin typeface="Calibri"/>
              </a:rPr>
              <a:t>STUDENT-FACING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9456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0">
                <a:solidFill>
                  <a:srgbClr val="1F1F1F"/>
                </a:solidFill>
                <a:latin typeface="Calibri"/>
              </a:rPr>
              <a:t>Draw one change: before and after.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63040" y="3566160"/>
            <a:ext cx="237744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F3C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63040" y="3749039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96167"/>
                </a:solidFill>
                <a:latin typeface="Calibri"/>
              </a:rPr>
              <a:t>BEFORE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0" y="3566160"/>
            <a:ext cx="237744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F3C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0" y="3749039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96167"/>
                </a:solidFill>
                <a:latin typeface="Calibri"/>
              </a:rPr>
              <a:t>AFTER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6858000" y="4023360"/>
            <a:ext cx="914400" cy="548640"/>
          </a:xfrm>
          <a:prstGeom prst="rightArrow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0" y="3566160"/>
            <a:ext cx="32004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0">
                <a:solidFill>
                  <a:srgbClr val="1F1F1F"/>
                </a:solidFill>
                <a:latin typeface="Calibri"/>
              </a:rPr>
              <a:t>Draw what changed
before and after.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" y="731520"/>
            <a:ext cx="1188720" cy="1188720"/>
          </a:xfrm>
          <a:prstGeom prst="ellipse">
            <a:avLst/>
          </a:prstGeom>
          <a:solidFill>
            <a:srgbClr val="2F3C7E"/>
          </a:solidFill>
          <a:ln>
            <a:solidFill>
              <a:srgbClr val="2F3C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40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685800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2F3C7E"/>
                </a:solidFill>
                <a:latin typeface="Cambria"/>
              </a:rPr>
              <a:t>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1325880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F96167"/>
                </a:solidFill>
                <a:latin typeface="Calibri"/>
              </a:rPr>
              <a:t>STUDENT-FACING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9456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0">
                <a:solidFill>
                  <a:srgbClr val="1F1F1F"/>
                </a:solidFill>
                <a:latin typeface="Calibri"/>
              </a:rPr>
              <a:t>Check your answers together — keep the sheet in your folder.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28800" y="3566160"/>
            <a:ext cx="2560320" cy="1463040"/>
          </a:xfrm>
          <a:prstGeom prst="roundRect">
            <a:avLst/>
          </a:prstGeom>
          <a:solidFill>
            <a:srgbClr val="3BA7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0" y="3977639"/>
            <a:ext cx="2560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Calibri"/>
              </a:rPr>
              <a:t>✓ CHECK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754880" y="4023360"/>
            <a:ext cx="914400" cy="548640"/>
          </a:xfrm>
          <a:prstGeom prst="rightArrow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35040" y="3566160"/>
            <a:ext cx="47548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0">
                <a:solidFill>
                  <a:srgbClr val="1F1F1F"/>
                </a:solidFill>
                <a:latin typeface="Calibri"/>
              </a:rPr>
              <a:t>Check your answers
as a class.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