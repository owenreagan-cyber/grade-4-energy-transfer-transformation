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Title · orient</a:t>
            </a:r>
          </a:p>
          <a:p>
            <a:r>
              <a:t>TIME 1 min</a:t>
            </a:r>
          </a:p>
          <a:p>
            <a:r>
              <a:t>PLAN Session 1 (Mon 10/12) · REQUIRED · 1 min</a:t>
            </a:r>
          </a:p>
          <a:p>
            <a:r>
              <a:t>STUDENT RESOURCE Guided Notes (not yet open)</a:t>
            </a:r>
          </a:p>
          <a:p>
            <a:r>
              <a:t>ASK What do you think energy does?</a:t>
            </a:r>
          </a:p>
          <a:p>
            <a:r>
              <a:t>LISTEN FOR words like move, change, power</a:t>
            </a:r>
          </a:p>
          <a:p>
            <a:r>
              <a:t>NEXT Flip the lights as you open the Big Question.</a:t>
            </a:r>
          </a:p>
          <a:p>
            <a:r>
              <a:t>SESSIONS Mon: slides 1-3, 6-16 (optional 4-5) · Tue: slides 2, 17, 19-27 (18 is OPTIONAL) · Fri: slides 2 then 28-31, 33 (optional 32), then the quiz. Slides 34-45 = optional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BQ · introduce</a:t>
            </a:r>
          </a:p>
          <a:p>
            <a:r>
              <a:t>TIME 2 min</a:t>
            </a:r>
          </a:p>
          <a:p>
            <a:r>
              <a:t>PLAN Session 1 (Mon 10/12) · REQUIRED · 2 min · RE-ENTRY: Sessions 2 and 3 also open on this slide (re-read the Big Question; ask 'What evidence have we collected so far?') - 1 / 0.5 min</a:t>
            </a:r>
          </a:p>
          <a:p>
            <a:r>
              <a:t>STUDENT RESOURCE Guided Notes p.1 (BQ box)</a:t>
            </a:r>
          </a:p>
          <a:p>
            <a:r>
              <a:t>ASK What change have you seen happen today?</a:t>
            </a:r>
          </a:p>
          <a:p>
            <a:r>
              <a:t>LISTEN FOR any observable change (light, sound, movement)</a:t>
            </a:r>
          </a:p>
          <a:p>
            <a:r>
              <a:t>REVEAL Do not answer the BQ yet — we collect evidence first.</a:t>
            </a:r>
          </a:p>
          <a:p>
            <a:r>
              <a:t>NEXT Session 1: My first thinking (slide 3) · Session 2: Forms of energy (slide 17) · Session 3: Recognizing evidence (slide 28).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BQ anchor</a:t>
            </a:r>
          </a:p>
          <a:p>
            <a:r>
              <a:t>TIME 2 min</a:t>
            </a:r>
          </a:p>
          <a:p>
            <a:r>
              <a:t>PLAN Session 1 (Mon 10/12) · REQUIRED · 2 min</a:t>
            </a:r>
          </a:p>
          <a:p>
            <a:r>
              <a:t>STUDENT RESOURCE Guided Notes p.1 top</a:t>
            </a:r>
          </a:p>
          <a:p>
            <a:r>
              <a:t>ASK What change have you seen? Write your first idea.</a:t>
            </a:r>
          </a:p>
          <a:p>
            <a:r>
              <a:t>LISTEN FOR students naming a change (not 'energy')</a:t>
            </a:r>
          </a:p>
          <a:p>
            <a:r>
              <a:t>MISCONCEPTION Accept any change; do not correct yet.</a:t>
            </a:r>
          </a:p>
          <a:p>
            <a:r>
              <a:t>NEXT Observe the light switch.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Demo · observe</a:t>
            </a:r>
          </a:p>
          <a:p>
            <a:r>
              <a:t>TIME 2 min</a:t>
            </a:r>
          </a:p>
          <a:p>
            <a:r>
              <a:t>PLAN Session 1 (Mon 10/12) · OPTIONAL - skip freely · 2 min</a:t>
            </a:r>
          </a:p>
          <a:p>
            <a:r>
              <a:t>STUDENT RESOURCE Reader p.1</a:t>
            </a:r>
          </a:p>
          <a:p>
            <a:r>
              <a:t>ASK What changed when I flipped the switch?</a:t>
            </a:r>
          </a:p>
          <a:p>
            <a:r>
              <a:t>LISTEN FOR 'the room got bright' / 'light came on'</a:t>
            </a:r>
          </a:p>
          <a:p>
            <a:r>
              <a:t>REVEAL The room changed from dark to light — a change.</a:t>
            </a:r>
          </a:p>
          <a:p>
            <a:r>
              <a:t>NEXT Notice &amp; wonder.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Demo · discuss</a:t>
            </a:r>
          </a:p>
          <a:p>
            <a:r>
              <a:t>TIME 2 min</a:t>
            </a:r>
          </a:p>
          <a:p>
            <a:r>
              <a:t>PLAN Session 1 (Mon 10/12) · OPTIONAL - skip freely · 2 min</a:t>
            </a:r>
          </a:p>
          <a:p>
            <a:r>
              <a:t>STUDENT RESOURCE none</a:t>
            </a:r>
          </a:p>
          <a:p>
            <a:r>
              <a:t>ASK What did you notice? What do you wonder?</a:t>
            </a:r>
          </a:p>
          <a:p>
            <a:r>
              <a:t>LISTEN FOR change words and curiosity</a:t>
            </a:r>
          </a:p>
          <a:p>
            <a:r>
              <a:t>NEXT Electric pencil sharpener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Demo · observe</a:t>
            </a:r>
          </a:p>
          <a:p>
            <a:r>
              <a:t>TIME 1 min</a:t>
            </a:r>
          </a:p>
          <a:p>
            <a:r>
              <a:t>PLAN Session 1 (Mon 10/12) · REQUIRED · 1 min</a:t>
            </a:r>
          </a:p>
          <a:p>
            <a:r>
              <a:t>STUDENT RESOURCE none (live demo)</a:t>
            </a:r>
          </a:p>
          <a:p>
            <a:r>
              <a:t>ASK What does the pencil look and sound like right now?</a:t>
            </a:r>
          </a:p>
          <a:p>
            <a:r>
              <a:t>LISTEN FOR dull, flat, quiet, still</a:t>
            </a:r>
          </a:p>
          <a:p>
            <a:r>
              <a:t>NEXT Predict before sharpening.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Demo · predict</a:t>
            </a:r>
          </a:p>
          <a:p>
            <a:r>
              <a:t>TIME 1 min</a:t>
            </a:r>
          </a:p>
          <a:p>
            <a:r>
              <a:t>PLAN Session 1 (Mon 10/12) · REQUIRED · 1 min</a:t>
            </a:r>
          </a:p>
          <a:p>
            <a:r>
              <a:t>STUDENT RESOURCE none</a:t>
            </a:r>
          </a:p>
          <a:p>
            <a:r>
              <a:t>ASK What will change about the pencil? The sharpener?</a:t>
            </a:r>
          </a:p>
          <a:p>
            <a:r>
              <a:t>LISTEN FOR shorter, sharper, noise</a:t>
            </a:r>
          </a:p>
          <a:p>
            <a:r>
              <a:t>REVEAL Do not confirm yet — run the demo.</a:t>
            </a:r>
          </a:p>
          <a:p>
            <a:r>
              <a:t>NEXT Observe the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Demo · observe</a:t>
            </a:r>
          </a:p>
          <a:p>
            <a:r>
              <a:t>TIME 3 min</a:t>
            </a:r>
          </a:p>
          <a:p>
            <a:r>
              <a:t>PLAN Session 1 (Mon 10/12) · REQUIRED · 3 min</a:t>
            </a:r>
          </a:p>
          <a:p>
            <a:r>
              <a:t>STUDENT RESOURCE none</a:t>
            </a:r>
          </a:p>
          <a:p>
            <a:r>
              <a:t>ASK Name every change you saw or heard.</a:t>
            </a:r>
          </a:p>
          <a:p>
            <a:r>
              <a:t>LISTEN FOR shorter, sharper, noise</a:t>
            </a:r>
          </a:p>
          <a:p>
            <a:r>
              <a:t>REVEAL Record all three changes.</a:t>
            </a:r>
          </a:p>
          <a:p>
            <a:r>
              <a:t>NEXT Turn changes into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Demo · evidence</a:t>
            </a:r>
          </a:p>
          <a:p>
            <a:r>
              <a:t>TIME 2 min</a:t>
            </a:r>
          </a:p>
          <a:p>
            <a:r>
              <a:t>PLAN Session 1 (Mon 10/12) · REQUIRED · 2 min</a:t>
            </a:r>
          </a:p>
          <a:p>
            <a:r>
              <a:t>STUDENT RESOURCE Reader p.2 (Change Is Evidence of Energy)</a:t>
            </a:r>
          </a:p>
          <a:p>
            <a:r>
              <a:t>ASK How do we know energy was here if we can't see it?</a:t>
            </a:r>
          </a:p>
          <a:p>
            <a:r>
              <a:t>LISTEN FOR 'we saw the change' / 'clues'</a:t>
            </a:r>
          </a:p>
          <a:p>
            <a:r>
              <a:t>REVEAL The word EVIDENCE is introduced from the Reader on slide 14 - do not name it here; the '?' box stays open.</a:t>
            </a:r>
          </a:p>
          <a:p>
            <a:r>
              <a:t>MISCONCEPTION We see the change, not the energy itself.</a:t>
            </a:r>
          </a:p>
          <a:p>
            <a:r>
              <a:t>NEXT Vocabulary: energy +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Vocabulary · TEACH</a:t>
            </a:r>
          </a:p>
          <a:p>
            <a:r>
              <a:t>TIME 3 min</a:t>
            </a:r>
          </a:p>
          <a:p>
            <a:r>
              <a:t>PLAN Session 1 (Mon 10/12) · REQUIRED · 3 min</a:t>
            </a:r>
          </a:p>
          <a:p>
            <a:r>
              <a:t>STUDENT RESOURCE Guided Notes V1</a:t>
            </a:r>
          </a:p>
          <a:p>
            <a:r>
              <a:t>ASK Read each definition together. Use each word in a sentence.</a:t>
            </a:r>
          </a:p>
          <a:p>
            <a:r>
              <a:t>LISTEN FOR 'energy causes change' and 'to become different'</a:t>
            </a:r>
          </a:p>
          <a:p>
            <a:r>
              <a:t>REVEAL Full definitions shown — these are the two V1 terms.</a:t>
            </a:r>
          </a:p>
          <a:p>
            <a:r>
              <a:t>NEXT Record V1 on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V1 anchor</a:t>
            </a:r>
          </a:p>
          <a:p>
            <a:r>
              <a:t>TIME 2 min</a:t>
            </a:r>
          </a:p>
          <a:p>
            <a:r>
              <a:t>PLAN Session 1 (Mon 10/12) · REQUIRED · 2 min</a:t>
            </a:r>
          </a:p>
          <a:p>
            <a:r>
              <a:t>STUDENT RESOURCE Guided Notes V1 (Reader p.1)</a:t>
            </a:r>
          </a:p>
          <a:p>
            <a:r>
              <a:t>ASK Fill in each blank.</a:t>
            </a:r>
          </a:p>
          <a:p>
            <a:r>
              <a:t>LISTEN FOR 'change' and 'different'</a:t>
            </a:r>
          </a:p>
          <a:p>
            <a:r>
              <a:t>REVEAL Reveal after students write.</a:t>
            </a:r>
          </a:p>
          <a:p>
            <a:r>
              <a:t>NEXT Check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V1 reveal</a:t>
            </a:r>
          </a:p>
          <a:p>
            <a:r>
              <a:t>TIME 0.5 min</a:t>
            </a:r>
          </a:p>
          <a:p>
            <a:r>
              <a:t>PLAN Session 1 (Mon 10/12) · REQUIRED · 0.5 min</a:t>
            </a:r>
          </a:p>
          <a:p>
            <a:r>
              <a:t>STUDENT RESOURCE Guided Notes V1</a:t>
            </a:r>
          </a:p>
          <a:p>
            <a:r>
              <a:t>REVEAL change · different</a:t>
            </a:r>
          </a:p>
          <a:p>
            <a:r>
              <a:t>NEXT Energy Causes Change (N1).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Read · concept</a:t>
            </a:r>
          </a:p>
          <a:p>
            <a:r>
              <a:t>TIME 1 min</a:t>
            </a:r>
          </a:p>
          <a:p>
            <a:r>
              <a:t>PLAN Session 1 (Mon 10/12) · REQUIRED · 1 min</a:t>
            </a:r>
          </a:p>
          <a:p>
            <a:r>
              <a:t>STUDENT RESOURCE Reader p.1</a:t>
            </a:r>
          </a:p>
          <a:p>
            <a:r>
              <a:t>ASK What is energy?</a:t>
            </a:r>
          </a:p>
          <a:p>
            <a:r>
              <a:t>LISTEN FOR 'the ability to cause change'</a:t>
            </a:r>
          </a:p>
          <a:p>
            <a:r>
              <a:t>REVEAL Energy is the ability to cause change.</a:t>
            </a:r>
          </a:p>
          <a:p>
            <a:r>
              <a:t>NEXT Change is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Read · model</a:t>
            </a:r>
          </a:p>
          <a:p>
            <a:r>
              <a:t>TIME 3 min</a:t>
            </a:r>
          </a:p>
          <a:p>
            <a:r>
              <a:t>PLAN Session 1 (Mon 10/12) · REQUIRED · 3 min</a:t>
            </a:r>
          </a:p>
          <a:p>
            <a:r>
              <a:t>STUDENT RESOURCE Reader p.2</a:t>
            </a:r>
          </a:p>
          <a:p>
            <a:r>
              <a:t>ASK What changes can you find at the seashore? What are those changes a clue about?</a:t>
            </a:r>
          </a:p>
          <a:p>
            <a:r>
              <a:t>LISTEN FOR 'evidence' / 'a clue' / 'energy is there'</a:t>
            </a:r>
          </a:p>
          <a:p>
            <a:r>
              <a:t>LANGUAGE The Reader says 'evidence, or proof.' Teach and use the word EVIDENCE (it is in the Big Question). If a student says 'proof', accept it and restate: 'Yes - we say evidence.'</a:t>
            </a:r>
          </a:p>
          <a:p>
            <a:r>
              <a:t>REVEAL Keep the third box as '?' - students name it on the next slide's notes, then slide 16 completes the model.</a:t>
            </a:r>
          </a:p>
          <a:p>
            <a:r>
              <a:t>NEXT Record N1 on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N1 anchor</a:t>
            </a:r>
          </a:p>
          <a:p>
            <a:r>
              <a:t>TIME 2 min</a:t>
            </a:r>
          </a:p>
          <a:p>
            <a:r>
              <a:t>PLAN Session 1 (Mon 10/12) · REQUIRED · 2 min</a:t>
            </a:r>
          </a:p>
          <a:p>
            <a:r>
              <a:t>STUDENT RESOURCE Guided Notes N1 (Reader pp.1–2)</a:t>
            </a:r>
          </a:p>
          <a:p>
            <a:r>
              <a:t>ASK Fill in the one blank in the sentence. The last box of the model on the notes page is empty on purpose - do not fill it yet.</a:t>
            </a:r>
          </a:p>
          <a:p>
            <a:r>
              <a:t>LISTEN FOR evidence</a:t>
            </a:r>
          </a:p>
          <a:p>
            <a:r>
              <a:t>REVEAL Reveal after writing.</a:t>
            </a:r>
          </a:p>
          <a:p>
            <a:r>
              <a:t>NEXT Check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N1 reveal</a:t>
            </a:r>
          </a:p>
          <a:p>
            <a:r>
              <a:t>TIME 1 min</a:t>
            </a:r>
          </a:p>
          <a:p>
            <a:r>
              <a:t>PLAN Session 1 (Mon 10/12) · REQUIRED · 1 min</a:t>
            </a:r>
          </a:p>
          <a:p>
            <a:r>
              <a:t>STUDENT RESOURCE Guided Notes N1</a:t>
            </a:r>
          </a:p>
          <a:p>
            <a:r>
              <a:t>REVEAL evidence (accept 'proof' once, then restate 'evidence'). Students check their sentence, then copy the word into the empty last box of the model on the notes page.</a:t>
            </a:r>
          </a:p>
          <a:p>
            <a:r>
              <a:t>NEXT Close Session 1. Session 2 opens on slide 2 (the Big Question).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Read · forms</a:t>
            </a:r>
          </a:p>
          <a:p>
            <a:r>
              <a:t>TIME 3 min</a:t>
            </a:r>
          </a:p>
          <a:p>
            <a:r>
              <a:t>PLAN Session 2 (Tue 10/13) · REQUIRED · 3 min</a:t>
            </a:r>
          </a:p>
          <a:p>
            <a:r>
              <a:t>STUDENT RESOURCE Reader p.3</a:t>
            </a:r>
          </a:p>
          <a:p>
            <a:r>
              <a:t>ASK What forms of energy do you see or hear on a carousel?</a:t>
            </a:r>
          </a:p>
          <a:p>
            <a:r>
              <a:t>LISTEN FOR motion, sound, light, heat, electrical</a:t>
            </a:r>
          </a:p>
          <a:p>
            <a:r>
              <a:t>REVEAL Model ONLY the motion example. Do not supply examples for the other four forms - students write their own on slide 19.</a:t>
            </a:r>
          </a:p>
          <a:p>
            <a:r>
              <a:t>NEXT Record examples on notes (N2).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forms</a:t>
            </a:r>
          </a:p>
          <a:p>
            <a:r>
              <a:t>TIME 2 min</a:t>
            </a:r>
          </a:p>
          <a:p>
            <a:r>
              <a:t>PLAN Session 2 (Tue 10/13) · OPTIONAL - skip freely · 2 min</a:t>
            </a:r>
          </a:p>
          <a:p>
            <a:r>
              <a:t>STUDENT RESOURCE Reader p.3</a:t>
            </a:r>
          </a:p>
          <a:p>
            <a:r>
              <a:t>ASK What forms of energy can you observe when you clap?</a:t>
            </a:r>
          </a:p>
          <a:p>
            <a:r>
              <a:t>LISTEN FOR motion, sound, and maybe heat (students name them - not shown on the slide)</a:t>
            </a:r>
          </a:p>
          <a:p>
            <a:r>
              <a:t>NEXT Record N2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N2 anchor</a:t>
            </a:r>
          </a:p>
          <a:p>
            <a:r>
              <a:t>TIME 5 min</a:t>
            </a:r>
          </a:p>
          <a:p>
            <a:r>
              <a:t>PLAN Session 2 (Tue 10/13) · REQUIRED · 5 min</a:t>
            </a:r>
          </a:p>
          <a:p>
            <a:r>
              <a:t>STUDENT RESOURCE Guided Notes N2 (Reader p.3)</a:t>
            </a:r>
          </a:p>
          <a:p>
            <a:r>
              <a:t>ASK Write one example per form. Then turn &amp; talk: share two examples with a partner and add one new idea from your partner.</a:t>
            </a:r>
          </a:p>
          <a:p>
            <a:r>
              <a:t>LISTEN FOR carousel examples, clap examples, home/school examples - accept any real example that shows a change</a:t>
            </a:r>
          </a:p>
          <a:p>
            <a:r>
              <a:t>REVEAL There is no answer slide for N2. Circulate; use student examples as the check.</a:t>
            </a:r>
          </a:p>
          <a:p>
            <a:r>
              <a:t>NEXT Stored energy (V2).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Vocabulary · TEACH</a:t>
            </a:r>
          </a:p>
          <a:p>
            <a:r>
              <a:t>TIME 3 min</a:t>
            </a:r>
          </a:p>
          <a:p>
            <a:r>
              <a:t>PLAN Session 2 (Tue 10/13) · REQUIRED · 3 min</a:t>
            </a:r>
          </a:p>
          <a:p>
            <a:r>
              <a:t>STUDENT RESOURCE Guided Notes V2 (Reader p.4)</a:t>
            </a:r>
          </a:p>
          <a:p>
            <a:r>
              <a:t>ASK What does the word 'later' tell us about when the change can happen? (Save examples for slide 23.)</a:t>
            </a:r>
          </a:p>
          <a:p>
            <a:r>
              <a:t>LISTEN FOR 'not right now - after'</a:t>
            </a:r>
          </a:p>
          <a:p>
            <a:r>
              <a:t>REVEAL stored energy = ability to cause change at a later time.</a:t>
            </a:r>
          </a:p>
          <a:p>
            <a:r>
              <a:t>NEXT Record V2.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V2 anchor</a:t>
            </a:r>
          </a:p>
          <a:p>
            <a:r>
              <a:t>TIME 1 min</a:t>
            </a:r>
          </a:p>
          <a:p>
            <a:r>
              <a:t>PLAN Session 2 (Tue 10/13) · REQUIRED · 1 min</a:t>
            </a:r>
          </a:p>
          <a:p>
            <a:r>
              <a:t>STUDENT RESOURCE Guided Notes V2 (Reader p.4)</a:t>
            </a:r>
          </a:p>
          <a:p>
            <a:r>
              <a:t>ASK Fill in the blank.</a:t>
            </a:r>
          </a:p>
          <a:p>
            <a:r>
              <a:t>LISTEN FOR 'later'</a:t>
            </a:r>
          </a:p>
          <a:p>
            <a:r>
              <a:t>REVEAL Reveal after writing.</a:t>
            </a:r>
          </a:p>
          <a:p>
            <a:r>
              <a:t>NEXT Check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V2 reveal</a:t>
            </a:r>
          </a:p>
          <a:p>
            <a:r>
              <a:t>TIME 0.5 min</a:t>
            </a:r>
          </a:p>
          <a:p>
            <a:r>
              <a:t>PLAN Session 2 (Tue 10/13) · REQUIRED · 0.5 min</a:t>
            </a:r>
          </a:p>
          <a:p>
            <a:r>
              <a:t>STUDENT RESOURCE Guided Notes V2</a:t>
            </a:r>
          </a:p>
          <a:p>
            <a:r>
              <a:t>REVEAL later</a:t>
            </a:r>
          </a:p>
          <a:p>
            <a:r>
              <a:t>NEXT Objects can store energy (N3).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Read · predict</a:t>
            </a:r>
          </a:p>
          <a:p>
            <a:r>
              <a:t>TIME 2 min</a:t>
            </a:r>
          </a:p>
          <a:p>
            <a:r>
              <a:t>PLAN Session 2 (Tue 10/13) · REQUIRED · 2 min</a:t>
            </a:r>
          </a:p>
          <a:p>
            <a:r>
              <a:t>STUDENT RESOURCE Reader p.4</a:t>
            </a:r>
          </a:p>
          <a:p>
            <a:r>
              <a:t>ASK Does a still battery have energy? Take yes/no predictions and reasons - do not confirm yet.</a:t>
            </a:r>
          </a:p>
          <a:p>
            <a:r>
              <a:t>LISTEN FOR 'yes' / 'no' with a reason; accept any prediction</a:t>
            </a:r>
          </a:p>
          <a:p>
            <a:r>
              <a:t>REVEAL After students predict, read the battery paragraph on Reader p. 4 aloud: the chemicals inside a battery store energy. The screen stays a question; slide 25 shows the Reader fact.</a:t>
            </a:r>
          </a:p>
          <a:p>
            <a:r>
              <a:t>MISCONCEPTION Only moving objects have energy → pair moving + stored.</a:t>
            </a:r>
          </a:p>
          <a:p>
            <a:r>
              <a:t>NEXT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Read · position</a:t>
            </a:r>
          </a:p>
          <a:p>
            <a:r>
              <a:t>TIME 2 min</a:t>
            </a:r>
          </a:p>
          <a:p>
            <a:r>
              <a:t>PLAN Session 2 (Tue 10/13) · REQUIRED · 2 min</a:t>
            </a:r>
          </a:p>
          <a:p>
            <a:r>
              <a:t>STUDENT RESOURCE Reader p.5</a:t>
            </a:r>
          </a:p>
          <a:p>
            <a:r>
              <a:t>ASK Why does a raised apple have stored energy?</a:t>
            </a:r>
          </a:p>
          <a:p>
            <a:r>
              <a:t>LISTEN FOR 'because of its position'</a:t>
            </a:r>
          </a:p>
          <a:p>
            <a:r>
              <a:t>NEXT Build the stored-energy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Read · model</a:t>
            </a:r>
          </a:p>
          <a:p>
            <a:r>
              <a:t>TIME 2 min</a:t>
            </a:r>
          </a:p>
          <a:p>
            <a:r>
              <a:t>PLAN Session 2 (Tue 10/13) · REQUIRED · 2 min</a:t>
            </a:r>
          </a:p>
          <a:p>
            <a:r>
              <a:t>STUDENT RESOURCE Reader p.4</a:t>
            </a:r>
          </a:p>
          <a:p>
            <a:r>
              <a:t>REVEAL (closes the slide 23 prediction) The Reader says chemicals inside a battery store energy - so yes, a still battery has energy. Do not say what the flashlight does yet: students write that in the N3 table.</a:t>
            </a:r>
          </a:p>
          <a:p>
            <a:r>
              <a:t>ASK Trace: stored → release → change.</a:t>
            </a:r>
          </a:p>
          <a:p>
            <a:r>
              <a:t>LISTEN FOR rubber band SNAP example</a:t>
            </a:r>
          </a:p>
          <a:p>
            <a:r>
              <a:t>NEXT Record N3 on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N3 anchor</a:t>
            </a:r>
          </a:p>
          <a:p>
            <a:r>
              <a:t>TIME 4 min</a:t>
            </a:r>
          </a:p>
          <a:p>
            <a:r>
              <a:t>PLAN Session 2 (Tue 10/13) · REQUIRED · 4 min</a:t>
            </a:r>
          </a:p>
          <a:p>
            <a:r>
              <a:t>STUDENT RESOURCE Guided Notes N3 (Reader pp.4–5)</a:t>
            </a:r>
          </a:p>
          <a:p>
            <a:r>
              <a:t>ASK Fill in the blank; note the three examples.</a:t>
            </a:r>
          </a:p>
          <a:p>
            <a:r>
              <a:t>LISTEN FOR 'position'</a:t>
            </a:r>
          </a:p>
          <a:p>
            <a:r>
              <a:t>REVEAL Reveal after writing.</a:t>
            </a:r>
          </a:p>
          <a:p>
            <a:r>
              <a:t>NEXT Check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N3 reveal</a:t>
            </a:r>
          </a:p>
          <a:p>
            <a:r>
              <a:t>TIME 1 min</a:t>
            </a:r>
          </a:p>
          <a:p>
            <a:r>
              <a:t>PLAN Session 2 (Tue 10/13) · REQUIRED · 1 min</a:t>
            </a:r>
          </a:p>
          <a:p>
            <a:r>
              <a:t>STUDENT RESOURCE Guided Notes N3</a:t>
            </a:r>
          </a:p>
          <a:p>
            <a:r>
              <a:t>REVEAL position. Table cells show SAMPLE answers only - accept any reasonable later change.</a:t>
            </a:r>
          </a:p>
          <a:p>
            <a:r>
              <a:t>NEXT Close Session 2. Session 3 opens on slide 2 (the Big Question), then N4.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Read · evidence</a:t>
            </a:r>
          </a:p>
          <a:p>
            <a:r>
              <a:t>TIME 2 min</a:t>
            </a:r>
          </a:p>
          <a:p>
            <a:r>
              <a:t>PLAN Session 3 (Fri 10/16) · REQUIRED · 2 min</a:t>
            </a:r>
          </a:p>
          <a:p>
            <a:r>
              <a:t>STUDENT RESOURCE Reader pp.1–5</a:t>
            </a:r>
          </a:p>
          <a:p>
            <a:r>
              <a:t>ASK What clues could show that energy is at work? (Do not give the CHECK YOUR THINKING answer yet.)</a:t>
            </a:r>
          </a:p>
          <a:p>
            <a:r>
              <a:t>LISTEN FOR movement, sound, light, heat, something different</a:t>
            </a:r>
          </a:p>
          <a:p>
            <a:r>
              <a:t>LANGUAGE Say evidence (not proof).</a:t>
            </a:r>
          </a:p>
          <a:p>
            <a:r>
              <a:t>FRIDAY CLOCK The quiz is handed out NO LATER THAN MINUTE 12. Priority: N4 draw &gt; BQ NOW I THINK &gt; CHECK YOUR THINKING. Minute 6: N4 should be done.</a:t>
            </a:r>
          </a:p>
          <a:p>
            <a:r>
              <a:t>NEXT Draw before/after (N4).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N4 anchor</a:t>
            </a:r>
          </a:p>
          <a:p>
            <a:r>
              <a:t>TIME 3.5 min</a:t>
            </a:r>
          </a:p>
          <a:p>
            <a:r>
              <a:t>PLAN Session 3 (Fri 10/16) · REQUIRED · 3.5 min</a:t>
            </a:r>
          </a:p>
          <a:p>
            <a:r>
              <a:t>STUDENT RESOURCE Guided Notes N4 (Reader pp.1–5)</a:t>
            </a:r>
          </a:p>
          <a:p>
            <a:r>
              <a:t>ASK Draw one change before and after; write what changed.</a:t>
            </a:r>
          </a:p>
          <a:p>
            <a:r>
              <a:t>LISTEN FOR clear before/after pairs</a:t>
            </a:r>
          </a:p>
          <a:p>
            <a:r>
              <a:t>NEXT Check your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Check Your Thinking</a:t>
            </a:r>
          </a:p>
          <a:p>
            <a:r>
              <a:t>TIME 2.5 min</a:t>
            </a:r>
          </a:p>
          <a:p>
            <a:r>
              <a:t>PLAN Session 3 (Fri 10/16) · REQUIRED · 2.5 min</a:t>
            </a:r>
          </a:p>
          <a:p>
            <a:r>
              <a:t>STUDENT RESOURCE Guided Notes N4</a:t>
            </a:r>
          </a:p>
          <a:p>
            <a:r>
              <a:t>FRIDAY CLOCK Past minute 6 when you reach this slide? SKIP slides 30-31 (CHECK YOUR THINKING goes home / catch-up) and go straight to slide 33.</a:t>
            </a:r>
          </a:p>
          <a:p>
            <a:r>
              <a:t>ASK Complete the sentence starter.</a:t>
            </a:r>
          </a:p>
          <a:p>
            <a:r>
              <a:t>LISTEN FOR 'a change, like a ball starting to move'</a:t>
            </a:r>
          </a:p>
          <a:p>
            <a:r>
              <a:t>REVEAL Do not show slide 31 until most students have written.</a:t>
            </a:r>
          </a:p>
          <a:p>
            <a:r>
              <a:t>NEXT Reveal a sample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evidence</a:t>
            </a:r>
          </a:p>
          <a:p>
            <a:r>
              <a:t>TIME 1 min</a:t>
            </a:r>
          </a:p>
          <a:p>
            <a:r>
              <a:t>PLAN Session 3 (Fri 10/16) · REQUIRED · 1 min</a:t>
            </a:r>
          </a:p>
          <a:p>
            <a:r>
              <a:t>STUDENT RESOURCE Guided Notes N4</a:t>
            </a:r>
          </a:p>
          <a:p>
            <a:r>
              <a:t>REVEAL Sample response (accept any change-as-evidence).</a:t>
            </a:r>
          </a:p>
          <a:p>
            <a:r>
              <a:t>NEXT Apply: classify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Apply · evidence</a:t>
            </a:r>
          </a:p>
          <a:p>
            <a:r>
              <a:t>TIME 2 min</a:t>
            </a:r>
          </a:p>
          <a:p>
            <a:r>
              <a:t>PLAN Session 3 (Fri 10/16) · OPTIONAL - skip freely · 2 min</a:t>
            </a:r>
          </a:p>
          <a:p>
            <a:r>
              <a:t>STUDENT RESOURCE none</a:t>
            </a:r>
          </a:p>
          <a:p>
            <a:r>
              <a:t>ASK Which one shows a change (energy at work)?</a:t>
            </a:r>
          </a:p>
          <a:p>
            <a:r>
              <a:t>LISTEN FOR 'the toy car'</a:t>
            </a:r>
          </a:p>
          <a:p>
            <a:r>
              <a:t>REVEAL The toy car starts to roll — a change. Then say aloud: 'Look for a change — that is the evidence of energy.' (Spoken after the vote; it is not on the question slide.)</a:t>
            </a:r>
          </a:p>
          <a:p>
            <a:r>
              <a:t>NEXT Return to the Big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BQ return</a:t>
            </a:r>
          </a:p>
          <a:p>
            <a:r>
              <a:t>TIME 2.5 min</a:t>
            </a:r>
          </a:p>
          <a:p>
            <a:r>
              <a:t>PLAN Session 3 (Fri 10/16) · REQUIRED · 2.5 min</a:t>
            </a:r>
          </a:p>
          <a:p>
            <a:r>
              <a:t>STUDENT RESOURCE Guided Notes p.3</a:t>
            </a:r>
          </a:p>
          <a:p>
            <a:r>
              <a:t>FRIDAY CLOCK Start this slide by minute 9.5; if you are later, do NOT start it before the quiz - students write it after handing in the quiz or at home / in catch-up. The quiz is handed out by minute 12.</a:t>
            </a:r>
          </a:p>
          <a:p>
            <a:r>
              <a:t>ASK Answer the Big Question now.</a:t>
            </a:r>
          </a:p>
          <a:p>
            <a:r>
              <a:t>LISTEN FOR any change named as evidence</a:t>
            </a:r>
          </a:p>
          <a:p>
            <a:r>
              <a:t>NEXT Friday quiz (Session 3). Optional end-of-chapter review slides 34-45 are for a review day or FLEX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Q1</a:t>
            </a:r>
          </a:p>
          <a:p>
            <a:r>
              <a:t>TIME 1 min</a:t>
            </a:r>
          </a:p>
          <a:p>
            <a:r>
              <a:t>PLAN OPTIONAL · end-of-chapter review (review day / Friday FLEX only; never inside a required block) · 1 min</a:t>
            </a:r>
          </a:p>
          <a:p>
            <a:r>
              <a:t>STUDENT RESOURCE none</a:t>
            </a:r>
          </a:p>
          <a:p>
            <a:r>
              <a:t>ASK Read aloud; students vote A/B/C/D.</a:t>
            </a:r>
          </a:p>
          <a:p>
            <a:r>
              <a:t>REVEAL Do not reveal yet.</a:t>
            </a:r>
          </a:p>
          <a:p>
            <a:r>
              <a:t>NEXT Reveal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Q1 answer</a:t>
            </a:r>
          </a:p>
          <a:p>
            <a:r>
              <a:t>TIME 0.5 min</a:t>
            </a:r>
          </a:p>
          <a:p>
            <a:r>
              <a:t>PLAN OPTIONAL · end-of-chapter review (review day / Friday FLEX only; never inside a required block) · 0.5 min</a:t>
            </a:r>
          </a:p>
          <a:p>
            <a:r>
              <a:t>REVEAL the ability to cause change</a:t>
            </a:r>
          </a:p>
          <a:p>
            <a:r>
              <a:t>NEXT Next question (or close).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Q2</a:t>
            </a:r>
          </a:p>
          <a:p>
            <a:r>
              <a:t>TIME 1 min</a:t>
            </a:r>
          </a:p>
          <a:p>
            <a:r>
              <a:t>PLAN OPTIONAL · end-of-chapter review (review day / Friday FLEX only; never inside a required block) · 1 min</a:t>
            </a:r>
          </a:p>
          <a:p>
            <a:r>
              <a:t>STUDENT RESOURCE none</a:t>
            </a:r>
          </a:p>
          <a:p>
            <a:r>
              <a:t>ASK Read aloud; students vote A/B/C/D.</a:t>
            </a:r>
          </a:p>
          <a:p>
            <a:r>
              <a:t>REVEAL Do not reveal yet.</a:t>
            </a:r>
          </a:p>
          <a:p>
            <a:r>
              <a:t>NEXT Reveal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Q2 answer</a:t>
            </a:r>
          </a:p>
          <a:p>
            <a:r>
              <a:t>TIME 0.5 min</a:t>
            </a:r>
          </a:p>
          <a:p>
            <a:r>
              <a:t>PLAN OPTIONAL · end-of-chapter review (review day / Friday FLEX only; never inside a required block) · 0.5 min</a:t>
            </a:r>
          </a:p>
          <a:p>
            <a:r>
              <a:t>REVEAL It gets shorter and sharper</a:t>
            </a:r>
          </a:p>
          <a:p>
            <a:r>
              <a:t>NEXT Next question (or close).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Q3</a:t>
            </a:r>
          </a:p>
          <a:p>
            <a:r>
              <a:t>TIME 1 min</a:t>
            </a:r>
          </a:p>
          <a:p>
            <a:r>
              <a:t>PLAN OPTIONAL · end-of-chapter review (review day / Friday FLEX only; never inside a required block) · 1 min</a:t>
            </a:r>
          </a:p>
          <a:p>
            <a:r>
              <a:t>STUDENT RESOURCE none</a:t>
            </a:r>
          </a:p>
          <a:p>
            <a:r>
              <a:t>ASK Read aloud; students vote A/B/C/D.</a:t>
            </a:r>
          </a:p>
          <a:p>
            <a:r>
              <a:t>REVEAL Do not reveal yet.</a:t>
            </a:r>
          </a:p>
          <a:p>
            <a:r>
              <a:t>NEXT Reveal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Q3 answer</a:t>
            </a:r>
          </a:p>
          <a:p>
            <a:r>
              <a:t>TIME 0.5 min</a:t>
            </a:r>
          </a:p>
          <a:p>
            <a:r>
              <a:t>PLAN OPTIONAL · end-of-chapter review (review day / Friday FLEX only; never inside a required block) · 0.5 min</a:t>
            </a:r>
          </a:p>
          <a:p>
            <a:r>
              <a:t>REVEAL A stretched rubber band</a:t>
            </a:r>
          </a:p>
          <a:p>
            <a:r>
              <a:t>NEXT Next question (or close).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Q4</a:t>
            </a:r>
          </a:p>
          <a:p>
            <a:r>
              <a:t>TIME 1 min</a:t>
            </a:r>
          </a:p>
          <a:p>
            <a:r>
              <a:t>PLAN OPTIONAL · end-of-chapter review (review day / Friday FLEX only; never inside a required block) · 1 min</a:t>
            </a:r>
          </a:p>
          <a:p>
            <a:r>
              <a:t>STUDENT RESOURCE none</a:t>
            </a:r>
          </a:p>
          <a:p>
            <a:r>
              <a:t>ASK Read aloud; students vote A/B/C/D.</a:t>
            </a:r>
          </a:p>
          <a:p>
            <a:r>
              <a:t>REVEAL Do not reveal yet.</a:t>
            </a:r>
          </a:p>
          <a:p>
            <a:r>
              <a:t>NEXT Reveal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Q4 answer</a:t>
            </a:r>
          </a:p>
          <a:p>
            <a:r>
              <a:t>TIME 0.5 min</a:t>
            </a:r>
          </a:p>
          <a:p>
            <a:r>
              <a:t>PLAN OPTIONAL · end-of-chapter review (review day / Friday FLEX only; never inside a required block) · 0.5 min</a:t>
            </a:r>
          </a:p>
          <a:p>
            <a:r>
              <a:t>REVEAL motion and sound</a:t>
            </a:r>
          </a:p>
          <a:p>
            <a:r>
              <a:t>NEXT Next question (or close).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Q5</a:t>
            </a:r>
          </a:p>
          <a:p>
            <a:r>
              <a:t>TIME 1 min</a:t>
            </a:r>
          </a:p>
          <a:p>
            <a:r>
              <a:t>PLAN OPTIONAL · end-of-chapter review (review day / Friday FLEX only; never inside a required block) · 1 min</a:t>
            </a:r>
          </a:p>
          <a:p>
            <a:r>
              <a:t>STUDENT RESOURCE none</a:t>
            </a:r>
          </a:p>
          <a:p>
            <a:r>
              <a:t>ASK Read aloud; students vote A/B/C/D.</a:t>
            </a:r>
          </a:p>
          <a:p>
            <a:r>
              <a:t>REVEAL Do not reveal yet.</a:t>
            </a:r>
          </a:p>
          <a:p>
            <a:r>
              <a:t>NEXT Reveal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Q5 answer</a:t>
            </a:r>
          </a:p>
          <a:p>
            <a:r>
              <a:t>TIME 0.5 min</a:t>
            </a:r>
          </a:p>
          <a:p>
            <a:r>
              <a:t>PLAN OPTIONAL · end-of-chapter review (review day / Friday FLEX only; never inside a required block) · 0.5 min</a:t>
            </a:r>
          </a:p>
          <a:p>
            <a:r>
              <a:t>REVEAL We observe a change happen</a:t>
            </a:r>
          </a:p>
          <a:p>
            <a:r>
              <a:t>NEXT Next question (or close).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Q6</a:t>
            </a:r>
          </a:p>
          <a:p>
            <a:r>
              <a:t>TIME 1 min</a:t>
            </a:r>
          </a:p>
          <a:p>
            <a:r>
              <a:t>PLAN OPTIONAL · end-of-chapter review (review day / Friday FLEX only; never inside a required block) · 1 min</a:t>
            </a:r>
          </a:p>
          <a:p>
            <a:r>
              <a:t>STUDENT RESOURCE none</a:t>
            </a:r>
          </a:p>
          <a:p>
            <a:r>
              <a:t>ASK Read aloud; students vote A/B/C/D.</a:t>
            </a:r>
          </a:p>
          <a:p>
            <a:r>
              <a:t>REVEAL Do not reveal yet.</a:t>
            </a:r>
          </a:p>
          <a:p>
            <a:r>
              <a:t>NEXT Reveal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Q6 answer</a:t>
            </a:r>
          </a:p>
          <a:p>
            <a:r>
              <a:t>TIME 0.5 min</a:t>
            </a:r>
          </a:p>
          <a:p>
            <a:r>
              <a:t>PLAN OPTIONAL · end-of-chapter review (review day / Friday FLEX only; never inside a required block) · 0.5 min</a:t>
            </a:r>
          </a:p>
          <a:p>
            <a:r>
              <a:t>REVEAL Yes — stored energy that can cause change later</a:t>
            </a:r>
          </a:p>
          <a:p>
            <a:r>
              <a:t>NEXT Next question (or close).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1-opener-643x7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54496" y="0"/>
            <a:ext cx="54864" cy="6858000"/>
          </a:xfrm>
          <a:prstGeom prst="rect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566928"/>
            <a:ext cx="4023360" cy="50292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venir Next"/>
              </a:rPr>
              <a:t>CHAPTER 1 · GRADE 4 · 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5486400" cy="14630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800" b="1" i="0">
                <a:solidFill>
                  <a:srgbClr val="FFFFFF"/>
                </a:solidFill>
                <a:latin typeface="Georgia"/>
              </a:rPr>
              <a:t>Energy Causes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98648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D8DCE4"/>
                </a:solidFill>
                <a:latin typeface="Avenir Next"/>
              </a:rPr>
              <a:t>Discovery /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65576"/>
            <a:ext cx="5486400" cy="853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FFFFFF"/>
                </a:solidFill>
                <a:latin typeface="Avenir Next"/>
              </a:rPr>
              <a:t>Where can we observe evidence of energy causing change?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666488"/>
            <a:ext cx="1584960" cy="65836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ENERGY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15896" y="4849368"/>
            <a:ext cx="29260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45080" y="4666488"/>
            <a:ext cx="1584960" cy="658368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6616" y="4849368"/>
            <a:ext cx="29260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95799" y="4666488"/>
            <a:ext cx="1584960" cy="65836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623560"/>
            <a:ext cx="5486400" cy="7315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D8DCE4"/>
                </a:solidFill>
                <a:latin typeface="Avenir Next"/>
              </a:rPr>
              <a:t>Unit 1 · Energy Transfer &amp;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BQ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23960" y="329184"/>
            <a:ext cx="251460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TURN &amp;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7A5620"/>
                </a:solidFill>
                <a:latin typeface="Avenir Next"/>
              </a:rPr>
              <a:t>Big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1183112" cy="173736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515600" cy="1280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3400" b="1" i="0">
                <a:solidFill>
                  <a:srgbClr val="FFFFFF"/>
                </a:solidFill>
                <a:latin typeface="Avenir Next"/>
              </a:rPr>
              <a:t>Where can we observe evidence of energy causing change?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4A5268"/>
                </a:solidFill>
                <a:latin typeface="Avenir Next"/>
              </a:rPr>
              <a:t>Keep it in mind all chapter. We will come back to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8056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Think: What is ONE change you have seen happen?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BQ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Big Question — My first thinking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p.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F2A5A"/>
                </a:solidFill>
                <a:latin typeface="Avenir Next"/>
              </a:rPr>
              <a:t>Where can we observe evidence of energy causing change?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My first thinking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749039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4389120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0749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Write 1–2 quick ideas. No wrong answer yet.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9184"/>
            <a:ext cx="196596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OBSERVE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What changed?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1 — you walk into a dark room and flip a switch.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3794759" cy="393928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3428999" cy="391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DARK room</a:t>
            </a:r>
          </a:p>
        </p:txBody>
      </p:sp>
      <p:pic>
        <p:nvPicPr>
          <p:cNvPr id="10" name="Picture 9" descr="s04-dark-375x2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2832608"/>
            <a:ext cx="3429000" cy="2571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514086"/>
            <a:ext cx="3428999" cy="391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hard to see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1999" y="2148840"/>
            <a:ext cx="3794759" cy="393928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2331720"/>
            <a:ext cx="3428999" cy="391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BRIGHT room</a:t>
            </a:r>
          </a:p>
        </p:txBody>
      </p:sp>
      <p:pic>
        <p:nvPicPr>
          <p:cNvPr id="14" name="Picture 13" descr="s04-bright-375x2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79" y="2832608"/>
            <a:ext cx="3429000" cy="25717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54879" y="5514086"/>
            <a:ext cx="3428999" cy="391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light fills the room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1080" y="2148840"/>
            <a:ext cx="73152" cy="3939286"/>
          </a:xfrm>
          <a:prstGeom prst="rect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2148840"/>
            <a:ext cx="2770632" cy="393928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Something became different.
That is a change.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23960" y="329184"/>
            <a:ext cx="251460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TURN &amp;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I notice…  I wonder…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51206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A67C16"/>
                </a:solidFill>
                <a:latin typeface="Avenir Next"/>
              </a:rPr>
              <a:t>I NOTICE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26080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room is different now.
Light is everywhere.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51206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A67C16"/>
                </a:solidFill>
                <a:latin typeface="Avenir Next"/>
              </a:rPr>
              <a:t>I WONDER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926080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What made the light
change so fast?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3035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Share one notice and one wonder with a partner.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9184"/>
            <a:ext cx="196596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OBSERVE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Electric Pencil Sharpener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Observe the pencil BEFORE we sharpen it.</a:t>
            </a:r>
          </a:p>
        </p:txBody>
      </p:sp>
      <p:pic>
        <p:nvPicPr>
          <p:cNvPr id="8" name="Picture 7" descr="s06-pen_before-740x3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6766560" cy="3429000"/>
          </a:xfrm>
          <a:prstGeom prst="rect">
            <a:avLst/>
          </a:prstGeom>
          <a:ln w="15875">
            <a:solidFill>
              <a:srgbClr val="D8DCE4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543800" y="2103120"/>
            <a:ext cx="4142232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2331720"/>
            <a:ext cx="359359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A67C16"/>
                </a:solidFill>
                <a:latin typeface="Avenir Next"/>
              </a:rP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926080"/>
            <a:ext cx="3593592" cy="2377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A dull pencil — tip is flat, and it is quiet.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760720"/>
            <a:ext cx="1118311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Look closely. What do you see? What do you hear?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09760" y="329184"/>
            <a:ext cx="182880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PREDICT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Predict: what will change?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Think before we turn it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37744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65176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When the sharpener runs, the pencil will…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91840"/>
            <a:ext cx="886968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get  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12064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Make a prediction. Say it to your partner.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9184"/>
            <a:ext cx="196596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OBSERVE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What changed?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3566160" cy="42301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3200400" cy="391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BEFORE</a:t>
            </a:r>
          </a:p>
        </p:txBody>
      </p:sp>
      <p:pic>
        <p:nvPicPr>
          <p:cNvPr id="9" name="Picture 8" descr="s08-pen_before-350x2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12568"/>
            <a:ext cx="3200400" cy="2400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022596"/>
            <a:ext cx="3200400" cy="853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dull tip · quiet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566160" cy="42301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011680"/>
            <a:ext cx="3200400" cy="391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AFTER</a:t>
            </a:r>
          </a:p>
        </p:txBody>
      </p:sp>
      <p:pic>
        <p:nvPicPr>
          <p:cNvPr id="13" name="Picture 12" descr="s08-pen_after-350x2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512568"/>
            <a:ext cx="3200400" cy="2400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26280" y="5022596"/>
            <a:ext cx="3200400" cy="853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shorter · sharper · humming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828800"/>
            <a:ext cx="3502152" cy="4230116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9525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01168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7A5620"/>
                </a:solidFill>
                <a:latin typeface="Avenir Next"/>
              </a:rPr>
              <a:t>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60320"/>
            <a:ext cx="3108960" cy="33157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• the tip is sharper
• the pencil is shorter
• it makes a sound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29184"/>
            <a:ext cx="17830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EXPLAIN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How do we know energy was involved?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Energy can be invisible. We look for the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688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ENERGY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14215" y="2779776"/>
            <a:ext cx="38404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24688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63255" y="2779776"/>
            <a:ext cx="38404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83879" y="24688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31920"/>
            <a:ext cx="1069848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The pencil got shorter and sharper and made a sound.
Those changes are clues that energy was involved.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Vocabulary — Energy &amp;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544068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5440680" cy="146304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51960" y="2295144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1F2A5A"/>
                </a:solidFill>
                <a:latin typeface="Avenir Next"/>
              </a:rPr>
              <a:t>TEACH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333756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7A5620"/>
                </a:solidFill>
                <a:latin typeface="Avenir Next"/>
              </a:rPr>
              <a:t>VOCABULARY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98648"/>
            <a:ext cx="2560320" cy="7909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1F2A5A"/>
                </a:solidFill>
                <a:latin typeface="Georgia"/>
              </a:rPr>
              <a:t>energy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44468"/>
            <a:ext cx="2560320" cy="853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ability to cause change</a:t>
            </a:r>
          </a:p>
        </p:txBody>
      </p:sp>
      <p:pic>
        <p:nvPicPr>
          <p:cNvPr id="13" name="Picture 12" descr="s10-energy-220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898648"/>
            <a:ext cx="2011680" cy="1984248"/>
          </a:xfrm>
          <a:prstGeom prst="rect">
            <a:avLst/>
          </a:prstGeom>
          <a:ln w="15875">
            <a:solidFill>
              <a:srgbClr val="D8DCE4"/>
            </a:solidFill>
          </a:ln>
        </p:spPr>
      </p:pic>
      <p:sp>
        <p:nvSpPr>
          <p:cNvPr id="14" name="Rounded Rectangle 13"/>
          <p:cNvSpPr/>
          <p:nvPr/>
        </p:nvSpPr>
        <p:spPr>
          <a:xfrm>
            <a:off x="822960" y="5065776"/>
            <a:ext cx="4800600" cy="822960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9525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5193792"/>
            <a:ext cx="2034540" cy="56692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ENERGY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012948" y="5349240"/>
            <a:ext cx="420624" cy="256032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51860" y="5193792"/>
            <a:ext cx="2034540" cy="566928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80176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4A5268"/>
                </a:solidFill>
                <a:latin typeface="Avenir Next"/>
              </a:rPr>
              <a:t>Reader p.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1965960"/>
            <a:ext cx="544068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5352" y="1965960"/>
            <a:ext cx="5440680" cy="146304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994392" y="2295144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1F2A5A"/>
                </a:solidFill>
                <a:latin typeface="Avenir Next"/>
              </a:rPr>
              <a:t>TEACH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331720"/>
            <a:ext cx="333756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7A5620"/>
                </a:solidFill>
                <a:latin typeface="Avenir Next"/>
              </a:rPr>
              <a:t>VOCABULARY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2898648"/>
            <a:ext cx="2560320" cy="7909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1F2A5A"/>
                </a:solidFill>
                <a:latin typeface="Georgia"/>
              </a:rPr>
              <a:t>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3744468"/>
            <a:ext cx="2560320" cy="853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to become different</a:t>
            </a:r>
          </a:p>
        </p:txBody>
      </p:sp>
      <p:pic>
        <p:nvPicPr>
          <p:cNvPr id="25" name="Picture 24" descr="s10-pen_before-220x1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4312" y="2898648"/>
            <a:ext cx="2011680" cy="946403"/>
          </a:xfrm>
          <a:prstGeom prst="rect">
            <a:avLst/>
          </a:prstGeom>
          <a:ln w="15875">
            <a:solidFill>
              <a:srgbClr val="D8DCE4"/>
            </a:solidFill>
          </a:ln>
        </p:spPr>
      </p:pic>
      <p:pic>
        <p:nvPicPr>
          <p:cNvPr id="26" name="Picture 25" descr="s10-pen_after-220x1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312" y="3936491"/>
            <a:ext cx="2011680" cy="946403"/>
          </a:xfrm>
          <a:prstGeom prst="rect">
            <a:avLst/>
          </a:prstGeom>
          <a:ln w="15875">
            <a:solidFill>
              <a:srgbClr val="D8DCE4"/>
            </a:solidFill>
          </a:ln>
        </p:spPr>
      </p:pic>
      <p:sp>
        <p:nvSpPr>
          <p:cNvPr id="27" name="Rounded Rectangle 26"/>
          <p:cNvSpPr/>
          <p:nvPr/>
        </p:nvSpPr>
        <p:spPr>
          <a:xfrm>
            <a:off x="6565392" y="5065776"/>
            <a:ext cx="4800600" cy="822960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9525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02552" y="5193792"/>
            <a:ext cx="2034540" cy="56692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BEFORE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755380" y="5349240"/>
            <a:ext cx="420624" cy="256032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94292" y="5193792"/>
            <a:ext cx="2034540" cy="566928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AFTER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5980176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4A5268"/>
                </a:solidFill>
                <a:latin typeface="Avenir Next"/>
              </a:rPr>
              <a:t>Reader p.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Vocabulary — Energy &amp;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p.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energy — the ability to cause </a:t>
            </a:r>
            <a:r>
              <a:rPr sz="3000" b="0" i="0" u="sng">
                <a:solidFill>
                  <a:srgbClr val="1A1D26"/>
                </a:solidFill>
                <a:latin typeface="Avenir Next"/>
              </a:rPr>
              <a:t>_______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918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change — to become </a:t>
            </a:r>
            <a:r>
              <a:rPr sz="3000" b="0" i="0" u="sng">
                <a:solidFill>
                  <a:srgbClr val="1A1D26"/>
                </a:solidFill>
                <a:latin typeface="Avenir Next"/>
              </a:rPr>
              <a:t>_________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Write the missing word in each blank.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Vocabulary — Energy &amp;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p.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energy — the ability to cause </a:t>
            </a:r>
            <a:r>
              <a:rPr sz="3000" b="1" i="0">
                <a:solidFill>
                  <a:srgbClr val="A67C16"/>
                </a:solidFill>
                <a:latin typeface="Avenir Next"/>
              </a:rPr>
              <a:t>change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918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change — to become </a:t>
            </a:r>
            <a:r>
              <a:rPr sz="3000" b="1" i="0">
                <a:solidFill>
                  <a:srgbClr val="A67C16"/>
                </a:solidFill>
                <a:latin typeface="Avenir Next"/>
              </a:rPr>
              <a:t>different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change  ·  different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38360" y="329184"/>
            <a:ext cx="160020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RECITE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What is energy?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10789920" cy="201168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9966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3800" b="1" i="0">
                <a:solidFill>
                  <a:srgbClr val="FFFFFF"/>
                </a:solidFill>
                <a:latin typeface="Avenir Next"/>
              </a:rPr>
              <a:t>Energy is the ability to cause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200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Say it together: “Energy is the ability to cause change.”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329184"/>
            <a:ext cx="150876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Look at the seashore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2 — the seashore changes all around us.</a:t>
            </a:r>
          </a:p>
        </p:txBody>
      </p:sp>
      <p:pic>
        <p:nvPicPr>
          <p:cNvPr id="8" name="Picture 7" descr="s14-seashore-660x3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6035040" cy="3246120"/>
          </a:xfrm>
          <a:prstGeom prst="rect">
            <a:avLst/>
          </a:prstGeom>
          <a:ln w="15875">
            <a:solidFill>
              <a:srgbClr val="D8DCE4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502920" y="5559552"/>
            <a:ext cx="3422904" cy="77724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3000" b="1" i="0">
                <a:solidFill>
                  <a:srgbClr val="FFFFFF"/>
                </a:solidFill>
                <a:latin typeface="Avenir Next"/>
              </a:rPr>
              <a:t>ENERGY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62400" y="5801868"/>
            <a:ext cx="38404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3024" y="5559552"/>
            <a:ext cx="3422904" cy="777240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30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42504" y="5801868"/>
            <a:ext cx="38404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63128" y="5559552"/>
            <a:ext cx="3422904" cy="77724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3000" b="1" i="0">
                <a:solidFill>
                  <a:srgbClr val="FFFFFF"/>
                </a:solidFill>
                <a:latin typeface="Avenir Next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103120"/>
            <a:ext cx="4873752" cy="3246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Read Reader p. 2.
Waves move. Sand shifts. Water makes sound.
What are these changes a clue about?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Energy Causes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pp.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Energy has the ability to cause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When you see a change, you are seeing </a:t>
            </a:r>
            <a:r>
              <a:rPr sz="3000" b="0" i="0" u="sng">
                <a:solidFill>
                  <a:srgbClr val="1A1D26"/>
                </a:solidFill>
                <a:latin typeface="Avenir Next"/>
              </a:rPr>
              <a:t>_________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of energy.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1148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Write the missing word in the sentence. Leave the last box of your model empty for now.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Energy Causes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pp.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Energy has the ability to cause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When you see a change, you are seeing </a:t>
            </a:r>
            <a:r>
              <a:rPr sz="3000" b="1" i="0">
                <a:solidFill>
                  <a:srgbClr val="A67C16"/>
                </a:solidFill>
                <a:latin typeface="Avenir Next"/>
              </a:rPr>
              <a:t>evidence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of energy.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114800"/>
            <a:ext cx="2773680" cy="82296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ENERGY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81856" y="4379976"/>
            <a:ext cx="33832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56760" y="4114800"/>
            <a:ext cx="2773680" cy="822960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367015" y="4379976"/>
            <a:ext cx="33832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41920" y="4114800"/>
            <a:ext cx="2773680" cy="82296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257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Now write the same word in the last box of your model.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Energy has different 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3 — think of a spinning carousel.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1" y="2103120"/>
            <a:ext cx="2103120" cy="2697479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17-f_motion-213x1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3" y="2176272"/>
            <a:ext cx="1956815" cy="180136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4068" y="3995927"/>
            <a:ext cx="2029967" cy="768096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motion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5204" y="2103120"/>
            <a:ext cx="2103120" cy="2697479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17-f_sound-213x1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356" y="2176272"/>
            <a:ext cx="1956815" cy="180136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811780" y="3995927"/>
            <a:ext cx="2029967" cy="768096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sound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2916" y="2103120"/>
            <a:ext cx="2103120" cy="2697479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17-f_light-213x1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068" y="2176272"/>
            <a:ext cx="1956815" cy="1801367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079492" y="3995927"/>
            <a:ext cx="2029967" cy="768096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0627" y="2103120"/>
            <a:ext cx="2103120" cy="2697479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17-f_heat-213x19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779" y="2176272"/>
            <a:ext cx="1956815" cy="1801367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347203" y="3995927"/>
            <a:ext cx="2029967" cy="768096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heat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78340" y="2103120"/>
            <a:ext cx="2103120" cy="2697479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17-f_elec-213x19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1492" y="2176272"/>
            <a:ext cx="1956815" cy="1801367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614915" y="3995927"/>
            <a:ext cx="2029967" cy="768096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electrical energy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983480"/>
            <a:ext cx="11183112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On the carousel, the horses spin and move up and down.
That is motion.
Find the other forms in the Reader.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9184"/>
            <a:ext cx="196596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OBSERVE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Clap three times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What forms of energy do you observe?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286000"/>
            <a:ext cx="94183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60604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When you clap…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91840"/>
            <a:ext cx="886968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What do you SEE?
What do you HEAR?
What do you FEEL in your hands?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Energy Occurs in Different 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p.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1A1D26"/>
                </a:solidFill>
                <a:latin typeface="Avenir Next"/>
              </a:rPr>
              <a:t>Write one example that shows a change for each form.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606040"/>
            <a:ext cx="3108960" cy="548640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FFFFFF"/>
                </a:solidFill>
                <a:latin typeface="Avenir Next"/>
              </a:rPr>
              <a:t>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4488" y="2606040"/>
            <a:ext cx="7781544" cy="548640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41648" y="2715768"/>
            <a:ext cx="750722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FFFFFF"/>
                </a:solidFill>
                <a:latin typeface="Avenir Next"/>
              </a:rPr>
              <a:t>ONE EXAMPLE THAT SHOWS A CHANGE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154680"/>
            <a:ext cx="3108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46120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motion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04488" y="3154680"/>
            <a:ext cx="778154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794760"/>
            <a:ext cx="3108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sound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04488" y="3794760"/>
            <a:ext cx="778154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434840"/>
            <a:ext cx="3108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26279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light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04488" y="4434840"/>
            <a:ext cx="778154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5074920"/>
            <a:ext cx="3108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166359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heat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04488" y="5074920"/>
            <a:ext cx="778154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5715000"/>
            <a:ext cx="3108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806440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electrical energy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04488" y="5715000"/>
            <a:ext cx="778154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Vocabulary — Stored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4</a:t>
            </a:r>
          </a:p>
        </p:txBody>
      </p:sp>
      <p:pic>
        <p:nvPicPr>
          <p:cNvPr id="7" name="Picture 6" descr="s20-stored_hero-500x4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5960"/>
            <a:ext cx="4572000" cy="4434840"/>
          </a:xfrm>
          <a:prstGeom prst="rect">
            <a:avLst/>
          </a:prstGeom>
          <a:ln w="15875">
            <a:solidFill>
              <a:srgbClr val="D8DCE4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349240" y="1965960"/>
            <a:ext cx="6336792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9240" y="1965960"/>
            <a:ext cx="6336792" cy="146304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994392" y="2295144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1F2A5A"/>
                </a:solidFill>
                <a:latin typeface="Avenir Next"/>
              </a:rPr>
              <a:t>TEACH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79" y="2331720"/>
            <a:ext cx="423367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7A5620"/>
                </a:solidFill>
                <a:latin typeface="Avenir Next"/>
              </a:rPr>
              <a:t>VOCABULARY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79" y="2898648"/>
            <a:ext cx="5696712" cy="7909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1F2A5A"/>
                </a:solidFill>
                <a:latin typeface="Georgia"/>
              </a:rPr>
              <a:t>stored energy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79" y="3744468"/>
            <a:ext cx="5696712" cy="853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energy that has the ability to cause change at a later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79" y="4780788"/>
            <a:ext cx="5696712" cy="822960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9525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06440" y="4908804"/>
            <a:ext cx="1502664" cy="56692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STILL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327392" y="5064252"/>
            <a:ext cx="420624" cy="256032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66303" y="4908804"/>
            <a:ext cx="1502664" cy="566928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LATER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287255" y="5064252"/>
            <a:ext cx="420624" cy="256032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26168" y="4908804"/>
            <a:ext cx="1502664" cy="566928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79" y="5980176"/>
            <a:ext cx="569671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4A5268"/>
                </a:solidFill>
                <a:latin typeface="Avenir Next"/>
              </a:rPr>
              <a:t>Reader p.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Vocabulary — Stored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p.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1005840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stored energy — energy that has the ability to cause change at a </a:t>
            </a:r>
            <a:r>
              <a:rPr sz="3000" b="0" i="0" u="sng">
                <a:solidFill>
                  <a:srgbClr val="1A1D26"/>
                </a:solidFill>
                <a:latin typeface="Avenir Next"/>
              </a:rPr>
              <a:t>______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94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Write the missing word in the blank.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Vocabulary — Stored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p.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1005840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stored energy — energy that has the ability to cause change at a </a:t>
            </a:r>
            <a:r>
              <a:rPr sz="3000" b="1" i="0">
                <a:solidFill>
                  <a:srgbClr val="A67C16"/>
                </a:solidFill>
                <a:latin typeface="Avenir Next"/>
              </a:rPr>
              <a:t>later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94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later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09760" y="329184"/>
            <a:ext cx="182880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PREDICT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Does a still battery have energy?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4 — think about a battery inside a flashlight.</a:t>
            </a:r>
          </a:p>
        </p:txBody>
      </p:sp>
      <p:pic>
        <p:nvPicPr>
          <p:cNvPr id="8" name="Picture 7" descr="s23-battery-630x4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5760720" cy="4206240"/>
          </a:xfrm>
          <a:prstGeom prst="rect">
            <a:avLst/>
          </a:prstGeom>
          <a:ln w="15875">
            <a:solidFill>
              <a:srgbClr val="D8DCE4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6537960" y="2103120"/>
            <a:ext cx="5148072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377440"/>
            <a:ext cx="4599432" cy="18745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A battery sits still in a flashlight that is switched off.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4434840"/>
            <a:ext cx="4599432" cy="160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Yes or no? Make a prediction.
Tell your partner why.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The stored energy of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5 — an object held up can cause a change later.</a:t>
            </a:r>
          </a:p>
        </p:txBody>
      </p:sp>
      <p:pic>
        <p:nvPicPr>
          <p:cNvPr id="7" name="Picture 6" descr="s24-apple-400x4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3657600" cy="4206240"/>
          </a:xfrm>
          <a:prstGeom prst="rect">
            <a:avLst/>
          </a:prstGeom>
          <a:ln w="15875">
            <a:solidFill>
              <a:srgbClr val="D8DCE4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4434840" y="2103120"/>
            <a:ext cx="7251192" cy="4206240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9525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377440"/>
            <a:ext cx="670255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Raised apple → let go →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3154680"/>
            <a:ext cx="6702552" cy="2926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An apple held above the ground has stored energy
because of its position. Imagine you let go. What will happen?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329184"/>
            <a:ext cx="150876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Stored energy can cause a change later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4 — back to our battery: the chemicals inside it store energy.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3422904" cy="86868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STORED ENERGY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62400" y="2391156"/>
            <a:ext cx="38404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3024" y="2103120"/>
            <a:ext cx="3422904" cy="868680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RELEASE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42504" y="2391156"/>
            <a:ext cx="38404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63128" y="2103120"/>
            <a:ext cx="3422904" cy="86868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pic>
        <p:nvPicPr>
          <p:cNvPr id="13" name="Picture 12" descr="s25-rubber-520x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46120"/>
            <a:ext cx="4754880" cy="3063240"/>
          </a:xfrm>
          <a:prstGeom prst="rect">
            <a:avLst/>
          </a:prstGeom>
          <a:ln w="15875">
            <a:solidFill>
              <a:srgbClr val="D8DCE4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577840" y="3246120"/>
            <a:ext cx="6108192" cy="3063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Stretch a rubber band — it now stores energy.
Let it go. What change will you see and hear?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Objects Can Store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pp. 4–5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920240"/>
            <a:ext cx="2956559" cy="59436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STORED ENERGY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07535" y="2071116"/>
            <a:ext cx="29260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6720" y="1920240"/>
            <a:ext cx="2956559" cy="594360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RELEASE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29855" y="2071116"/>
            <a:ext cx="29260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59039" y="1920240"/>
            <a:ext cx="2956559" cy="59436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697480"/>
            <a:ext cx="4389120" cy="457200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761488"/>
            <a:ext cx="4169663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FFFFFF"/>
                </a:solidFill>
                <a:latin typeface="Avenir Next"/>
              </a:rPr>
              <a:t>EXAMPLE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2697480"/>
            <a:ext cx="5989320" cy="457200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761488"/>
            <a:ext cx="576986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FFFFFF"/>
                </a:solidFill>
                <a:latin typeface="Avenir Next"/>
              </a:rPr>
              <a:t>WHAT CHANGE COULD HAPPEN LATER?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154680"/>
            <a:ext cx="4389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209544"/>
            <a:ext cx="4169663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battery (in a flashlight)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3154680"/>
            <a:ext cx="5989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685032"/>
            <a:ext cx="4389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3739896"/>
            <a:ext cx="4169663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stretched rubber band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80" y="3685032"/>
            <a:ext cx="5989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4215384"/>
            <a:ext cx="4389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270248"/>
            <a:ext cx="4169663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raised object (apple)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40680" y="4215384"/>
            <a:ext cx="5989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9377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2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Objects also have stored energy because of their </a:t>
            </a:r>
            <a:r>
              <a:rPr sz="2800" b="0" i="0" u="sng">
                <a:solidFill>
                  <a:srgbClr val="1A1D26"/>
                </a:solidFill>
                <a:latin typeface="Avenir Next"/>
              </a:rPr>
              <a:t>________</a:t>
            </a:r>
            <a:r>
              <a:rPr sz="2800" b="0" i="0">
                <a:solidFill>
                  <a:srgbClr val="1A1D26"/>
                </a:solidFill>
                <a:latin typeface="Avenir Next"/>
              </a:rPr>
              <a:t> 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Objects Can Store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pp. 4–5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920240"/>
            <a:ext cx="2956559" cy="59436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STORED ENERGY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07535" y="2071116"/>
            <a:ext cx="29260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6720" y="1920240"/>
            <a:ext cx="2956559" cy="594360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RELEASE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29855" y="2071116"/>
            <a:ext cx="29260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59039" y="1920240"/>
            <a:ext cx="2956559" cy="59436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697480"/>
            <a:ext cx="4389120" cy="457200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761488"/>
            <a:ext cx="4169663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FFFFFF"/>
                </a:solidFill>
                <a:latin typeface="Avenir Next"/>
              </a:rPr>
              <a:t>EXAMPLE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2697480"/>
            <a:ext cx="5989320" cy="457200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761488"/>
            <a:ext cx="576986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FFFFFF"/>
                </a:solidFill>
                <a:latin typeface="Avenir Next"/>
              </a:rPr>
              <a:t>WHAT CHANGE COULD HAPPEN LATER?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154680"/>
            <a:ext cx="4389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209544"/>
            <a:ext cx="4169663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battery (in a flashlight)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3154680"/>
            <a:ext cx="5989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50408" y="3209544"/>
            <a:ext cx="5769864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7A5620"/>
                </a:solidFill>
                <a:latin typeface="Avenir Next"/>
              </a:rPr>
              <a:t>the flashlight lights 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685032"/>
            <a:ext cx="4389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3739896"/>
            <a:ext cx="4169663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stretched rubber band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40680" y="3685032"/>
            <a:ext cx="5989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50408" y="3739896"/>
            <a:ext cx="5769864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7A5620"/>
                </a:solidFill>
                <a:latin typeface="Avenir Next"/>
              </a:rPr>
              <a:t>it snaps and makes a sound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215384"/>
            <a:ext cx="4389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4270248"/>
            <a:ext cx="4169663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raised object (apple)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40680" y="4215384"/>
            <a:ext cx="5989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50408" y="4270248"/>
            <a:ext cx="5769864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7A5620"/>
                </a:solidFill>
                <a:latin typeface="Avenir Next"/>
              </a:rPr>
              <a:t>it falls 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377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2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Objects also have stored energy because of their </a:t>
            </a:r>
            <a:r>
              <a:rPr sz="2800" b="1" i="0">
                <a:solidFill>
                  <a:srgbClr val="A67C16"/>
                </a:solidFill>
                <a:latin typeface="Avenir Next"/>
              </a:rPr>
              <a:t>position</a:t>
            </a:r>
            <a:r>
              <a:rPr sz="2800" b="0" i="0">
                <a:solidFill>
                  <a:srgbClr val="1A1D26"/>
                </a:solidFill>
                <a:latin typeface="Avenir Next"/>
              </a:rPr>
              <a:t> 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760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position  ·  Sample answers shown - yours may differ.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29184"/>
            <a:ext cx="205740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Recognizing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pp. 1–5 — think about the clues we can see, hear, or feel.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6035040" cy="324612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5394960" cy="2880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3000" b="1" i="0">
                <a:solidFill>
                  <a:srgbClr val="FFFFFF"/>
                </a:solidFill>
                <a:latin typeface="Avenir Next"/>
              </a:rPr>
              <a:t>Energy can be invisible.
What clues could show that energy is at work?</a:t>
            </a:r>
          </a:p>
        </p:txBody>
      </p:sp>
      <p:pic>
        <p:nvPicPr>
          <p:cNvPr id="10" name="Picture 9" descr="s28-ev_light-260x3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03120"/>
            <a:ext cx="2377440" cy="3246120"/>
          </a:xfrm>
          <a:prstGeom prst="rect">
            <a:avLst/>
          </a:prstGeom>
          <a:ln w="15875">
            <a:solidFill>
              <a:srgbClr val="D8DCE4"/>
            </a:solidFill>
          </a:ln>
        </p:spPr>
      </p:pic>
      <p:pic>
        <p:nvPicPr>
          <p:cNvPr id="11" name="Picture 10" descr="s28-ev_pencil-260x3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2103120"/>
            <a:ext cx="2377440" cy="3246120"/>
          </a:xfrm>
          <a:prstGeom prst="rect">
            <a:avLst/>
          </a:prstGeom>
          <a:ln w="15875">
            <a:solidFill>
              <a:srgbClr val="D8DCE4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5577840"/>
            <a:ext cx="11183112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0" i="1">
                <a:solidFill>
                  <a:srgbClr val="1A1D26"/>
                </a:solidFill>
                <a:latin typeface="Avenir Next"/>
              </a:rPr>
              <a:t>Think of a change you have seen. What did you see, hear, or feel?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29184"/>
            <a:ext cx="137160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DRAW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Recognizing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pp. 1–5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574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1A1D26"/>
                </a:solidFill>
                <a:latin typeface="Avenir Next"/>
              </a:rPr>
              <a:t>Draw a change you observed. Show what it looked like BEFORE and AFTER.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017520"/>
            <a:ext cx="48691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154679"/>
            <a:ext cx="4503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703320"/>
            <a:ext cx="4503420" cy="1005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draw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60820" y="3017520"/>
            <a:ext cx="48691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3700" y="3154679"/>
            <a:ext cx="4503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3700" y="3703320"/>
            <a:ext cx="4503420" cy="1005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draw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83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D26"/>
                </a:solidFill>
                <a:latin typeface="Avenir Next"/>
              </a:rPr>
              <a:t>What changed?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5623560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0" y="6080760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Check Your Thinking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pp. 1–5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194560"/>
            <a:ext cx="10058400" cy="1554480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9525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33172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7A5620"/>
                </a:solidFill>
                <a:latin typeface="Avenir Next"/>
              </a:rPr>
              <a:t>CHECK YOUR THINKING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788920"/>
            <a:ext cx="9509760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How do we know energy is involved if we cannot see energy itself?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7763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0" i="1">
                <a:solidFill>
                  <a:srgbClr val="1A1D26"/>
                </a:solidFill>
                <a:latin typeface="Avenir Next"/>
              </a:rPr>
              <a:t>Start with: “We know because we see …”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709160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5349240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We know because we see a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94560"/>
            <a:ext cx="10058400" cy="2103120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9525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33172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7A5620"/>
                </a:solidFill>
                <a:latin typeface="Avenir Next"/>
              </a:rPr>
              <a:t>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834640"/>
            <a:ext cx="950976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1A1D26"/>
                </a:solidFill>
                <a:latin typeface="Avenir Next"/>
              </a:rPr>
              <a:t>“We know because we see a change — like a ball starting to move or a light turning on.”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720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Any change you observe is evidence of energy.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29184"/>
            <a:ext cx="205740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Which change shows energy at work?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487168"/>
            <a:ext cx="88696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A toy car starts to roll.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42900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3630168"/>
            <a:ext cx="88696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A rock keeps sitting still.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57200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773168"/>
            <a:ext cx="88696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A room stays dark.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85216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Pick one. Tell your partner why.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BQ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BQ · Now I Think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p. 3</a:t>
            </a:r>
          </a:p>
        </p:txBody>
      </p:sp>
      <p:pic>
        <p:nvPicPr>
          <p:cNvPr id="9" name="Picture 8" descr="s33-bright-185x2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2103120"/>
            <a:ext cx="1691640" cy="2057400"/>
          </a:xfrm>
          <a:prstGeom prst="rect">
            <a:avLst/>
          </a:prstGeom>
        </p:spPr>
      </p:pic>
      <p:pic>
        <p:nvPicPr>
          <p:cNvPr id="10" name="Picture 9" descr="s33-pen_after-185x2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2" y="2103120"/>
            <a:ext cx="1691640" cy="2057400"/>
          </a:xfrm>
          <a:prstGeom prst="rect">
            <a:avLst/>
          </a:prstGeom>
        </p:spPr>
      </p:pic>
      <p:pic>
        <p:nvPicPr>
          <p:cNvPr id="11" name="Picture 10" descr="s33-seashore-185x2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2" y="4251960"/>
            <a:ext cx="1691640" cy="2057400"/>
          </a:xfrm>
          <a:prstGeom prst="rect">
            <a:avLst/>
          </a:prstGeom>
        </p:spPr>
      </p:pic>
      <p:pic>
        <p:nvPicPr>
          <p:cNvPr id="12" name="Picture 11" descr="s33-rubber-185x2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392" y="4251960"/>
            <a:ext cx="1691640" cy="2057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371600" y="2103120"/>
            <a:ext cx="6583680" cy="210312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2240280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A67C16"/>
                </a:solidFill>
                <a:latin typeface="Avenir Next"/>
              </a:rPr>
              <a:t>BIG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697480"/>
            <a:ext cx="6035040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FFFFFF"/>
                </a:solidFill>
                <a:latin typeface="Avenir Next"/>
              </a:rPr>
              <a:t>Where can we observe evidence of energy causing change?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389120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Now I think…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5074920"/>
            <a:ext cx="658368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0" y="5577840"/>
            <a:ext cx="658368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0" y="6080760"/>
            <a:ext cx="658368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Georgia"/>
              </a:rPr>
              <a:t>Review 1 —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1183112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Energy is best described as 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14600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2432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606040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visible glow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2536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435096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416808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something only batteries have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3613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245864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227576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ability to cause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946904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05663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038344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kind of fuel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Georgia"/>
              </a:rPr>
              <a:t>Review 1 —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11183112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Energy is best described as 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14600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2432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606040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visible glow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2536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35096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416808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something only batteries have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3613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19050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245864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227576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D26"/>
                </a:solidFill>
                <a:latin typeface="Avenir Next"/>
              </a:rPr>
              <a:t>the ability to cause change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46904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5663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038344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kind of fuel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760720"/>
            <a:ext cx="11183112" cy="685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870448"/>
            <a:ext cx="10698480" cy="4663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Energy is the ability to cause change (Reader p. 1).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Georgia"/>
              </a:rPr>
              <a:t>Review 2 —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1183112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A pencil is dull, then you sharpen it. What change do you observe?</a:t>
            </a:r>
          </a:p>
        </p:txBody>
      </p:sp>
      <p:pic>
        <p:nvPicPr>
          <p:cNvPr id="7" name="Picture 6" descr="s36-pen_before-400x3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88336"/>
            <a:ext cx="3657600" cy="2935224"/>
          </a:xfrm>
          <a:prstGeom prst="rect">
            <a:avLst/>
          </a:prstGeom>
          <a:ln w="15875">
            <a:solidFill>
              <a:srgbClr val="D8DCE4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4434840" y="2688336"/>
            <a:ext cx="7251192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798064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9" y="2779776"/>
            <a:ext cx="6291072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It gets shorter and sharper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441192"/>
            <a:ext cx="7251192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550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9" y="3532632"/>
            <a:ext cx="6291072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It gets longer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4194048"/>
            <a:ext cx="7251192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4303776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9" y="4285488"/>
            <a:ext cx="6291072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It changes color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4946904"/>
            <a:ext cx="7251192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505663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9" y="5038344"/>
            <a:ext cx="6291072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It disappears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Georgia"/>
              </a:rPr>
              <a:t>Review 2 —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11183112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A pencil is dull, then you sharpen it. What change do you observe?</a:t>
            </a:r>
          </a:p>
        </p:txBody>
      </p:sp>
      <p:pic>
        <p:nvPicPr>
          <p:cNvPr id="8" name="Picture 7" descr="s36-pen_before-400x3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88336"/>
            <a:ext cx="3657600" cy="2935224"/>
          </a:xfrm>
          <a:prstGeom prst="rect">
            <a:avLst/>
          </a:prstGeom>
          <a:ln w="15875">
            <a:solidFill>
              <a:srgbClr val="D8DCE4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4434840" y="2688336"/>
            <a:ext cx="7251192" cy="676656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19050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798064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9" y="2779776"/>
            <a:ext cx="6291072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D26"/>
                </a:solidFill>
                <a:latin typeface="Avenir Next"/>
              </a:rPr>
              <a:t>It gets shorter and sharper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441192"/>
            <a:ext cx="7251192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550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9" y="3532632"/>
            <a:ext cx="6291072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It gets longer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4194048"/>
            <a:ext cx="7251192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4303776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4285488"/>
            <a:ext cx="6291072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It changes color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4946904"/>
            <a:ext cx="7251192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505663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79" y="5038344"/>
            <a:ext cx="6291072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It disappears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760720"/>
            <a:ext cx="11183112" cy="685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870448"/>
            <a:ext cx="10698480" cy="4663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pencil becomes shorter and sharper — a change.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Georgia"/>
              </a:rPr>
              <a:t>Review 3 — scenario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11183112" cy="120700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92224"/>
            <a:ext cx="10634472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FFFFFF"/>
                </a:solidFill>
                <a:latin typeface="Avenir Next"/>
              </a:rPr>
              <a:t>Which object has stored energy that can cause a change LATER?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27247"/>
            <a:ext cx="5454396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91839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218687"/>
            <a:ext cx="4494276" cy="6035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ball already rolling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127247"/>
            <a:ext cx="5454396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0236" y="3291839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5" y="3218687"/>
            <a:ext cx="4494276" cy="6035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toy already moving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14800"/>
            <a:ext cx="5454396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7939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206240"/>
            <a:ext cx="4494276" cy="6035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flashlight already 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1636" y="4114800"/>
            <a:ext cx="5454396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0236" y="427939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8875" y="4206240"/>
            <a:ext cx="4494276" cy="6035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stretched rubber band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Georgia"/>
              </a:rPr>
              <a:t>Review 3 —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83112" cy="120700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92224"/>
            <a:ext cx="10634472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FFFFFF"/>
                </a:solidFill>
                <a:latin typeface="Avenir Next"/>
              </a:rPr>
              <a:t>Which object has stored energy that can cause a change LATER?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27247"/>
            <a:ext cx="5454396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91839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18687"/>
            <a:ext cx="4494276" cy="6035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ball already rolling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3127247"/>
            <a:ext cx="5454396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0236" y="3291839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8875" y="3218687"/>
            <a:ext cx="4494276" cy="6035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toy already moving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14800"/>
            <a:ext cx="5454396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7939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06240"/>
            <a:ext cx="4494276" cy="6035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flashlight already 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4114800"/>
            <a:ext cx="5454396" cy="786384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19050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0236" y="427939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8875" y="4206240"/>
            <a:ext cx="4494276" cy="6035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D26"/>
                </a:solidFill>
                <a:latin typeface="Avenir Next"/>
              </a:rPr>
              <a:t>A stretched rubber band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760720"/>
            <a:ext cx="11183112" cy="685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870448"/>
            <a:ext cx="10698480" cy="4663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rubber band stores energy; it changes when released.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Georgia"/>
              </a:rPr>
              <a:t>Review 4 —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11183112" cy="120700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92224"/>
            <a:ext cx="10634472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FFFFFF"/>
                </a:solidFill>
                <a:latin typeface="Avenir Next"/>
              </a:rPr>
              <a:t>A carousel spins and plays music. Which two forms of energy come from the spinning and the music?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27247"/>
            <a:ext cx="5454396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91839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218687"/>
            <a:ext cx="4494276" cy="6035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only light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127247"/>
            <a:ext cx="5454396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0236" y="3291839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5" y="3218687"/>
            <a:ext cx="4494276" cy="6035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motion and sound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14800"/>
            <a:ext cx="5454396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7939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206240"/>
            <a:ext cx="4494276" cy="6035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motion and silence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1636" y="4114800"/>
            <a:ext cx="5454396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0236" y="427939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8875" y="4206240"/>
            <a:ext cx="4494276" cy="6035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sound and stillness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Georgia"/>
              </a:rPr>
              <a:t>Review 4 —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83112" cy="120700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92224"/>
            <a:ext cx="10634472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FFFFFF"/>
                </a:solidFill>
                <a:latin typeface="Avenir Next"/>
              </a:rPr>
              <a:t>A carousel spins and plays music. Which two forms of energy come from the spinning and the music?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27247"/>
            <a:ext cx="5454396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91839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18687"/>
            <a:ext cx="4494276" cy="6035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only light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3127247"/>
            <a:ext cx="5454396" cy="786384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19050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0236" y="3291839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8875" y="3218687"/>
            <a:ext cx="4494276" cy="6035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D26"/>
                </a:solidFill>
                <a:latin typeface="Avenir Next"/>
              </a:rPr>
              <a:t>motion and sound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14800"/>
            <a:ext cx="5454396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7939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06240"/>
            <a:ext cx="4494276" cy="6035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motion and silence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4114800"/>
            <a:ext cx="5454396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0236" y="427939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8875" y="4206240"/>
            <a:ext cx="4494276" cy="6035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sound and stillness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760720"/>
            <a:ext cx="11183112" cy="685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870448"/>
            <a:ext cx="10698480" cy="4663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spinning is motion; the music is sound (Reader p. 3).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Georgia"/>
              </a:rPr>
              <a:t>Review 5 —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1183112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How do we know energy is involved if we cannot see 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14600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2432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606040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We observe a change happen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2536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435096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416808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Energy can always be seen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3613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245864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227576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We guess without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946904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05663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038344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Nothing can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Georgia"/>
              </a:rPr>
              <a:t>Review 5 —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11183112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How do we know energy is involved if we cannot see it?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14600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19050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2432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606040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D26"/>
                </a:solidFill>
                <a:latin typeface="Avenir Next"/>
              </a:rPr>
              <a:t>We observe a change happen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2536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35096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416808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Energy can always be seen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3613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245864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227576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We guess without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46904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5663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038344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Nothing can change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760720"/>
            <a:ext cx="11183112" cy="685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870448"/>
            <a:ext cx="10698480" cy="4663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We see a change — like movement — as evidence.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Georgia"/>
              </a:rPr>
              <a:t>Review 6 — scenario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11183112" cy="71170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92224"/>
            <a:ext cx="10634472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FFFFFF"/>
                </a:solidFill>
                <a:latin typeface="Avenir Next"/>
              </a:rPr>
              <a:t>A battery sits still in a flashlight. Does it have energy?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631947"/>
            <a:ext cx="5454396" cy="1182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94659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723387"/>
            <a:ext cx="4494276" cy="999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No — still objects have no energy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2631947"/>
            <a:ext cx="5454396" cy="1182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0236" y="2994659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5" y="2723387"/>
            <a:ext cx="4494276" cy="999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Only when it is moving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015740"/>
            <a:ext cx="5454396" cy="1182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37845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107179"/>
            <a:ext cx="4494276" cy="999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Yes — stored energy that can cause change later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1636" y="4015740"/>
            <a:ext cx="5454396" cy="1182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0236" y="437845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8875" y="4107179"/>
            <a:ext cx="4494276" cy="999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Only when the flashlight is 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Georgia"/>
              </a:rPr>
              <a:t>Review 6 —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83112" cy="71170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92224"/>
            <a:ext cx="10634472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FFFFFF"/>
                </a:solidFill>
                <a:latin typeface="Avenir Next"/>
              </a:rPr>
              <a:t>A battery sits still in a flashlight. Does it have energy?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31947"/>
            <a:ext cx="5454396" cy="1182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94659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723387"/>
            <a:ext cx="4494276" cy="999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No — still objects have no energy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2631947"/>
            <a:ext cx="5454396" cy="1182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0236" y="2994659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8875" y="2723387"/>
            <a:ext cx="4494276" cy="999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Only when it is moving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15740"/>
            <a:ext cx="5454396" cy="1182624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19050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7845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107179"/>
            <a:ext cx="4494276" cy="999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D26"/>
                </a:solidFill>
                <a:latin typeface="Avenir Next"/>
              </a:rPr>
              <a:t>Yes — stored energy that can cause change later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4015740"/>
            <a:ext cx="5454396" cy="1182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0236" y="437845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8875" y="4107179"/>
            <a:ext cx="4494276" cy="999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Only when the flashlight is 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760720"/>
            <a:ext cx="11183112" cy="685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870448"/>
            <a:ext cx="10698480" cy="4663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battery stores energy. It can cause a change later.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